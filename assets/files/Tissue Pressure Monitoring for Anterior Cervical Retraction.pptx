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90" r:id="rId3"/>
    <p:sldId id="265" r:id="rId4"/>
    <p:sldId id="275" r:id="rId5"/>
    <p:sldId id="258" r:id="rId6"/>
    <p:sldId id="285" r:id="rId7"/>
    <p:sldId id="288" r:id="rId8"/>
    <p:sldId id="274" r:id="rId9"/>
    <p:sldId id="278" r:id="rId10"/>
    <p:sldId id="279" r:id="rId11"/>
    <p:sldId id="259" r:id="rId12"/>
    <p:sldId id="281" r:id="rId13"/>
    <p:sldId id="282" r:id="rId14"/>
    <p:sldId id="283" r:id="rId15"/>
    <p:sldId id="284" r:id="rId16"/>
    <p:sldId id="291" r:id="rId17"/>
    <p:sldId id="276" r:id="rId18"/>
    <p:sldId id="261" r:id="rId19"/>
    <p:sldId id="269" r:id="rId20"/>
    <p:sldId id="262" r:id="rId21"/>
    <p:sldId id="286" r:id="rId22"/>
    <p:sldId id="287" r:id="rId23"/>
    <p:sldId id="273" r:id="rId24"/>
    <p:sldId id="289"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25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E2045-243E-9A69-7418-9D3E896FF57E}" v="2" dt="2026-06-21T23:33:31.5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3A7D02-9117-4B47-875E-BBD27E436ECC}" type="doc">
      <dgm:prSet loTypeId="urn:microsoft.com/office/officeart/2016/7/layout/RepeatingBendingProcessNew" loCatId="process" qsTypeId="urn:microsoft.com/office/officeart/2005/8/quickstyle/simple1" qsCatId="simple" csTypeId="urn:microsoft.com/office/officeart/2005/8/colors/accent1_3" csCatId="accent1"/>
      <dgm:spPr/>
      <dgm:t>
        <a:bodyPr/>
        <a:lstStyle/>
        <a:p>
          <a:endParaRPr lang="en-US"/>
        </a:p>
      </dgm:t>
    </dgm:pt>
    <dgm:pt modelId="{26C8FD2B-B40E-4C98-A8C2-2FDA9C34F489}">
      <dgm:prSet/>
      <dgm:spPr/>
      <dgm:t>
        <a:bodyPr/>
        <a:lstStyle/>
        <a:p>
          <a:r>
            <a:rPr lang="en-US" b="1" dirty="0"/>
            <a:t>The Need</a:t>
          </a:r>
        </a:p>
      </dgm:t>
    </dgm:pt>
    <dgm:pt modelId="{1DF949D8-F8E7-4957-8454-F816F3718C27}" type="parTrans" cxnId="{7ABFA26D-E51B-41E7-8AA8-8DFA8AD04464}">
      <dgm:prSet/>
      <dgm:spPr/>
      <dgm:t>
        <a:bodyPr/>
        <a:lstStyle/>
        <a:p>
          <a:endParaRPr lang="en-US"/>
        </a:p>
      </dgm:t>
    </dgm:pt>
    <dgm:pt modelId="{C8C64DCC-2DAC-4E45-8039-7ECEAD8CCA06}" type="sibTrans" cxnId="{7ABFA26D-E51B-41E7-8AA8-8DFA8AD04464}">
      <dgm:prSet/>
      <dgm:spPr/>
      <dgm:t>
        <a:bodyPr/>
        <a:lstStyle/>
        <a:p>
          <a:endParaRPr lang="en-US"/>
        </a:p>
      </dgm:t>
    </dgm:pt>
    <dgm:pt modelId="{D2EBE744-9DEB-4DAC-864A-BEAB42271484}">
      <dgm:prSet/>
      <dgm:spPr/>
      <dgm:t>
        <a:bodyPr/>
        <a:lstStyle/>
        <a:p>
          <a:r>
            <a:rPr lang="en-US" b="1"/>
            <a:t>The Significance</a:t>
          </a:r>
        </a:p>
      </dgm:t>
    </dgm:pt>
    <dgm:pt modelId="{5CB6EAA7-2BD8-44B4-BB0C-1F7B61FAF83C}" type="parTrans" cxnId="{90068F55-8832-4763-BBEE-5CDC1C1F1AB8}">
      <dgm:prSet/>
      <dgm:spPr/>
      <dgm:t>
        <a:bodyPr/>
        <a:lstStyle/>
        <a:p>
          <a:endParaRPr lang="en-US"/>
        </a:p>
      </dgm:t>
    </dgm:pt>
    <dgm:pt modelId="{2F2D91A0-8DBD-43DB-BB57-E34A2B7C1A11}" type="sibTrans" cxnId="{90068F55-8832-4763-BBEE-5CDC1C1F1AB8}">
      <dgm:prSet/>
      <dgm:spPr/>
      <dgm:t>
        <a:bodyPr/>
        <a:lstStyle/>
        <a:p>
          <a:endParaRPr lang="en-US"/>
        </a:p>
      </dgm:t>
    </dgm:pt>
    <dgm:pt modelId="{D097C006-8AF4-4B20-91AA-3537728CD52F}">
      <dgm:prSet/>
      <dgm:spPr/>
      <dgm:t>
        <a:bodyPr/>
        <a:lstStyle/>
        <a:p>
          <a:r>
            <a:rPr lang="en-US" b="1"/>
            <a:t>Our Solution</a:t>
          </a:r>
        </a:p>
      </dgm:t>
    </dgm:pt>
    <dgm:pt modelId="{1A796F6F-A5B5-40F9-8759-378E3EBC1778}" type="parTrans" cxnId="{DA2401D0-890E-4F07-9CE8-137ADFB89A33}">
      <dgm:prSet/>
      <dgm:spPr/>
      <dgm:t>
        <a:bodyPr/>
        <a:lstStyle/>
        <a:p>
          <a:endParaRPr lang="en-US"/>
        </a:p>
      </dgm:t>
    </dgm:pt>
    <dgm:pt modelId="{99D7663B-6A63-472E-AB58-14114CE62D8A}" type="sibTrans" cxnId="{DA2401D0-890E-4F07-9CE8-137ADFB89A33}">
      <dgm:prSet/>
      <dgm:spPr/>
      <dgm:t>
        <a:bodyPr/>
        <a:lstStyle/>
        <a:p>
          <a:endParaRPr lang="en-US"/>
        </a:p>
      </dgm:t>
    </dgm:pt>
    <dgm:pt modelId="{FC6D4726-83B9-4DEA-B3A4-305525EFEB1A}">
      <dgm:prSet/>
      <dgm:spPr/>
      <dgm:t>
        <a:bodyPr/>
        <a:lstStyle/>
        <a:p>
          <a:r>
            <a:rPr lang="en-US" b="1"/>
            <a:t>Product Specifications Summary</a:t>
          </a:r>
        </a:p>
      </dgm:t>
    </dgm:pt>
    <dgm:pt modelId="{FBE984E2-1306-4AFC-A45A-DEAD5E2E1099}" type="parTrans" cxnId="{22F792EA-511E-49B2-A609-96E70C41CAD6}">
      <dgm:prSet/>
      <dgm:spPr/>
      <dgm:t>
        <a:bodyPr/>
        <a:lstStyle/>
        <a:p>
          <a:endParaRPr lang="en-US"/>
        </a:p>
      </dgm:t>
    </dgm:pt>
    <dgm:pt modelId="{C9675D1E-DE56-4C5D-A839-A97E00CAD6A7}" type="sibTrans" cxnId="{22F792EA-511E-49B2-A609-96E70C41CAD6}">
      <dgm:prSet/>
      <dgm:spPr/>
      <dgm:t>
        <a:bodyPr/>
        <a:lstStyle/>
        <a:p>
          <a:endParaRPr lang="en-US"/>
        </a:p>
      </dgm:t>
    </dgm:pt>
    <dgm:pt modelId="{D99BD318-4E2D-4757-8386-F50C0A9A6596}">
      <dgm:prSet/>
      <dgm:spPr/>
      <dgm:t>
        <a:bodyPr/>
        <a:lstStyle/>
        <a:p>
          <a:r>
            <a:rPr lang="en-US" b="1"/>
            <a:t>Market Analysis Summary and Proposed Business Model</a:t>
          </a:r>
        </a:p>
      </dgm:t>
    </dgm:pt>
    <dgm:pt modelId="{2FEF0C32-D6F2-4E37-A4D7-D9F831923A50}" type="parTrans" cxnId="{93F73F5F-8021-4335-AD90-E7732F2A672F}">
      <dgm:prSet/>
      <dgm:spPr/>
      <dgm:t>
        <a:bodyPr/>
        <a:lstStyle/>
        <a:p>
          <a:endParaRPr lang="en-US"/>
        </a:p>
      </dgm:t>
    </dgm:pt>
    <dgm:pt modelId="{18AC0240-7BF1-4B50-88C9-CA11DE017B06}" type="sibTrans" cxnId="{93F73F5F-8021-4335-AD90-E7732F2A672F}">
      <dgm:prSet/>
      <dgm:spPr/>
      <dgm:t>
        <a:bodyPr/>
        <a:lstStyle/>
        <a:p>
          <a:endParaRPr lang="en-US"/>
        </a:p>
      </dgm:t>
    </dgm:pt>
    <dgm:pt modelId="{C5127465-B7ED-4F2E-9DB1-48EA1F54A4F8}">
      <dgm:prSet/>
      <dgm:spPr/>
      <dgm:t>
        <a:bodyPr/>
        <a:lstStyle/>
        <a:p>
          <a:r>
            <a:rPr lang="en-US" b="1"/>
            <a:t>Proposed Regulatory and Reimbursement Strategy</a:t>
          </a:r>
        </a:p>
      </dgm:t>
    </dgm:pt>
    <dgm:pt modelId="{ED14CD7C-55AC-44A0-B32F-13EAB008901B}" type="parTrans" cxnId="{735AAC19-563D-45C8-A508-6267FCBB5499}">
      <dgm:prSet/>
      <dgm:spPr/>
      <dgm:t>
        <a:bodyPr/>
        <a:lstStyle/>
        <a:p>
          <a:endParaRPr lang="en-US"/>
        </a:p>
      </dgm:t>
    </dgm:pt>
    <dgm:pt modelId="{78959010-728C-4616-81E9-7A1255791435}" type="sibTrans" cxnId="{735AAC19-563D-45C8-A508-6267FCBB5499}">
      <dgm:prSet/>
      <dgm:spPr/>
      <dgm:t>
        <a:bodyPr/>
        <a:lstStyle/>
        <a:p>
          <a:endParaRPr lang="en-US"/>
        </a:p>
      </dgm:t>
    </dgm:pt>
    <dgm:pt modelId="{527A79B2-DC50-4B71-BA6C-BC199CAFA713}">
      <dgm:prSet/>
      <dgm:spPr/>
      <dgm:t>
        <a:bodyPr/>
        <a:lstStyle/>
        <a:p>
          <a:r>
            <a:rPr lang="en-US" b="1"/>
            <a:t>Future R&amp;D Directions</a:t>
          </a:r>
        </a:p>
      </dgm:t>
    </dgm:pt>
    <dgm:pt modelId="{C4BBBFA2-26C7-4CD4-BFE6-2D6D44AB2C48}" type="parTrans" cxnId="{80E438C5-451B-4CEA-9C85-7A940916B2CA}">
      <dgm:prSet/>
      <dgm:spPr/>
      <dgm:t>
        <a:bodyPr/>
        <a:lstStyle/>
        <a:p>
          <a:endParaRPr lang="en-US"/>
        </a:p>
      </dgm:t>
    </dgm:pt>
    <dgm:pt modelId="{F0FD8E74-D77D-4F56-8926-35CC4BA1208D}" type="sibTrans" cxnId="{80E438C5-451B-4CEA-9C85-7A940916B2CA}">
      <dgm:prSet/>
      <dgm:spPr/>
      <dgm:t>
        <a:bodyPr/>
        <a:lstStyle/>
        <a:p>
          <a:endParaRPr lang="en-US"/>
        </a:p>
      </dgm:t>
    </dgm:pt>
    <dgm:pt modelId="{ED416B20-FCF7-4ED2-B974-310CCFA5B6E9}">
      <dgm:prSet/>
      <dgm:spPr/>
      <dgm:t>
        <a:bodyPr/>
        <a:lstStyle/>
        <a:p>
          <a:r>
            <a:rPr lang="en-US" b="1"/>
            <a:t>Conclusion</a:t>
          </a:r>
        </a:p>
      </dgm:t>
    </dgm:pt>
    <dgm:pt modelId="{7AECEA62-C198-4910-BCC0-CF38E23EBB82}" type="parTrans" cxnId="{8697361F-7F37-4AE0-B26A-7E7B692B8A00}">
      <dgm:prSet/>
      <dgm:spPr/>
      <dgm:t>
        <a:bodyPr/>
        <a:lstStyle/>
        <a:p>
          <a:endParaRPr lang="en-US"/>
        </a:p>
      </dgm:t>
    </dgm:pt>
    <dgm:pt modelId="{E6403EC8-AB32-4D4A-AEC7-4157945036A4}" type="sibTrans" cxnId="{8697361F-7F37-4AE0-B26A-7E7B692B8A00}">
      <dgm:prSet/>
      <dgm:spPr/>
      <dgm:t>
        <a:bodyPr/>
        <a:lstStyle/>
        <a:p>
          <a:endParaRPr lang="en-US"/>
        </a:p>
      </dgm:t>
    </dgm:pt>
    <dgm:pt modelId="{14C8C832-D6C3-0544-B134-E487AC284CD7}" type="pres">
      <dgm:prSet presAssocID="{983A7D02-9117-4B47-875E-BBD27E436ECC}" presName="Name0" presStyleCnt="0">
        <dgm:presLayoutVars>
          <dgm:dir/>
          <dgm:resizeHandles val="exact"/>
        </dgm:presLayoutVars>
      </dgm:prSet>
      <dgm:spPr/>
    </dgm:pt>
    <dgm:pt modelId="{4F724BED-5792-774C-854F-BF2D0AEBCF31}" type="pres">
      <dgm:prSet presAssocID="{26C8FD2B-B40E-4C98-A8C2-2FDA9C34F489}" presName="node" presStyleLbl="node1" presStyleIdx="0" presStyleCnt="8">
        <dgm:presLayoutVars>
          <dgm:bulletEnabled val="1"/>
        </dgm:presLayoutVars>
      </dgm:prSet>
      <dgm:spPr/>
    </dgm:pt>
    <dgm:pt modelId="{717B89BD-5F7E-D54E-B6BD-45CAB2925374}" type="pres">
      <dgm:prSet presAssocID="{C8C64DCC-2DAC-4E45-8039-7ECEAD8CCA06}" presName="sibTrans" presStyleLbl="sibTrans1D1" presStyleIdx="0" presStyleCnt="7"/>
      <dgm:spPr/>
    </dgm:pt>
    <dgm:pt modelId="{AC79863F-6AEC-E04F-9C48-F7686BBB46A1}" type="pres">
      <dgm:prSet presAssocID="{C8C64DCC-2DAC-4E45-8039-7ECEAD8CCA06}" presName="connectorText" presStyleLbl="sibTrans1D1" presStyleIdx="0" presStyleCnt="7"/>
      <dgm:spPr/>
    </dgm:pt>
    <dgm:pt modelId="{6ABA997E-EE23-9C43-9B97-E3B5863445D6}" type="pres">
      <dgm:prSet presAssocID="{D2EBE744-9DEB-4DAC-864A-BEAB42271484}" presName="node" presStyleLbl="node1" presStyleIdx="1" presStyleCnt="8">
        <dgm:presLayoutVars>
          <dgm:bulletEnabled val="1"/>
        </dgm:presLayoutVars>
      </dgm:prSet>
      <dgm:spPr/>
    </dgm:pt>
    <dgm:pt modelId="{CCC402F3-6288-8F4A-8D87-8B8026A7FC94}" type="pres">
      <dgm:prSet presAssocID="{2F2D91A0-8DBD-43DB-BB57-E34A2B7C1A11}" presName="sibTrans" presStyleLbl="sibTrans1D1" presStyleIdx="1" presStyleCnt="7"/>
      <dgm:spPr/>
    </dgm:pt>
    <dgm:pt modelId="{B1647565-EE3C-8744-90E6-B3F3A012161E}" type="pres">
      <dgm:prSet presAssocID="{2F2D91A0-8DBD-43DB-BB57-E34A2B7C1A11}" presName="connectorText" presStyleLbl="sibTrans1D1" presStyleIdx="1" presStyleCnt="7"/>
      <dgm:spPr/>
    </dgm:pt>
    <dgm:pt modelId="{DB3B270D-21BF-A84B-BB24-79D365262E36}" type="pres">
      <dgm:prSet presAssocID="{D097C006-8AF4-4B20-91AA-3537728CD52F}" presName="node" presStyleLbl="node1" presStyleIdx="2" presStyleCnt="8">
        <dgm:presLayoutVars>
          <dgm:bulletEnabled val="1"/>
        </dgm:presLayoutVars>
      </dgm:prSet>
      <dgm:spPr/>
    </dgm:pt>
    <dgm:pt modelId="{11127D9D-37E5-234B-8A18-AEE9E504A0DC}" type="pres">
      <dgm:prSet presAssocID="{99D7663B-6A63-472E-AB58-14114CE62D8A}" presName="sibTrans" presStyleLbl="sibTrans1D1" presStyleIdx="2" presStyleCnt="7"/>
      <dgm:spPr/>
    </dgm:pt>
    <dgm:pt modelId="{CD03FF46-F022-FD4C-9D32-FC0AF94C1CB1}" type="pres">
      <dgm:prSet presAssocID="{99D7663B-6A63-472E-AB58-14114CE62D8A}" presName="connectorText" presStyleLbl="sibTrans1D1" presStyleIdx="2" presStyleCnt="7"/>
      <dgm:spPr/>
    </dgm:pt>
    <dgm:pt modelId="{710ED0B8-632D-1F4E-A642-DD7603A4D568}" type="pres">
      <dgm:prSet presAssocID="{FC6D4726-83B9-4DEA-B3A4-305525EFEB1A}" presName="node" presStyleLbl="node1" presStyleIdx="3" presStyleCnt="8">
        <dgm:presLayoutVars>
          <dgm:bulletEnabled val="1"/>
        </dgm:presLayoutVars>
      </dgm:prSet>
      <dgm:spPr/>
    </dgm:pt>
    <dgm:pt modelId="{F553E22F-0F8C-6E4D-A9CA-527B7FE9B65F}" type="pres">
      <dgm:prSet presAssocID="{C9675D1E-DE56-4C5D-A839-A97E00CAD6A7}" presName="sibTrans" presStyleLbl="sibTrans1D1" presStyleIdx="3" presStyleCnt="7"/>
      <dgm:spPr/>
    </dgm:pt>
    <dgm:pt modelId="{DEEAD06B-9F97-754E-BD7B-0BD3E007DC7B}" type="pres">
      <dgm:prSet presAssocID="{C9675D1E-DE56-4C5D-A839-A97E00CAD6A7}" presName="connectorText" presStyleLbl="sibTrans1D1" presStyleIdx="3" presStyleCnt="7"/>
      <dgm:spPr/>
    </dgm:pt>
    <dgm:pt modelId="{DE4E3E0C-B258-8541-9813-2EF398CA154B}" type="pres">
      <dgm:prSet presAssocID="{D99BD318-4E2D-4757-8386-F50C0A9A6596}" presName="node" presStyleLbl="node1" presStyleIdx="4" presStyleCnt="8">
        <dgm:presLayoutVars>
          <dgm:bulletEnabled val="1"/>
        </dgm:presLayoutVars>
      </dgm:prSet>
      <dgm:spPr/>
    </dgm:pt>
    <dgm:pt modelId="{715F22D3-B96B-D14E-A88C-F7A71A9E17DE}" type="pres">
      <dgm:prSet presAssocID="{18AC0240-7BF1-4B50-88C9-CA11DE017B06}" presName="sibTrans" presStyleLbl="sibTrans1D1" presStyleIdx="4" presStyleCnt="7"/>
      <dgm:spPr/>
    </dgm:pt>
    <dgm:pt modelId="{C712F80C-7CCF-614E-9386-C0E9297DBCA3}" type="pres">
      <dgm:prSet presAssocID="{18AC0240-7BF1-4B50-88C9-CA11DE017B06}" presName="connectorText" presStyleLbl="sibTrans1D1" presStyleIdx="4" presStyleCnt="7"/>
      <dgm:spPr/>
    </dgm:pt>
    <dgm:pt modelId="{B806A4A2-2E81-F749-A0E4-D0A595B6DBEF}" type="pres">
      <dgm:prSet presAssocID="{C5127465-B7ED-4F2E-9DB1-48EA1F54A4F8}" presName="node" presStyleLbl="node1" presStyleIdx="5" presStyleCnt="8">
        <dgm:presLayoutVars>
          <dgm:bulletEnabled val="1"/>
        </dgm:presLayoutVars>
      </dgm:prSet>
      <dgm:spPr/>
    </dgm:pt>
    <dgm:pt modelId="{370CBD72-4FDE-FC44-9261-5937AC6C879F}" type="pres">
      <dgm:prSet presAssocID="{78959010-728C-4616-81E9-7A1255791435}" presName="sibTrans" presStyleLbl="sibTrans1D1" presStyleIdx="5" presStyleCnt="7"/>
      <dgm:spPr/>
    </dgm:pt>
    <dgm:pt modelId="{0BB0FBCF-A5CA-8B47-AD5D-DC57596974C5}" type="pres">
      <dgm:prSet presAssocID="{78959010-728C-4616-81E9-7A1255791435}" presName="connectorText" presStyleLbl="sibTrans1D1" presStyleIdx="5" presStyleCnt="7"/>
      <dgm:spPr/>
    </dgm:pt>
    <dgm:pt modelId="{75D4F90C-1058-2B45-B136-5C2446CF8EB9}" type="pres">
      <dgm:prSet presAssocID="{527A79B2-DC50-4B71-BA6C-BC199CAFA713}" presName="node" presStyleLbl="node1" presStyleIdx="6" presStyleCnt="8">
        <dgm:presLayoutVars>
          <dgm:bulletEnabled val="1"/>
        </dgm:presLayoutVars>
      </dgm:prSet>
      <dgm:spPr/>
    </dgm:pt>
    <dgm:pt modelId="{228253BF-5AFF-F441-AD61-D0E762121194}" type="pres">
      <dgm:prSet presAssocID="{F0FD8E74-D77D-4F56-8926-35CC4BA1208D}" presName="sibTrans" presStyleLbl="sibTrans1D1" presStyleIdx="6" presStyleCnt="7"/>
      <dgm:spPr/>
    </dgm:pt>
    <dgm:pt modelId="{F5EC0200-578E-F54F-A0BB-7D577E75C05C}" type="pres">
      <dgm:prSet presAssocID="{F0FD8E74-D77D-4F56-8926-35CC4BA1208D}" presName="connectorText" presStyleLbl="sibTrans1D1" presStyleIdx="6" presStyleCnt="7"/>
      <dgm:spPr/>
    </dgm:pt>
    <dgm:pt modelId="{DF5C7403-352E-6446-8E48-990E2A5483CC}" type="pres">
      <dgm:prSet presAssocID="{ED416B20-FCF7-4ED2-B974-310CCFA5B6E9}" presName="node" presStyleLbl="node1" presStyleIdx="7" presStyleCnt="8">
        <dgm:presLayoutVars>
          <dgm:bulletEnabled val="1"/>
        </dgm:presLayoutVars>
      </dgm:prSet>
      <dgm:spPr/>
    </dgm:pt>
  </dgm:ptLst>
  <dgm:cxnLst>
    <dgm:cxn modelId="{935B3509-D56B-3247-AC7F-7F31779988C0}" type="presOf" srcId="{D2EBE744-9DEB-4DAC-864A-BEAB42271484}" destId="{6ABA997E-EE23-9C43-9B97-E3B5863445D6}" srcOrd="0" destOrd="0" presId="urn:microsoft.com/office/officeart/2016/7/layout/RepeatingBendingProcessNew"/>
    <dgm:cxn modelId="{EC032C0B-42FC-1F48-A94A-498B950A163F}" type="presOf" srcId="{99D7663B-6A63-472E-AB58-14114CE62D8A}" destId="{11127D9D-37E5-234B-8A18-AEE9E504A0DC}" srcOrd="0" destOrd="0" presId="urn:microsoft.com/office/officeart/2016/7/layout/RepeatingBendingProcessNew"/>
    <dgm:cxn modelId="{735AAC19-563D-45C8-A508-6267FCBB5499}" srcId="{983A7D02-9117-4B47-875E-BBD27E436ECC}" destId="{C5127465-B7ED-4F2E-9DB1-48EA1F54A4F8}" srcOrd="5" destOrd="0" parTransId="{ED14CD7C-55AC-44A0-B32F-13EAB008901B}" sibTransId="{78959010-728C-4616-81E9-7A1255791435}"/>
    <dgm:cxn modelId="{8697361F-7F37-4AE0-B26A-7E7B692B8A00}" srcId="{983A7D02-9117-4B47-875E-BBD27E436ECC}" destId="{ED416B20-FCF7-4ED2-B974-310CCFA5B6E9}" srcOrd="7" destOrd="0" parTransId="{7AECEA62-C198-4910-BCC0-CF38E23EBB82}" sibTransId="{E6403EC8-AB32-4D4A-AEC7-4157945036A4}"/>
    <dgm:cxn modelId="{396A623B-13F1-0146-8A1A-CDA5C309CB86}" type="presOf" srcId="{78959010-728C-4616-81E9-7A1255791435}" destId="{0BB0FBCF-A5CA-8B47-AD5D-DC57596974C5}" srcOrd="1" destOrd="0" presId="urn:microsoft.com/office/officeart/2016/7/layout/RepeatingBendingProcessNew"/>
    <dgm:cxn modelId="{F59AE63C-B5F6-B645-929D-250FD1C56E5F}" type="presOf" srcId="{983A7D02-9117-4B47-875E-BBD27E436ECC}" destId="{14C8C832-D6C3-0544-B134-E487AC284CD7}" srcOrd="0" destOrd="0" presId="urn:microsoft.com/office/officeart/2016/7/layout/RepeatingBendingProcessNew"/>
    <dgm:cxn modelId="{93F73F5F-8021-4335-AD90-E7732F2A672F}" srcId="{983A7D02-9117-4B47-875E-BBD27E436ECC}" destId="{D99BD318-4E2D-4757-8386-F50C0A9A6596}" srcOrd="4" destOrd="0" parTransId="{2FEF0C32-D6F2-4E37-A4D7-D9F831923A50}" sibTransId="{18AC0240-7BF1-4B50-88C9-CA11DE017B06}"/>
    <dgm:cxn modelId="{08DEA566-D7FA-B347-95C9-14C6F2205320}" type="presOf" srcId="{18AC0240-7BF1-4B50-88C9-CA11DE017B06}" destId="{715F22D3-B96B-D14E-A88C-F7A71A9E17DE}" srcOrd="0" destOrd="0" presId="urn:microsoft.com/office/officeart/2016/7/layout/RepeatingBendingProcessNew"/>
    <dgm:cxn modelId="{A8330A67-A546-E64E-A97B-FBDC46F41B3C}" type="presOf" srcId="{D097C006-8AF4-4B20-91AA-3537728CD52F}" destId="{DB3B270D-21BF-A84B-BB24-79D365262E36}" srcOrd="0" destOrd="0" presId="urn:microsoft.com/office/officeart/2016/7/layout/RepeatingBendingProcessNew"/>
    <dgm:cxn modelId="{7ABFA26D-E51B-41E7-8AA8-8DFA8AD04464}" srcId="{983A7D02-9117-4B47-875E-BBD27E436ECC}" destId="{26C8FD2B-B40E-4C98-A8C2-2FDA9C34F489}" srcOrd="0" destOrd="0" parTransId="{1DF949D8-F8E7-4957-8454-F816F3718C27}" sibTransId="{C8C64DCC-2DAC-4E45-8039-7ECEAD8CCA06}"/>
    <dgm:cxn modelId="{90068F55-8832-4763-BBEE-5CDC1C1F1AB8}" srcId="{983A7D02-9117-4B47-875E-BBD27E436ECC}" destId="{D2EBE744-9DEB-4DAC-864A-BEAB42271484}" srcOrd="1" destOrd="0" parTransId="{5CB6EAA7-2BD8-44B4-BB0C-1F7B61FAF83C}" sibTransId="{2F2D91A0-8DBD-43DB-BB57-E34A2B7C1A11}"/>
    <dgm:cxn modelId="{21FA317E-CCE0-D840-8715-2DDF4D72695F}" type="presOf" srcId="{C8C64DCC-2DAC-4E45-8039-7ECEAD8CCA06}" destId="{AC79863F-6AEC-E04F-9C48-F7686BBB46A1}" srcOrd="1" destOrd="0" presId="urn:microsoft.com/office/officeart/2016/7/layout/RepeatingBendingProcessNew"/>
    <dgm:cxn modelId="{B636237F-E382-304C-B2CC-1C8AD5BB8B73}" type="presOf" srcId="{F0FD8E74-D77D-4F56-8926-35CC4BA1208D}" destId="{228253BF-5AFF-F441-AD61-D0E762121194}" srcOrd="0" destOrd="0" presId="urn:microsoft.com/office/officeart/2016/7/layout/RepeatingBendingProcessNew"/>
    <dgm:cxn modelId="{E6D15E84-69A5-964D-9967-A24934AFB285}" type="presOf" srcId="{26C8FD2B-B40E-4C98-A8C2-2FDA9C34F489}" destId="{4F724BED-5792-774C-854F-BF2D0AEBCF31}" srcOrd="0" destOrd="0" presId="urn:microsoft.com/office/officeart/2016/7/layout/RepeatingBendingProcessNew"/>
    <dgm:cxn modelId="{3E6C0BA3-FCEB-3F4F-9E9F-974D932D88CE}" type="presOf" srcId="{99D7663B-6A63-472E-AB58-14114CE62D8A}" destId="{CD03FF46-F022-FD4C-9D32-FC0AF94C1CB1}" srcOrd="1" destOrd="0" presId="urn:microsoft.com/office/officeart/2016/7/layout/RepeatingBendingProcessNew"/>
    <dgm:cxn modelId="{8408ADAE-922B-F84A-A083-F5822562B757}" type="presOf" srcId="{C5127465-B7ED-4F2E-9DB1-48EA1F54A4F8}" destId="{B806A4A2-2E81-F749-A0E4-D0A595B6DBEF}" srcOrd="0" destOrd="0" presId="urn:microsoft.com/office/officeart/2016/7/layout/RepeatingBendingProcessNew"/>
    <dgm:cxn modelId="{27A4AFAF-CE2C-C846-9BFB-E0B64FA8D600}" type="presOf" srcId="{527A79B2-DC50-4B71-BA6C-BC199CAFA713}" destId="{75D4F90C-1058-2B45-B136-5C2446CF8EB9}" srcOrd="0" destOrd="0" presId="urn:microsoft.com/office/officeart/2016/7/layout/RepeatingBendingProcessNew"/>
    <dgm:cxn modelId="{63B1C1B9-4D01-F04E-8B9D-7927FBF873FD}" type="presOf" srcId="{C8C64DCC-2DAC-4E45-8039-7ECEAD8CCA06}" destId="{717B89BD-5F7E-D54E-B6BD-45CAB2925374}" srcOrd="0" destOrd="0" presId="urn:microsoft.com/office/officeart/2016/7/layout/RepeatingBendingProcessNew"/>
    <dgm:cxn modelId="{571E53BB-6B05-F14F-B8D2-A6EE4CF60900}" type="presOf" srcId="{D99BD318-4E2D-4757-8386-F50C0A9A6596}" destId="{DE4E3E0C-B258-8541-9813-2EF398CA154B}" srcOrd="0" destOrd="0" presId="urn:microsoft.com/office/officeart/2016/7/layout/RepeatingBendingProcessNew"/>
    <dgm:cxn modelId="{809BDBBB-32AC-F24A-BE9D-68F5A8917D7E}" type="presOf" srcId="{C9675D1E-DE56-4C5D-A839-A97E00CAD6A7}" destId="{F553E22F-0F8C-6E4D-A9CA-527B7FE9B65F}" srcOrd="0" destOrd="0" presId="urn:microsoft.com/office/officeart/2016/7/layout/RepeatingBendingProcessNew"/>
    <dgm:cxn modelId="{4D4229BF-E10E-4243-A814-CE10A0B5DABD}" type="presOf" srcId="{18AC0240-7BF1-4B50-88C9-CA11DE017B06}" destId="{C712F80C-7CCF-614E-9386-C0E9297DBCA3}" srcOrd="1" destOrd="0" presId="urn:microsoft.com/office/officeart/2016/7/layout/RepeatingBendingProcessNew"/>
    <dgm:cxn modelId="{80E438C5-451B-4CEA-9C85-7A940916B2CA}" srcId="{983A7D02-9117-4B47-875E-BBD27E436ECC}" destId="{527A79B2-DC50-4B71-BA6C-BC199CAFA713}" srcOrd="6" destOrd="0" parTransId="{C4BBBFA2-26C7-4CD4-BFE6-2D6D44AB2C48}" sibTransId="{F0FD8E74-D77D-4F56-8926-35CC4BA1208D}"/>
    <dgm:cxn modelId="{C05B39C5-77E0-7F43-BE4A-FF39DA5F0276}" type="presOf" srcId="{F0FD8E74-D77D-4F56-8926-35CC4BA1208D}" destId="{F5EC0200-578E-F54F-A0BB-7D577E75C05C}" srcOrd="1" destOrd="0" presId="urn:microsoft.com/office/officeart/2016/7/layout/RepeatingBendingProcessNew"/>
    <dgm:cxn modelId="{FE6789C7-5ED2-4347-95A7-4B326C1B59B7}" type="presOf" srcId="{C9675D1E-DE56-4C5D-A839-A97E00CAD6A7}" destId="{DEEAD06B-9F97-754E-BD7B-0BD3E007DC7B}" srcOrd="1" destOrd="0" presId="urn:microsoft.com/office/officeart/2016/7/layout/RepeatingBendingProcessNew"/>
    <dgm:cxn modelId="{2676FECE-CA98-CC46-B106-7750C8195455}" type="presOf" srcId="{78959010-728C-4616-81E9-7A1255791435}" destId="{370CBD72-4FDE-FC44-9261-5937AC6C879F}" srcOrd="0" destOrd="0" presId="urn:microsoft.com/office/officeart/2016/7/layout/RepeatingBendingProcessNew"/>
    <dgm:cxn modelId="{DA2401D0-890E-4F07-9CE8-137ADFB89A33}" srcId="{983A7D02-9117-4B47-875E-BBD27E436ECC}" destId="{D097C006-8AF4-4B20-91AA-3537728CD52F}" srcOrd="2" destOrd="0" parTransId="{1A796F6F-A5B5-40F9-8759-378E3EBC1778}" sibTransId="{99D7663B-6A63-472E-AB58-14114CE62D8A}"/>
    <dgm:cxn modelId="{81C96ED8-2A93-834E-842F-D3C5E9D4E0E3}" type="presOf" srcId="{2F2D91A0-8DBD-43DB-BB57-E34A2B7C1A11}" destId="{CCC402F3-6288-8F4A-8D87-8B8026A7FC94}" srcOrd="0" destOrd="0" presId="urn:microsoft.com/office/officeart/2016/7/layout/RepeatingBendingProcessNew"/>
    <dgm:cxn modelId="{6AAF57D9-3809-A14F-A359-AAB95E403DD4}" type="presOf" srcId="{2F2D91A0-8DBD-43DB-BB57-E34A2B7C1A11}" destId="{B1647565-EE3C-8744-90E6-B3F3A012161E}" srcOrd="1" destOrd="0" presId="urn:microsoft.com/office/officeart/2016/7/layout/RepeatingBendingProcessNew"/>
    <dgm:cxn modelId="{22F792EA-511E-49B2-A609-96E70C41CAD6}" srcId="{983A7D02-9117-4B47-875E-BBD27E436ECC}" destId="{FC6D4726-83B9-4DEA-B3A4-305525EFEB1A}" srcOrd="3" destOrd="0" parTransId="{FBE984E2-1306-4AFC-A45A-DEAD5E2E1099}" sibTransId="{C9675D1E-DE56-4C5D-A839-A97E00CAD6A7}"/>
    <dgm:cxn modelId="{0F2077FA-2DF6-2945-9B36-C9037524FEDB}" type="presOf" srcId="{ED416B20-FCF7-4ED2-B974-310CCFA5B6E9}" destId="{DF5C7403-352E-6446-8E48-990E2A5483CC}" srcOrd="0" destOrd="0" presId="urn:microsoft.com/office/officeart/2016/7/layout/RepeatingBendingProcessNew"/>
    <dgm:cxn modelId="{0711D9FA-73C8-6A45-B223-173DC7963E36}" type="presOf" srcId="{FC6D4726-83B9-4DEA-B3A4-305525EFEB1A}" destId="{710ED0B8-632D-1F4E-A642-DD7603A4D568}" srcOrd="0" destOrd="0" presId="urn:microsoft.com/office/officeart/2016/7/layout/RepeatingBendingProcessNew"/>
    <dgm:cxn modelId="{F41DF714-7DC0-084D-BC2D-02519BE5DB86}" type="presParOf" srcId="{14C8C832-D6C3-0544-B134-E487AC284CD7}" destId="{4F724BED-5792-774C-854F-BF2D0AEBCF31}" srcOrd="0" destOrd="0" presId="urn:microsoft.com/office/officeart/2016/7/layout/RepeatingBendingProcessNew"/>
    <dgm:cxn modelId="{E850EEA3-A714-344B-9910-DCD3F7E7D1C8}" type="presParOf" srcId="{14C8C832-D6C3-0544-B134-E487AC284CD7}" destId="{717B89BD-5F7E-D54E-B6BD-45CAB2925374}" srcOrd="1" destOrd="0" presId="urn:microsoft.com/office/officeart/2016/7/layout/RepeatingBendingProcessNew"/>
    <dgm:cxn modelId="{BA3B82B0-5973-DB4E-B0D7-475CF54270DA}" type="presParOf" srcId="{717B89BD-5F7E-D54E-B6BD-45CAB2925374}" destId="{AC79863F-6AEC-E04F-9C48-F7686BBB46A1}" srcOrd="0" destOrd="0" presId="urn:microsoft.com/office/officeart/2016/7/layout/RepeatingBendingProcessNew"/>
    <dgm:cxn modelId="{CBB8ACF2-06F2-9C49-9063-A74525A35C0A}" type="presParOf" srcId="{14C8C832-D6C3-0544-B134-E487AC284CD7}" destId="{6ABA997E-EE23-9C43-9B97-E3B5863445D6}" srcOrd="2" destOrd="0" presId="urn:microsoft.com/office/officeart/2016/7/layout/RepeatingBendingProcessNew"/>
    <dgm:cxn modelId="{68C84F94-368C-5648-9597-1BE350D631F3}" type="presParOf" srcId="{14C8C832-D6C3-0544-B134-E487AC284CD7}" destId="{CCC402F3-6288-8F4A-8D87-8B8026A7FC94}" srcOrd="3" destOrd="0" presId="urn:microsoft.com/office/officeart/2016/7/layout/RepeatingBendingProcessNew"/>
    <dgm:cxn modelId="{A6F72A0A-D4AA-554A-89D0-A6F974E44E77}" type="presParOf" srcId="{CCC402F3-6288-8F4A-8D87-8B8026A7FC94}" destId="{B1647565-EE3C-8744-90E6-B3F3A012161E}" srcOrd="0" destOrd="0" presId="urn:microsoft.com/office/officeart/2016/7/layout/RepeatingBendingProcessNew"/>
    <dgm:cxn modelId="{58EC3753-FFB6-A34F-A4B8-B74AFA72C652}" type="presParOf" srcId="{14C8C832-D6C3-0544-B134-E487AC284CD7}" destId="{DB3B270D-21BF-A84B-BB24-79D365262E36}" srcOrd="4" destOrd="0" presId="urn:microsoft.com/office/officeart/2016/7/layout/RepeatingBendingProcessNew"/>
    <dgm:cxn modelId="{3D7A119A-7E54-284A-A8C9-3BC01E827DDA}" type="presParOf" srcId="{14C8C832-D6C3-0544-B134-E487AC284CD7}" destId="{11127D9D-37E5-234B-8A18-AEE9E504A0DC}" srcOrd="5" destOrd="0" presId="urn:microsoft.com/office/officeart/2016/7/layout/RepeatingBendingProcessNew"/>
    <dgm:cxn modelId="{48FD3583-CD9D-C94D-8D3A-2F3BCEE184AD}" type="presParOf" srcId="{11127D9D-37E5-234B-8A18-AEE9E504A0DC}" destId="{CD03FF46-F022-FD4C-9D32-FC0AF94C1CB1}" srcOrd="0" destOrd="0" presId="urn:microsoft.com/office/officeart/2016/7/layout/RepeatingBendingProcessNew"/>
    <dgm:cxn modelId="{F1E70C0A-9F81-3841-8FF6-B07FF5BB1622}" type="presParOf" srcId="{14C8C832-D6C3-0544-B134-E487AC284CD7}" destId="{710ED0B8-632D-1F4E-A642-DD7603A4D568}" srcOrd="6" destOrd="0" presId="urn:microsoft.com/office/officeart/2016/7/layout/RepeatingBendingProcessNew"/>
    <dgm:cxn modelId="{6C75A3AF-BDAC-A747-A7B6-3BA577A2FA0D}" type="presParOf" srcId="{14C8C832-D6C3-0544-B134-E487AC284CD7}" destId="{F553E22F-0F8C-6E4D-A9CA-527B7FE9B65F}" srcOrd="7" destOrd="0" presId="urn:microsoft.com/office/officeart/2016/7/layout/RepeatingBendingProcessNew"/>
    <dgm:cxn modelId="{A52475ED-3677-3642-ABE0-6413C078351A}" type="presParOf" srcId="{F553E22F-0F8C-6E4D-A9CA-527B7FE9B65F}" destId="{DEEAD06B-9F97-754E-BD7B-0BD3E007DC7B}" srcOrd="0" destOrd="0" presId="urn:microsoft.com/office/officeart/2016/7/layout/RepeatingBendingProcessNew"/>
    <dgm:cxn modelId="{16109E96-158E-0B42-8FBC-FFE977505802}" type="presParOf" srcId="{14C8C832-D6C3-0544-B134-E487AC284CD7}" destId="{DE4E3E0C-B258-8541-9813-2EF398CA154B}" srcOrd="8" destOrd="0" presId="urn:microsoft.com/office/officeart/2016/7/layout/RepeatingBendingProcessNew"/>
    <dgm:cxn modelId="{54B97625-C49C-4A44-9672-9CF6C0578BAF}" type="presParOf" srcId="{14C8C832-D6C3-0544-B134-E487AC284CD7}" destId="{715F22D3-B96B-D14E-A88C-F7A71A9E17DE}" srcOrd="9" destOrd="0" presId="urn:microsoft.com/office/officeart/2016/7/layout/RepeatingBendingProcessNew"/>
    <dgm:cxn modelId="{A376452D-FC05-874E-8AF2-944632EA65B4}" type="presParOf" srcId="{715F22D3-B96B-D14E-A88C-F7A71A9E17DE}" destId="{C712F80C-7CCF-614E-9386-C0E9297DBCA3}" srcOrd="0" destOrd="0" presId="urn:microsoft.com/office/officeart/2016/7/layout/RepeatingBendingProcessNew"/>
    <dgm:cxn modelId="{7165B35F-D4FC-3542-A212-57F0CCC2EC48}" type="presParOf" srcId="{14C8C832-D6C3-0544-B134-E487AC284CD7}" destId="{B806A4A2-2E81-F749-A0E4-D0A595B6DBEF}" srcOrd="10" destOrd="0" presId="urn:microsoft.com/office/officeart/2016/7/layout/RepeatingBendingProcessNew"/>
    <dgm:cxn modelId="{A41A5D96-5033-A44E-9BF6-FE2E02F6CB89}" type="presParOf" srcId="{14C8C832-D6C3-0544-B134-E487AC284CD7}" destId="{370CBD72-4FDE-FC44-9261-5937AC6C879F}" srcOrd="11" destOrd="0" presId="urn:microsoft.com/office/officeart/2016/7/layout/RepeatingBendingProcessNew"/>
    <dgm:cxn modelId="{4A10D84A-7C74-C744-AFE8-047BA699EE76}" type="presParOf" srcId="{370CBD72-4FDE-FC44-9261-5937AC6C879F}" destId="{0BB0FBCF-A5CA-8B47-AD5D-DC57596974C5}" srcOrd="0" destOrd="0" presId="urn:microsoft.com/office/officeart/2016/7/layout/RepeatingBendingProcessNew"/>
    <dgm:cxn modelId="{139CCEBE-D190-714B-AB4B-CA4919226E64}" type="presParOf" srcId="{14C8C832-D6C3-0544-B134-E487AC284CD7}" destId="{75D4F90C-1058-2B45-B136-5C2446CF8EB9}" srcOrd="12" destOrd="0" presId="urn:microsoft.com/office/officeart/2016/7/layout/RepeatingBendingProcessNew"/>
    <dgm:cxn modelId="{F2BE3343-F2C0-2242-BC88-02B9BD5C57E9}" type="presParOf" srcId="{14C8C832-D6C3-0544-B134-E487AC284CD7}" destId="{228253BF-5AFF-F441-AD61-D0E762121194}" srcOrd="13" destOrd="0" presId="urn:microsoft.com/office/officeart/2016/7/layout/RepeatingBendingProcessNew"/>
    <dgm:cxn modelId="{143144EF-5D2B-4C41-9FDD-3BFEC413FF2A}" type="presParOf" srcId="{228253BF-5AFF-F441-AD61-D0E762121194}" destId="{F5EC0200-578E-F54F-A0BB-7D577E75C05C}" srcOrd="0" destOrd="0" presId="urn:microsoft.com/office/officeart/2016/7/layout/RepeatingBendingProcessNew"/>
    <dgm:cxn modelId="{F7C3A6C8-774D-0140-BC4B-C685D9264F14}" type="presParOf" srcId="{14C8C832-D6C3-0544-B134-E487AC284CD7}" destId="{DF5C7403-352E-6446-8E48-990E2A5483CC}" srcOrd="14" destOrd="0" presId="urn:microsoft.com/office/officeart/2016/7/layout/RepeatingBendingProcessNew"/>
  </dgm:cxnLst>
  <dgm:bg>
    <a:effectLst>
      <a:softEdge rad="0"/>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58C2BC-421D-44AA-BA3C-2B222DDA9AFA}"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150DB187-4A85-4F9F-9BF1-FEA26359B69F}">
      <dgm:prSet/>
      <dgm:spPr/>
      <dgm:t>
        <a:bodyPr/>
        <a:lstStyle/>
        <a:p>
          <a:pPr>
            <a:lnSpc>
              <a:spcPct val="100000"/>
            </a:lnSpc>
            <a:defRPr b="1"/>
          </a:pPr>
          <a:r>
            <a:rPr lang="en-US" b="1"/>
            <a:t>PRIMARY STAKEHOLDERS</a:t>
          </a:r>
          <a:endParaRPr lang="en-US"/>
        </a:p>
      </dgm:t>
    </dgm:pt>
    <dgm:pt modelId="{876D1DFD-1EBC-4F8D-B98F-CD4CCB2D9BFE}" type="parTrans" cxnId="{9A723D2F-F813-4E6D-8707-3A0B1078622C}">
      <dgm:prSet/>
      <dgm:spPr/>
      <dgm:t>
        <a:bodyPr/>
        <a:lstStyle/>
        <a:p>
          <a:endParaRPr lang="en-US"/>
        </a:p>
      </dgm:t>
    </dgm:pt>
    <dgm:pt modelId="{80740A3C-200B-4BF4-B1A2-016291D2D7EC}" type="sibTrans" cxnId="{9A723D2F-F813-4E6D-8707-3A0B1078622C}">
      <dgm:prSet/>
      <dgm:spPr/>
      <dgm:t>
        <a:bodyPr/>
        <a:lstStyle/>
        <a:p>
          <a:endParaRPr lang="en-US"/>
        </a:p>
      </dgm:t>
    </dgm:pt>
    <dgm:pt modelId="{512BC780-C2D2-4E42-9DBA-A046EC9190AB}">
      <dgm:prSet/>
      <dgm:spPr/>
      <dgm:t>
        <a:bodyPr/>
        <a:lstStyle/>
        <a:p>
          <a:pPr>
            <a:lnSpc>
              <a:spcPct val="100000"/>
            </a:lnSpc>
          </a:pPr>
          <a:r>
            <a:rPr lang="en-US" b="1"/>
            <a:t>Spine surgeons</a:t>
          </a:r>
          <a:r>
            <a:rPr lang="en-US"/>
            <a:t> who directly use the retractor system and rely on real-time pressure feedback</a:t>
          </a:r>
        </a:p>
      </dgm:t>
    </dgm:pt>
    <dgm:pt modelId="{8AF9BA83-03B6-40EC-867C-144303658EAC}" type="parTrans" cxnId="{5D63C849-F59E-4440-9244-1B052ADD3A4B}">
      <dgm:prSet/>
      <dgm:spPr/>
      <dgm:t>
        <a:bodyPr/>
        <a:lstStyle/>
        <a:p>
          <a:endParaRPr lang="en-US"/>
        </a:p>
      </dgm:t>
    </dgm:pt>
    <dgm:pt modelId="{53E0911D-8F93-4460-87EA-1023C1322714}" type="sibTrans" cxnId="{5D63C849-F59E-4440-9244-1B052ADD3A4B}">
      <dgm:prSet/>
      <dgm:spPr/>
      <dgm:t>
        <a:bodyPr/>
        <a:lstStyle/>
        <a:p>
          <a:endParaRPr lang="en-US"/>
        </a:p>
      </dgm:t>
    </dgm:pt>
    <dgm:pt modelId="{CB306B01-A73C-4B94-8D21-777F4F84FA4E}">
      <dgm:prSet/>
      <dgm:spPr/>
      <dgm:t>
        <a:bodyPr/>
        <a:lstStyle/>
        <a:p>
          <a:pPr>
            <a:lnSpc>
              <a:spcPct val="100000"/>
            </a:lnSpc>
          </a:pPr>
          <a:r>
            <a:rPr lang="en-US" b="1"/>
            <a:t>Patients undergoing ACDF/ACDR</a:t>
          </a:r>
          <a:r>
            <a:rPr lang="en-US"/>
            <a:t>, whose outcomes depend on reduced tissue injury</a:t>
          </a:r>
        </a:p>
      </dgm:t>
    </dgm:pt>
    <dgm:pt modelId="{C9ABF3E4-486B-4C90-9650-126FC0E7FBE6}" type="parTrans" cxnId="{F5927BD5-6C3F-4C04-A7A6-1687E80F9163}">
      <dgm:prSet/>
      <dgm:spPr/>
      <dgm:t>
        <a:bodyPr/>
        <a:lstStyle/>
        <a:p>
          <a:endParaRPr lang="en-US"/>
        </a:p>
      </dgm:t>
    </dgm:pt>
    <dgm:pt modelId="{9B4C9545-3BA1-4050-A93E-B6FB88E9D4FB}" type="sibTrans" cxnId="{F5927BD5-6C3F-4C04-A7A6-1687E80F9163}">
      <dgm:prSet/>
      <dgm:spPr/>
      <dgm:t>
        <a:bodyPr/>
        <a:lstStyle/>
        <a:p>
          <a:endParaRPr lang="en-US"/>
        </a:p>
      </dgm:t>
    </dgm:pt>
    <dgm:pt modelId="{1A1227B2-E52C-4DCA-8583-61FB09E42192}">
      <dgm:prSet/>
      <dgm:spPr/>
      <dgm:t>
        <a:bodyPr/>
        <a:lstStyle/>
        <a:p>
          <a:pPr>
            <a:lnSpc>
              <a:spcPct val="100000"/>
            </a:lnSpc>
          </a:pPr>
          <a:r>
            <a:rPr lang="en-US" b="1"/>
            <a:t>Operating room staff</a:t>
          </a:r>
          <a:r>
            <a:rPr lang="en-US"/>
            <a:t> who manage device setup, sterilization, and workflow</a:t>
          </a:r>
          <a:br>
            <a:rPr lang="en-US"/>
          </a:br>
          <a:endParaRPr lang="en-US"/>
        </a:p>
      </dgm:t>
    </dgm:pt>
    <dgm:pt modelId="{BD914AD8-B2CD-4693-BCE6-1F47B38A41CF}" type="parTrans" cxnId="{04F68806-6748-48B7-A5F2-7F10D2DD5C10}">
      <dgm:prSet/>
      <dgm:spPr/>
      <dgm:t>
        <a:bodyPr/>
        <a:lstStyle/>
        <a:p>
          <a:endParaRPr lang="en-US"/>
        </a:p>
      </dgm:t>
    </dgm:pt>
    <dgm:pt modelId="{CD058F9F-9260-4E45-AB29-0FD4BD56D744}" type="sibTrans" cxnId="{04F68806-6748-48B7-A5F2-7F10D2DD5C10}">
      <dgm:prSet/>
      <dgm:spPr/>
      <dgm:t>
        <a:bodyPr/>
        <a:lstStyle/>
        <a:p>
          <a:endParaRPr lang="en-US"/>
        </a:p>
      </dgm:t>
    </dgm:pt>
    <dgm:pt modelId="{922F4F1E-3C1C-4DC3-8C43-0411BA596148}">
      <dgm:prSet/>
      <dgm:spPr/>
      <dgm:t>
        <a:bodyPr/>
        <a:lstStyle/>
        <a:p>
          <a:pPr>
            <a:lnSpc>
              <a:spcPct val="100000"/>
            </a:lnSpc>
            <a:defRPr b="1"/>
          </a:pPr>
          <a:r>
            <a:rPr lang="en-US" b="1"/>
            <a:t>SECONDARY STAKEHOLDERS</a:t>
          </a:r>
          <a:endParaRPr lang="en-US"/>
        </a:p>
      </dgm:t>
    </dgm:pt>
    <dgm:pt modelId="{DC4561F0-8F7F-4BED-8040-AE7918001273}" type="parTrans" cxnId="{FB3560E9-ADEB-456C-AADB-226ED60C3513}">
      <dgm:prSet/>
      <dgm:spPr/>
      <dgm:t>
        <a:bodyPr/>
        <a:lstStyle/>
        <a:p>
          <a:endParaRPr lang="en-US"/>
        </a:p>
      </dgm:t>
    </dgm:pt>
    <dgm:pt modelId="{7BD0E600-F0AC-499A-A627-6AE41DA2827E}" type="sibTrans" cxnId="{FB3560E9-ADEB-456C-AADB-226ED60C3513}">
      <dgm:prSet/>
      <dgm:spPr/>
      <dgm:t>
        <a:bodyPr/>
        <a:lstStyle/>
        <a:p>
          <a:endParaRPr lang="en-US"/>
        </a:p>
      </dgm:t>
    </dgm:pt>
    <dgm:pt modelId="{9806D21E-D703-405F-95D3-5531372FDF09}">
      <dgm:prSet/>
      <dgm:spPr/>
      <dgm:t>
        <a:bodyPr/>
        <a:lstStyle/>
        <a:p>
          <a:pPr>
            <a:lnSpc>
              <a:spcPct val="100000"/>
            </a:lnSpc>
          </a:pPr>
          <a:r>
            <a:rPr lang="en-US" b="1"/>
            <a:t>Hospitals and surgical centers</a:t>
          </a:r>
          <a:r>
            <a:rPr lang="en-US"/>
            <a:t> evaluating cost, integration, and clinical benefit</a:t>
          </a:r>
        </a:p>
      </dgm:t>
    </dgm:pt>
    <dgm:pt modelId="{952FD8E3-542E-49D4-AC89-6B44FE5E07E0}" type="parTrans" cxnId="{38934DCE-1A48-409D-847A-AFD418FED09A}">
      <dgm:prSet/>
      <dgm:spPr/>
      <dgm:t>
        <a:bodyPr/>
        <a:lstStyle/>
        <a:p>
          <a:endParaRPr lang="en-US"/>
        </a:p>
      </dgm:t>
    </dgm:pt>
    <dgm:pt modelId="{E4F1C204-0964-4A80-B1A8-403EA6E147B1}" type="sibTrans" cxnId="{38934DCE-1A48-409D-847A-AFD418FED09A}">
      <dgm:prSet/>
      <dgm:spPr/>
      <dgm:t>
        <a:bodyPr/>
        <a:lstStyle/>
        <a:p>
          <a:endParaRPr lang="en-US"/>
        </a:p>
      </dgm:t>
    </dgm:pt>
    <dgm:pt modelId="{D0BC4DD2-05C0-4DC0-99B5-4DE8B99DE53F}">
      <dgm:prSet/>
      <dgm:spPr/>
      <dgm:t>
        <a:bodyPr/>
        <a:lstStyle/>
        <a:p>
          <a:pPr>
            <a:lnSpc>
              <a:spcPct val="100000"/>
            </a:lnSpc>
          </a:pPr>
          <a:r>
            <a:rPr lang="en-US" b="1"/>
            <a:t>Payers</a:t>
          </a:r>
          <a:r>
            <a:rPr lang="en-US"/>
            <a:t> (Medicare, private insurers) influenced by complication rates and reimbursement pathways</a:t>
          </a:r>
        </a:p>
      </dgm:t>
    </dgm:pt>
    <dgm:pt modelId="{1E41045D-B017-4CC2-80E3-F4DB7DC47353}" type="parTrans" cxnId="{55F270E4-E01E-48D6-B3E2-41A7C0A09723}">
      <dgm:prSet/>
      <dgm:spPr/>
      <dgm:t>
        <a:bodyPr/>
        <a:lstStyle/>
        <a:p>
          <a:endParaRPr lang="en-US"/>
        </a:p>
      </dgm:t>
    </dgm:pt>
    <dgm:pt modelId="{0F4D4D93-C85E-4AA1-8634-1101B46560A8}" type="sibTrans" cxnId="{55F270E4-E01E-48D6-B3E2-41A7C0A09723}">
      <dgm:prSet/>
      <dgm:spPr/>
      <dgm:t>
        <a:bodyPr/>
        <a:lstStyle/>
        <a:p>
          <a:endParaRPr lang="en-US"/>
        </a:p>
      </dgm:t>
    </dgm:pt>
    <dgm:pt modelId="{9867EDC0-A5BD-401C-AB76-15B41E43A2BC}">
      <dgm:prSet/>
      <dgm:spPr/>
      <dgm:t>
        <a:bodyPr/>
        <a:lstStyle/>
        <a:p>
          <a:pPr>
            <a:lnSpc>
              <a:spcPct val="100000"/>
            </a:lnSpc>
          </a:pPr>
          <a:r>
            <a:rPr lang="en-US" b="1"/>
            <a:t>Industry partners </a:t>
          </a:r>
          <a:r>
            <a:rPr lang="en-US"/>
            <a:t>(Medtronic R&amp;D) guiding design constraints, compatibility, and feasibility</a:t>
          </a:r>
          <a:br>
            <a:rPr lang="en-US"/>
          </a:br>
          <a:endParaRPr lang="en-US"/>
        </a:p>
      </dgm:t>
    </dgm:pt>
    <dgm:pt modelId="{F5B16815-2B56-4EB8-B807-C338A1785DE7}" type="parTrans" cxnId="{4667936F-CB5F-44F1-8B6C-699263356E95}">
      <dgm:prSet/>
      <dgm:spPr/>
      <dgm:t>
        <a:bodyPr/>
        <a:lstStyle/>
        <a:p>
          <a:endParaRPr lang="en-US"/>
        </a:p>
      </dgm:t>
    </dgm:pt>
    <dgm:pt modelId="{D3B79890-BA91-4A22-B5A6-B61E94BB7BD4}" type="sibTrans" cxnId="{4667936F-CB5F-44F1-8B6C-699263356E95}">
      <dgm:prSet/>
      <dgm:spPr/>
      <dgm:t>
        <a:bodyPr/>
        <a:lstStyle/>
        <a:p>
          <a:endParaRPr lang="en-US"/>
        </a:p>
      </dgm:t>
    </dgm:pt>
    <dgm:pt modelId="{1FA574F6-1357-48B9-87D5-C6F48A6E9307}">
      <dgm:prSet/>
      <dgm:spPr/>
      <dgm:t>
        <a:bodyPr/>
        <a:lstStyle/>
        <a:p>
          <a:pPr>
            <a:lnSpc>
              <a:spcPct val="100000"/>
            </a:lnSpc>
            <a:defRPr b="1"/>
          </a:pPr>
          <a:r>
            <a:rPr lang="en-US" b="1"/>
            <a:t>TERTIARY STAKEHOLDERS</a:t>
          </a:r>
          <a:endParaRPr lang="en-US"/>
        </a:p>
      </dgm:t>
    </dgm:pt>
    <dgm:pt modelId="{D92C9D97-79A5-4F62-B447-9C0C3ADD0759}" type="parTrans" cxnId="{30D6D9A2-04E0-4D7D-978E-85D6EDC5B052}">
      <dgm:prSet/>
      <dgm:spPr/>
      <dgm:t>
        <a:bodyPr/>
        <a:lstStyle/>
        <a:p>
          <a:endParaRPr lang="en-US"/>
        </a:p>
      </dgm:t>
    </dgm:pt>
    <dgm:pt modelId="{8FE5243B-9B58-4052-989E-5F2EA80B4CE3}" type="sibTrans" cxnId="{30D6D9A2-04E0-4D7D-978E-85D6EDC5B052}">
      <dgm:prSet/>
      <dgm:spPr/>
      <dgm:t>
        <a:bodyPr/>
        <a:lstStyle/>
        <a:p>
          <a:endParaRPr lang="en-US"/>
        </a:p>
      </dgm:t>
    </dgm:pt>
    <dgm:pt modelId="{2D4C3D55-74BA-48EA-8FD2-208D32F90D60}">
      <dgm:prSet/>
      <dgm:spPr/>
      <dgm:t>
        <a:bodyPr/>
        <a:lstStyle/>
        <a:p>
          <a:pPr>
            <a:lnSpc>
              <a:spcPct val="100000"/>
            </a:lnSpc>
          </a:pPr>
          <a:r>
            <a:rPr lang="en-US" b="1"/>
            <a:t>Regulatory bodies</a:t>
          </a:r>
          <a:r>
            <a:rPr lang="en-US"/>
            <a:t> (FDA, ISO standards committees) overseeing safety, compliance, and approval</a:t>
          </a:r>
        </a:p>
      </dgm:t>
    </dgm:pt>
    <dgm:pt modelId="{8B781888-772A-4580-9ABA-E08F9045EAC6}" type="parTrans" cxnId="{FA3AD8D5-1BF4-42BB-9CE5-7E53FD8226EB}">
      <dgm:prSet/>
      <dgm:spPr/>
      <dgm:t>
        <a:bodyPr/>
        <a:lstStyle/>
        <a:p>
          <a:endParaRPr lang="en-US"/>
        </a:p>
      </dgm:t>
    </dgm:pt>
    <dgm:pt modelId="{2EE231DA-122C-4436-8D3E-A7731C68A5DA}" type="sibTrans" cxnId="{FA3AD8D5-1BF4-42BB-9CE5-7E53FD8226EB}">
      <dgm:prSet/>
      <dgm:spPr/>
      <dgm:t>
        <a:bodyPr/>
        <a:lstStyle/>
        <a:p>
          <a:endParaRPr lang="en-US"/>
        </a:p>
      </dgm:t>
    </dgm:pt>
    <dgm:pt modelId="{A2C56216-6CF9-44B7-AE99-F202106057D9}">
      <dgm:prSet/>
      <dgm:spPr/>
      <dgm:t>
        <a:bodyPr/>
        <a:lstStyle/>
        <a:p>
          <a:pPr>
            <a:lnSpc>
              <a:spcPct val="100000"/>
            </a:lnSpc>
          </a:pPr>
          <a:r>
            <a:rPr lang="en-US" b="1"/>
            <a:t>Device distributors and supply chain teams</a:t>
          </a:r>
          <a:r>
            <a:rPr lang="en-US"/>
            <a:t> supporting deployment and adoption</a:t>
          </a:r>
        </a:p>
      </dgm:t>
    </dgm:pt>
    <dgm:pt modelId="{AEF66F6D-ECC5-453F-BC0F-A87DF06692AD}" type="parTrans" cxnId="{E6928F03-F595-4C3D-808C-C33960609C70}">
      <dgm:prSet/>
      <dgm:spPr/>
      <dgm:t>
        <a:bodyPr/>
        <a:lstStyle/>
        <a:p>
          <a:endParaRPr lang="en-US"/>
        </a:p>
      </dgm:t>
    </dgm:pt>
    <dgm:pt modelId="{A58DF5AB-2A1A-483E-8700-326AA61EB351}" type="sibTrans" cxnId="{E6928F03-F595-4C3D-808C-C33960609C70}">
      <dgm:prSet/>
      <dgm:spPr/>
      <dgm:t>
        <a:bodyPr/>
        <a:lstStyle/>
        <a:p>
          <a:endParaRPr lang="en-US"/>
        </a:p>
      </dgm:t>
    </dgm:pt>
    <dgm:pt modelId="{D4CD8BD2-6726-4AD9-9057-707326056417}">
      <dgm:prSet/>
      <dgm:spPr/>
      <dgm:t>
        <a:bodyPr/>
        <a:lstStyle/>
        <a:p>
          <a:pPr>
            <a:lnSpc>
              <a:spcPct val="100000"/>
            </a:lnSpc>
          </a:pPr>
          <a:r>
            <a:rPr lang="en-US" b="1"/>
            <a:t>Surgical training programs</a:t>
          </a:r>
          <a:r>
            <a:rPr lang="en-US"/>
            <a:t> that may incorporate the technology into education</a:t>
          </a:r>
        </a:p>
      </dgm:t>
    </dgm:pt>
    <dgm:pt modelId="{33829D1A-37B8-4EE8-8EDF-D59283FAAB46}" type="parTrans" cxnId="{49870EF1-1FC8-434D-9359-E914E727FBD7}">
      <dgm:prSet/>
      <dgm:spPr/>
      <dgm:t>
        <a:bodyPr/>
        <a:lstStyle/>
        <a:p>
          <a:endParaRPr lang="en-US"/>
        </a:p>
      </dgm:t>
    </dgm:pt>
    <dgm:pt modelId="{85F072C4-79A5-4001-BEEA-CD6607F7F609}" type="sibTrans" cxnId="{49870EF1-1FC8-434D-9359-E914E727FBD7}">
      <dgm:prSet/>
      <dgm:spPr/>
      <dgm:t>
        <a:bodyPr/>
        <a:lstStyle/>
        <a:p>
          <a:endParaRPr lang="en-US"/>
        </a:p>
      </dgm:t>
    </dgm:pt>
    <dgm:pt modelId="{B682DCC0-5FA8-4E7A-83D9-31DB992DADED}" type="pres">
      <dgm:prSet presAssocID="{FC58C2BC-421D-44AA-BA3C-2B222DDA9AFA}" presName="root" presStyleCnt="0">
        <dgm:presLayoutVars>
          <dgm:dir/>
          <dgm:resizeHandles val="exact"/>
        </dgm:presLayoutVars>
      </dgm:prSet>
      <dgm:spPr/>
    </dgm:pt>
    <dgm:pt modelId="{8DAFACF0-FC4C-4820-9F33-D051E29DB462}" type="pres">
      <dgm:prSet presAssocID="{150DB187-4A85-4F9F-9BF1-FEA26359B69F}" presName="compNode" presStyleCnt="0"/>
      <dgm:spPr/>
    </dgm:pt>
    <dgm:pt modelId="{6942664C-3CDA-496F-BC6B-501BE80BCE0A}" type="pres">
      <dgm:prSet presAssocID="{150DB187-4A85-4F9F-9BF1-FEA26359B69F}" presName="iconRect" presStyleLbl="node1" presStyleIdx="0" presStyleCnt="3" custLinFactX="131857" custLinFactNeighborX="20000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ospital"/>
        </a:ext>
      </dgm:extLst>
    </dgm:pt>
    <dgm:pt modelId="{7BF5BD79-816E-4EA8-BEF3-57D8576E7F11}" type="pres">
      <dgm:prSet presAssocID="{150DB187-4A85-4F9F-9BF1-FEA26359B69F}" presName="iconSpace" presStyleCnt="0"/>
      <dgm:spPr/>
    </dgm:pt>
    <dgm:pt modelId="{E3838ED9-79A8-47A2-91D3-EB3B0093D79C}" type="pres">
      <dgm:prSet presAssocID="{150DB187-4A85-4F9F-9BF1-FEA26359B69F}" presName="parTx" presStyleLbl="revTx" presStyleIdx="0" presStyleCnt="6">
        <dgm:presLayoutVars>
          <dgm:chMax val="0"/>
          <dgm:chPref val="0"/>
        </dgm:presLayoutVars>
      </dgm:prSet>
      <dgm:spPr/>
    </dgm:pt>
    <dgm:pt modelId="{C4C4459A-EDA3-4E67-ADD9-7F88E7A85844}" type="pres">
      <dgm:prSet presAssocID="{150DB187-4A85-4F9F-9BF1-FEA26359B69F}" presName="txSpace" presStyleCnt="0"/>
      <dgm:spPr/>
    </dgm:pt>
    <dgm:pt modelId="{AADA8C64-37CC-449F-BE4F-B6008A6D3207}" type="pres">
      <dgm:prSet presAssocID="{150DB187-4A85-4F9F-9BF1-FEA26359B69F}" presName="desTx" presStyleLbl="revTx" presStyleIdx="1" presStyleCnt="6">
        <dgm:presLayoutVars/>
      </dgm:prSet>
      <dgm:spPr/>
    </dgm:pt>
    <dgm:pt modelId="{127947E9-9E98-4FFA-AC44-DE0891D4C30E}" type="pres">
      <dgm:prSet presAssocID="{80740A3C-200B-4BF4-B1A2-016291D2D7EC}" presName="sibTrans" presStyleCnt="0"/>
      <dgm:spPr/>
    </dgm:pt>
    <dgm:pt modelId="{D38A6B44-6920-4212-B790-6BAE082EC6AA}" type="pres">
      <dgm:prSet presAssocID="{922F4F1E-3C1C-4DC3-8C43-0411BA596148}" presName="compNode" presStyleCnt="0"/>
      <dgm:spPr/>
    </dgm:pt>
    <dgm:pt modelId="{FB529FFA-8A24-491B-B9C2-C6115427AC5D}" type="pres">
      <dgm:prSet presAssocID="{922F4F1E-3C1C-4DC3-8C43-0411BA596148}" presName="iconRect" presStyleLbl="node1" presStyleIdx="1" presStyleCnt="3" custLinFactX="-136218" custLinFactNeighborX="-200000" custLinFactNeighborY="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ethoscope"/>
        </a:ext>
      </dgm:extLst>
    </dgm:pt>
    <dgm:pt modelId="{BDAFFB6E-FA9E-484B-A4ED-90621C5A45D7}" type="pres">
      <dgm:prSet presAssocID="{922F4F1E-3C1C-4DC3-8C43-0411BA596148}" presName="iconSpace" presStyleCnt="0"/>
      <dgm:spPr/>
    </dgm:pt>
    <dgm:pt modelId="{CEE8752C-6833-49E2-B5DE-D7150695982F}" type="pres">
      <dgm:prSet presAssocID="{922F4F1E-3C1C-4DC3-8C43-0411BA596148}" presName="parTx" presStyleLbl="revTx" presStyleIdx="2" presStyleCnt="6">
        <dgm:presLayoutVars>
          <dgm:chMax val="0"/>
          <dgm:chPref val="0"/>
        </dgm:presLayoutVars>
      </dgm:prSet>
      <dgm:spPr/>
    </dgm:pt>
    <dgm:pt modelId="{C90534E1-7A34-49E5-89F6-F6B282036968}" type="pres">
      <dgm:prSet presAssocID="{922F4F1E-3C1C-4DC3-8C43-0411BA596148}" presName="txSpace" presStyleCnt="0"/>
      <dgm:spPr/>
    </dgm:pt>
    <dgm:pt modelId="{3382A4D1-2B78-48D0-BCC9-AC9E4C44A18B}" type="pres">
      <dgm:prSet presAssocID="{922F4F1E-3C1C-4DC3-8C43-0411BA596148}" presName="desTx" presStyleLbl="revTx" presStyleIdx="3" presStyleCnt="6">
        <dgm:presLayoutVars/>
      </dgm:prSet>
      <dgm:spPr/>
    </dgm:pt>
    <dgm:pt modelId="{8E119E77-E7B0-4B7B-A437-598D63A37706}" type="pres">
      <dgm:prSet presAssocID="{7BD0E600-F0AC-499A-A627-6AE41DA2827E}" presName="sibTrans" presStyleCnt="0"/>
      <dgm:spPr/>
    </dgm:pt>
    <dgm:pt modelId="{88216DB6-A45B-4D59-8726-A48773DDF54B}" type="pres">
      <dgm:prSet presAssocID="{1FA574F6-1357-48B9-87D5-C6F48A6E9307}" presName="compNode" presStyleCnt="0"/>
      <dgm:spPr/>
    </dgm:pt>
    <dgm:pt modelId="{590D0217-05A9-4488-B875-EE0A813E0568}" type="pres">
      <dgm:prSet presAssocID="{1FA574F6-1357-48B9-87D5-C6F48A6E930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andshake"/>
        </a:ext>
      </dgm:extLst>
    </dgm:pt>
    <dgm:pt modelId="{9E4D9465-CDC2-407B-97BA-812009074CF8}" type="pres">
      <dgm:prSet presAssocID="{1FA574F6-1357-48B9-87D5-C6F48A6E9307}" presName="iconSpace" presStyleCnt="0"/>
      <dgm:spPr/>
    </dgm:pt>
    <dgm:pt modelId="{F19052D0-BF2B-4E02-9306-577DB1E14C90}" type="pres">
      <dgm:prSet presAssocID="{1FA574F6-1357-48B9-87D5-C6F48A6E9307}" presName="parTx" presStyleLbl="revTx" presStyleIdx="4" presStyleCnt="6">
        <dgm:presLayoutVars>
          <dgm:chMax val="0"/>
          <dgm:chPref val="0"/>
        </dgm:presLayoutVars>
      </dgm:prSet>
      <dgm:spPr/>
    </dgm:pt>
    <dgm:pt modelId="{588E7211-6231-4467-8D5C-8FA5638E7320}" type="pres">
      <dgm:prSet presAssocID="{1FA574F6-1357-48B9-87D5-C6F48A6E9307}" presName="txSpace" presStyleCnt="0"/>
      <dgm:spPr/>
    </dgm:pt>
    <dgm:pt modelId="{CD9F5677-59B8-437C-803C-01ACA754CAD3}" type="pres">
      <dgm:prSet presAssocID="{1FA574F6-1357-48B9-87D5-C6F48A6E9307}" presName="desTx" presStyleLbl="revTx" presStyleIdx="5" presStyleCnt="6">
        <dgm:presLayoutVars/>
      </dgm:prSet>
      <dgm:spPr/>
    </dgm:pt>
  </dgm:ptLst>
  <dgm:cxnLst>
    <dgm:cxn modelId="{8E42E302-E2CB-462C-8439-778186D99995}" type="presOf" srcId="{9867EDC0-A5BD-401C-AB76-15B41E43A2BC}" destId="{3382A4D1-2B78-48D0-BCC9-AC9E4C44A18B}" srcOrd="0" destOrd="2" presId="urn:microsoft.com/office/officeart/2018/2/layout/IconLabelDescriptionList"/>
    <dgm:cxn modelId="{E6928F03-F595-4C3D-808C-C33960609C70}" srcId="{1FA574F6-1357-48B9-87D5-C6F48A6E9307}" destId="{A2C56216-6CF9-44B7-AE99-F202106057D9}" srcOrd="1" destOrd="0" parTransId="{AEF66F6D-ECC5-453F-BC0F-A87DF06692AD}" sibTransId="{A58DF5AB-2A1A-483E-8700-326AA61EB351}"/>
    <dgm:cxn modelId="{04F68806-6748-48B7-A5F2-7F10D2DD5C10}" srcId="{150DB187-4A85-4F9F-9BF1-FEA26359B69F}" destId="{1A1227B2-E52C-4DCA-8583-61FB09E42192}" srcOrd="2" destOrd="0" parTransId="{BD914AD8-B2CD-4693-BCE6-1F47B38A41CF}" sibTransId="{CD058F9F-9260-4E45-AB29-0FD4BD56D744}"/>
    <dgm:cxn modelId="{9A723D2F-F813-4E6D-8707-3A0B1078622C}" srcId="{FC58C2BC-421D-44AA-BA3C-2B222DDA9AFA}" destId="{150DB187-4A85-4F9F-9BF1-FEA26359B69F}" srcOrd="0" destOrd="0" parTransId="{876D1DFD-1EBC-4F8D-B98F-CD4CCB2D9BFE}" sibTransId="{80740A3C-200B-4BF4-B1A2-016291D2D7EC}"/>
    <dgm:cxn modelId="{E5BD5139-6244-446F-9F54-274A544659D6}" type="presOf" srcId="{A2C56216-6CF9-44B7-AE99-F202106057D9}" destId="{CD9F5677-59B8-437C-803C-01ACA754CAD3}" srcOrd="0" destOrd="1" presId="urn:microsoft.com/office/officeart/2018/2/layout/IconLabelDescriptionList"/>
    <dgm:cxn modelId="{87F7E53D-1B11-47A8-9DBF-30A2D2070455}" type="presOf" srcId="{FC58C2BC-421D-44AA-BA3C-2B222DDA9AFA}" destId="{B682DCC0-5FA8-4E7A-83D9-31DB992DADED}" srcOrd="0" destOrd="0" presId="urn:microsoft.com/office/officeart/2018/2/layout/IconLabelDescriptionList"/>
    <dgm:cxn modelId="{94C9F83D-9323-4706-8E54-8582A14CE29F}" type="presOf" srcId="{D4CD8BD2-6726-4AD9-9057-707326056417}" destId="{CD9F5677-59B8-437C-803C-01ACA754CAD3}" srcOrd="0" destOrd="2" presId="urn:microsoft.com/office/officeart/2018/2/layout/IconLabelDescriptionList"/>
    <dgm:cxn modelId="{8D52DA61-C9F0-4D52-96B2-C2731CBE3A4B}" type="presOf" srcId="{1FA574F6-1357-48B9-87D5-C6F48A6E9307}" destId="{F19052D0-BF2B-4E02-9306-577DB1E14C90}" srcOrd="0" destOrd="0" presId="urn:microsoft.com/office/officeart/2018/2/layout/IconLabelDescriptionList"/>
    <dgm:cxn modelId="{8C5B7662-8035-400E-B5B7-4AF8AB71D3FA}" type="presOf" srcId="{512BC780-C2D2-4E42-9DBA-A046EC9190AB}" destId="{AADA8C64-37CC-449F-BE4F-B6008A6D3207}" srcOrd="0" destOrd="0" presId="urn:microsoft.com/office/officeart/2018/2/layout/IconLabelDescriptionList"/>
    <dgm:cxn modelId="{5D63C849-F59E-4440-9244-1B052ADD3A4B}" srcId="{150DB187-4A85-4F9F-9BF1-FEA26359B69F}" destId="{512BC780-C2D2-4E42-9DBA-A046EC9190AB}" srcOrd="0" destOrd="0" parTransId="{8AF9BA83-03B6-40EC-867C-144303658EAC}" sibTransId="{53E0911D-8F93-4460-87EA-1023C1322714}"/>
    <dgm:cxn modelId="{4667936F-CB5F-44F1-8B6C-699263356E95}" srcId="{922F4F1E-3C1C-4DC3-8C43-0411BA596148}" destId="{9867EDC0-A5BD-401C-AB76-15B41E43A2BC}" srcOrd="2" destOrd="0" parTransId="{F5B16815-2B56-4EB8-B807-C338A1785DE7}" sibTransId="{D3B79890-BA91-4A22-B5A6-B61E94BB7BD4}"/>
    <dgm:cxn modelId="{7AE5FF86-1523-4B5C-9EA7-25C2E67E015A}" type="presOf" srcId="{9806D21E-D703-405F-95D3-5531372FDF09}" destId="{3382A4D1-2B78-48D0-BCC9-AC9E4C44A18B}" srcOrd="0" destOrd="0" presId="urn:microsoft.com/office/officeart/2018/2/layout/IconLabelDescriptionList"/>
    <dgm:cxn modelId="{31643D96-55FA-44B3-A049-529C79216E52}" type="presOf" srcId="{D0BC4DD2-05C0-4DC0-99B5-4DE8B99DE53F}" destId="{3382A4D1-2B78-48D0-BCC9-AC9E4C44A18B}" srcOrd="0" destOrd="1" presId="urn:microsoft.com/office/officeart/2018/2/layout/IconLabelDescriptionList"/>
    <dgm:cxn modelId="{A6C02DA0-4F6B-4849-82E8-3AD6AB8A3DDC}" type="presOf" srcId="{1A1227B2-E52C-4DCA-8583-61FB09E42192}" destId="{AADA8C64-37CC-449F-BE4F-B6008A6D3207}" srcOrd="0" destOrd="2" presId="urn:microsoft.com/office/officeart/2018/2/layout/IconLabelDescriptionList"/>
    <dgm:cxn modelId="{30D6D9A2-04E0-4D7D-978E-85D6EDC5B052}" srcId="{FC58C2BC-421D-44AA-BA3C-2B222DDA9AFA}" destId="{1FA574F6-1357-48B9-87D5-C6F48A6E9307}" srcOrd="2" destOrd="0" parTransId="{D92C9D97-79A5-4F62-B447-9C0C3ADD0759}" sibTransId="{8FE5243B-9B58-4052-989E-5F2EA80B4CE3}"/>
    <dgm:cxn modelId="{7A69DEA2-DCD4-4D53-A5BB-07379CEBED0D}" type="presOf" srcId="{CB306B01-A73C-4B94-8D21-777F4F84FA4E}" destId="{AADA8C64-37CC-449F-BE4F-B6008A6D3207}" srcOrd="0" destOrd="1" presId="urn:microsoft.com/office/officeart/2018/2/layout/IconLabelDescriptionList"/>
    <dgm:cxn modelId="{5C10EAB5-82D7-4CD5-9316-939743E04D9E}" type="presOf" srcId="{150DB187-4A85-4F9F-9BF1-FEA26359B69F}" destId="{E3838ED9-79A8-47A2-91D3-EB3B0093D79C}" srcOrd="0" destOrd="0" presId="urn:microsoft.com/office/officeart/2018/2/layout/IconLabelDescriptionList"/>
    <dgm:cxn modelId="{38934DCE-1A48-409D-847A-AFD418FED09A}" srcId="{922F4F1E-3C1C-4DC3-8C43-0411BA596148}" destId="{9806D21E-D703-405F-95D3-5531372FDF09}" srcOrd="0" destOrd="0" parTransId="{952FD8E3-542E-49D4-AC89-6B44FE5E07E0}" sibTransId="{E4F1C204-0964-4A80-B1A8-403EA6E147B1}"/>
    <dgm:cxn modelId="{FA6766D4-C632-4EBC-96DA-94C32AC6E8B1}" type="presOf" srcId="{922F4F1E-3C1C-4DC3-8C43-0411BA596148}" destId="{CEE8752C-6833-49E2-B5DE-D7150695982F}" srcOrd="0" destOrd="0" presId="urn:microsoft.com/office/officeart/2018/2/layout/IconLabelDescriptionList"/>
    <dgm:cxn modelId="{F5927BD5-6C3F-4C04-A7A6-1687E80F9163}" srcId="{150DB187-4A85-4F9F-9BF1-FEA26359B69F}" destId="{CB306B01-A73C-4B94-8D21-777F4F84FA4E}" srcOrd="1" destOrd="0" parTransId="{C9ABF3E4-486B-4C90-9650-126FC0E7FBE6}" sibTransId="{9B4C9545-3BA1-4050-A93E-B6FB88E9D4FB}"/>
    <dgm:cxn modelId="{FA3AD8D5-1BF4-42BB-9CE5-7E53FD8226EB}" srcId="{1FA574F6-1357-48B9-87D5-C6F48A6E9307}" destId="{2D4C3D55-74BA-48EA-8FD2-208D32F90D60}" srcOrd="0" destOrd="0" parTransId="{8B781888-772A-4580-9ABA-E08F9045EAC6}" sibTransId="{2EE231DA-122C-4436-8D3E-A7731C68A5DA}"/>
    <dgm:cxn modelId="{D2E127D8-FE33-4203-8DFD-B7D1BB8429CB}" type="presOf" srcId="{2D4C3D55-74BA-48EA-8FD2-208D32F90D60}" destId="{CD9F5677-59B8-437C-803C-01ACA754CAD3}" srcOrd="0" destOrd="0" presId="urn:microsoft.com/office/officeart/2018/2/layout/IconLabelDescriptionList"/>
    <dgm:cxn modelId="{55F270E4-E01E-48D6-B3E2-41A7C0A09723}" srcId="{922F4F1E-3C1C-4DC3-8C43-0411BA596148}" destId="{D0BC4DD2-05C0-4DC0-99B5-4DE8B99DE53F}" srcOrd="1" destOrd="0" parTransId="{1E41045D-B017-4CC2-80E3-F4DB7DC47353}" sibTransId="{0F4D4D93-C85E-4AA1-8634-1101B46560A8}"/>
    <dgm:cxn modelId="{FB3560E9-ADEB-456C-AADB-226ED60C3513}" srcId="{FC58C2BC-421D-44AA-BA3C-2B222DDA9AFA}" destId="{922F4F1E-3C1C-4DC3-8C43-0411BA596148}" srcOrd="1" destOrd="0" parTransId="{DC4561F0-8F7F-4BED-8040-AE7918001273}" sibTransId="{7BD0E600-F0AC-499A-A627-6AE41DA2827E}"/>
    <dgm:cxn modelId="{49870EF1-1FC8-434D-9359-E914E727FBD7}" srcId="{1FA574F6-1357-48B9-87D5-C6F48A6E9307}" destId="{D4CD8BD2-6726-4AD9-9057-707326056417}" srcOrd="2" destOrd="0" parTransId="{33829D1A-37B8-4EE8-8EDF-D59283FAAB46}" sibTransId="{85F072C4-79A5-4001-BEEA-CD6607F7F609}"/>
    <dgm:cxn modelId="{3AA977E0-4FC4-4693-BE69-AB7B706F6364}" type="presParOf" srcId="{B682DCC0-5FA8-4E7A-83D9-31DB992DADED}" destId="{8DAFACF0-FC4C-4820-9F33-D051E29DB462}" srcOrd="0" destOrd="0" presId="urn:microsoft.com/office/officeart/2018/2/layout/IconLabelDescriptionList"/>
    <dgm:cxn modelId="{00F15302-2507-4341-B021-17240FFF9054}" type="presParOf" srcId="{8DAFACF0-FC4C-4820-9F33-D051E29DB462}" destId="{6942664C-3CDA-496F-BC6B-501BE80BCE0A}" srcOrd="0" destOrd="0" presId="urn:microsoft.com/office/officeart/2018/2/layout/IconLabelDescriptionList"/>
    <dgm:cxn modelId="{6CAB29A3-5A39-4E10-BC92-2EBC11B59461}" type="presParOf" srcId="{8DAFACF0-FC4C-4820-9F33-D051E29DB462}" destId="{7BF5BD79-816E-4EA8-BEF3-57D8576E7F11}" srcOrd="1" destOrd="0" presId="urn:microsoft.com/office/officeart/2018/2/layout/IconLabelDescriptionList"/>
    <dgm:cxn modelId="{61665A96-F95A-464B-AD98-7D3328F85705}" type="presParOf" srcId="{8DAFACF0-FC4C-4820-9F33-D051E29DB462}" destId="{E3838ED9-79A8-47A2-91D3-EB3B0093D79C}" srcOrd="2" destOrd="0" presId="urn:microsoft.com/office/officeart/2018/2/layout/IconLabelDescriptionList"/>
    <dgm:cxn modelId="{98C61F39-6500-42FE-8966-44F8902A2062}" type="presParOf" srcId="{8DAFACF0-FC4C-4820-9F33-D051E29DB462}" destId="{C4C4459A-EDA3-4E67-ADD9-7F88E7A85844}" srcOrd="3" destOrd="0" presId="urn:microsoft.com/office/officeart/2018/2/layout/IconLabelDescriptionList"/>
    <dgm:cxn modelId="{54533F23-40CF-4B31-BFCC-B3B4EF0F5A4C}" type="presParOf" srcId="{8DAFACF0-FC4C-4820-9F33-D051E29DB462}" destId="{AADA8C64-37CC-449F-BE4F-B6008A6D3207}" srcOrd="4" destOrd="0" presId="urn:microsoft.com/office/officeart/2018/2/layout/IconLabelDescriptionList"/>
    <dgm:cxn modelId="{BBBFEA7A-D420-4682-8401-760AEC59D0F0}" type="presParOf" srcId="{B682DCC0-5FA8-4E7A-83D9-31DB992DADED}" destId="{127947E9-9E98-4FFA-AC44-DE0891D4C30E}" srcOrd="1" destOrd="0" presId="urn:microsoft.com/office/officeart/2018/2/layout/IconLabelDescriptionList"/>
    <dgm:cxn modelId="{A0E7695A-AF19-4853-A90F-DEC6D5DBB0F6}" type="presParOf" srcId="{B682DCC0-5FA8-4E7A-83D9-31DB992DADED}" destId="{D38A6B44-6920-4212-B790-6BAE082EC6AA}" srcOrd="2" destOrd="0" presId="urn:microsoft.com/office/officeart/2018/2/layout/IconLabelDescriptionList"/>
    <dgm:cxn modelId="{BE74FE5D-5578-4AC1-874F-753DC4C0EF0E}" type="presParOf" srcId="{D38A6B44-6920-4212-B790-6BAE082EC6AA}" destId="{FB529FFA-8A24-491B-B9C2-C6115427AC5D}" srcOrd="0" destOrd="0" presId="urn:microsoft.com/office/officeart/2018/2/layout/IconLabelDescriptionList"/>
    <dgm:cxn modelId="{BD5F5FFA-0C22-4F1E-9180-6387B5B0FA25}" type="presParOf" srcId="{D38A6B44-6920-4212-B790-6BAE082EC6AA}" destId="{BDAFFB6E-FA9E-484B-A4ED-90621C5A45D7}" srcOrd="1" destOrd="0" presId="urn:microsoft.com/office/officeart/2018/2/layout/IconLabelDescriptionList"/>
    <dgm:cxn modelId="{1BD71858-6868-448A-9F0E-D46BC6F57C72}" type="presParOf" srcId="{D38A6B44-6920-4212-B790-6BAE082EC6AA}" destId="{CEE8752C-6833-49E2-B5DE-D7150695982F}" srcOrd="2" destOrd="0" presId="urn:microsoft.com/office/officeart/2018/2/layout/IconLabelDescriptionList"/>
    <dgm:cxn modelId="{E89E90D3-4D37-4C50-8FB7-5B261C8BFB5F}" type="presParOf" srcId="{D38A6B44-6920-4212-B790-6BAE082EC6AA}" destId="{C90534E1-7A34-49E5-89F6-F6B282036968}" srcOrd="3" destOrd="0" presId="urn:microsoft.com/office/officeart/2018/2/layout/IconLabelDescriptionList"/>
    <dgm:cxn modelId="{2A8AC124-EC60-4E95-AC7B-974FD9BAB1D5}" type="presParOf" srcId="{D38A6B44-6920-4212-B790-6BAE082EC6AA}" destId="{3382A4D1-2B78-48D0-BCC9-AC9E4C44A18B}" srcOrd="4" destOrd="0" presId="urn:microsoft.com/office/officeart/2018/2/layout/IconLabelDescriptionList"/>
    <dgm:cxn modelId="{6E1DEF79-7051-4665-A88C-E14A1CF50F21}" type="presParOf" srcId="{B682DCC0-5FA8-4E7A-83D9-31DB992DADED}" destId="{8E119E77-E7B0-4B7B-A437-598D63A37706}" srcOrd="3" destOrd="0" presId="urn:microsoft.com/office/officeart/2018/2/layout/IconLabelDescriptionList"/>
    <dgm:cxn modelId="{18AA2C95-4FAA-40A6-A341-B9E1003A0EFC}" type="presParOf" srcId="{B682DCC0-5FA8-4E7A-83D9-31DB992DADED}" destId="{88216DB6-A45B-4D59-8726-A48773DDF54B}" srcOrd="4" destOrd="0" presId="urn:microsoft.com/office/officeart/2018/2/layout/IconLabelDescriptionList"/>
    <dgm:cxn modelId="{3ED25A71-1EE8-4495-AD97-22CE7C8BBA97}" type="presParOf" srcId="{88216DB6-A45B-4D59-8726-A48773DDF54B}" destId="{590D0217-05A9-4488-B875-EE0A813E0568}" srcOrd="0" destOrd="0" presId="urn:microsoft.com/office/officeart/2018/2/layout/IconLabelDescriptionList"/>
    <dgm:cxn modelId="{E5A63893-8DF4-440C-943C-702E8049CD64}" type="presParOf" srcId="{88216DB6-A45B-4D59-8726-A48773DDF54B}" destId="{9E4D9465-CDC2-407B-97BA-812009074CF8}" srcOrd="1" destOrd="0" presId="urn:microsoft.com/office/officeart/2018/2/layout/IconLabelDescriptionList"/>
    <dgm:cxn modelId="{DCCDE732-5D69-4214-BE9F-A1C36E2383A6}" type="presParOf" srcId="{88216DB6-A45B-4D59-8726-A48773DDF54B}" destId="{F19052D0-BF2B-4E02-9306-577DB1E14C90}" srcOrd="2" destOrd="0" presId="urn:microsoft.com/office/officeart/2018/2/layout/IconLabelDescriptionList"/>
    <dgm:cxn modelId="{066E3AE1-AF38-4DBF-AD82-3FEDE2CFB393}" type="presParOf" srcId="{88216DB6-A45B-4D59-8726-A48773DDF54B}" destId="{588E7211-6231-4467-8D5C-8FA5638E7320}" srcOrd="3" destOrd="0" presId="urn:microsoft.com/office/officeart/2018/2/layout/IconLabelDescriptionList"/>
    <dgm:cxn modelId="{DFC3E5A5-FC61-41CD-A4B7-3CE73BD6C07B}" type="presParOf" srcId="{88216DB6-A45B-4D59-8726-A48773DDF54B}" destId="{CD9F5677-59B8-437C-803C-01ACA754CAD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1FF561-26F8-402B-A0E4-535F59E4F78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DEBB4CD8-5DBB-41AE-AF78-D6BB1F3E66DF}">
      <dgm:prSet/>
      <dgm:spPr/>
      <dgm:t>
        <a:bodyPr/>
        <a:lstStyle/>
        <a:p>
          <a:pPr>
            <a:lnSpc>
              <a:spcPct val="100000"/>
            </a:lnSpc>
            <a:defRPr b="1"/>
          </a:pPr>
          <a:r>
            <a:rPr lang="en-US"/>
            <a:t>Near-term</a:t>
          </a:r>
        </a:p>
      </dgm:t>
    </dgm:pt>
    <dgm:pt modelId="{535FBB05-880B-490A-ACAB-05A5A026D674}" type="parTrans" cxnId="{94358D69-6E94-4946-96C3-66B32BAB8FCF}">
      <dgm:prSet/>
      <dgm:spPr/>
      <dgm:t>
        <a:bodyPr/>
        <a:lstStyle/>
        <a:p>
          <a:endParaRPr lang="en-US"/>
        </a:p>
      </dgm:t>
    </dgm:pt>
    <dgm:pt modelId="{A6E4F3AA-1E23-4A1F-BC3D-7F26FB7DAE8D}" type="sibTrans" cxnId="{94358D69-6E94-4946-96C3-66B32BAB8FCF}">
      <dgm:prSet/>
      <dgm:spPr/>
      <dgm:t>
        <a:bodyPr/>
        <a:lstStyle/>
        <a:p>
          <a:endParaRPr lang="en-US"/>
        </a:p>
      </dgm:t>
    </dgm:pt>
    <dgm:pt modelId="{1F78ED52-A4A3-4028-B8D6-59F5B757EBFE}">
      <dgm:prSet/>
      <dgm:spPr/>
      <dgm:t>
        <a:bodyPr/>
        <a:lstStyle/>
        <a:p>
          <a:pPr>
            <a:lnSpc>
              <a:spcPct val="100000"/>
            </a:lnSpc>
          </a:pPr>
          <a:r>
            <a:rPr lang="en-US"/>
            <a:t>Integrate sensors into the ACDF retractor hardware</a:t>
          </a:r>
        </a:p>
      </dgm:t>
    </dgm:pt>
    <dgm:pt modelId="{E1481349-F45E-4C60-B857-2E9D29E31F3F}" type="parTrans" cxnId="{B63A58A8-D74D-4624-8220-67F8F298F7F9}">
      <dgm:prSet/>
      <dgm:spPr/>
      <dgm:t>
        <a:bodyPr/>
        <a:lstStyle/>
        <a:p>
          <a:endParaRPr lang="en-US"/>
        </a:p>
      </dgm:t>
    </dgm:pt>
    <dgm:pt modelId="{A1F6EF95-7057-46F0-9421-92E45EE88DC0}" type="sibTrans" cxnId="{B63A58A8-D74D-4624-8220-67F8F298F7F9}">
      <dgm:prSet/>
      <dgm:spPr/>
      <dgm:t>
        <a:bodyPr/>
        <a:lstStyle/>
        <a:p>
          <a:endParaRPr lang="en-US"/>
        </a:p>
      </dgm:t>
    </dgm:pt>
    <dgm:pt modelId="{EB1FAED1-C13F-4BD9-9CB9-A2125AF90EF7}">
      <dgm:prSet/>
      <dgm:spPr/>
      <dgm:t>
        <a:bodyPr/>
        <a:lstStyle/>
        <a:p>
          <a:pPr>
            <a:lnSpc>
              <a:spcPct val="100000"/>
            </a:lnSpc>
          </a:pPr>
          <a:r>
            <a:rPr lang="en-US"/>
            <a:t>Iterate design around real blade geometry and attachment points</a:t>
          </a:r>
        </a:p>
      </dgm:t>
    </dgm:pt>
    <dgm:pt modelId="{BCC75ED0-EF91-47A1-BEF3-C399C0EB48BD}" type="parTrans" cxnId="{9603B4B6-DB97-458C-A0F2-E3C576325964}">
      <dgm:prSet/>
      <dgm:spPr/>
      <dgm:t>
        <a:bodyPr/>
        <a:lstStyle/>
        <a:p>
          <a:endParaRPr lang="en-US"/>
        </a:p>
      </dgm:t>
    </dgm:pt>
    <dgm:pt modelId="{6B29A557-3D83-4735-A745-3FB2BD0EA7D0}" type="sibTrans" cxnId="{9603B4B6-DB97-458C-A0F2-E3C576325964}">
      <dgm:prSet/>
      <dgm:spPr/>
      <dgm:t>
        <a:bodyPr/>
        <a:lstStyle/>
        <a:p>
          <a:endParaRPr lang="en-US"/>
        </a:p>
      </dgm:t>
    </dgm:pt>
    <dgm:pt modelId="{E037BD3B-0499-49CE-A9E5-5E68D5998C6F}">
      <dgm:prSet/>
      <dgm:spPr/>
      <dgm:t>
        <a:bodyPr/>
        <a:lstStyle/>
        <a:p>
          <a:pPr>
            <a:lnSpc>
              <a:spcPct val="100000"/>
            </a:lnSpc>
          </a:pPr>
          <a:r>
            <a:rPr lang="en-US"/>
            <a:t>Evaluate sterilization and material compatibility </a:t>
          </a:r>
        </a:p>
      </dgm:t>
    </dgm:pt>
    <dgm:pt modelId="{D2124B16-8594-4639-AA7C-4F94C0C83725}" type="parTrans" cxnId="{A627EF67-3489-4651-8194-B74D0D389A64}">
      <dgm:prSet/>
      <dgm:spPr/>
      <dgm:t>
        <a:bodyPr/>
        <a:lstStyle/>
        <a:p>
          <a:endParaRPr lang="en-US"/>
        </a:p>
      </dgm:t>
    </dgm:pt>
    <dgm:pt modelId="{D61D8F93-C269-43C4-8420-00C8DBD83FA0}" type="sibTrans" cxnId="{A627EF67-3489-4651-8194-B74D0D389A64}">
      <dgm:prSet/>
      <dgm:spPr/>
      <dgm:t>
        <a:bodyPr/>
        <a:lstStyle/>
        <a:p>
          <a:endParaRPr lang="en-US"/>
        </a:p>
      </dgm:t>
    </dgm:pt>
    <dgm:pt modelId="{FF57AD34-B19B-4CF9-A3B5-68F5FCB60ABB}">
      <dgm:prSet/>
      <dgm:spPr/>
      <dgm:t>
        <a:bodyPr/>
        <a:lstStyle/>
        <a:p>
          <a:pPr>
            <a:lnSpc>
              <a:spcPct val="100000"/>
            </a:lnSpc>
          </a:pPr>
          <a:r>
            <a:rPr lang="en-US"/>
            <a:t>Perform benchtop testing</a:t>
          </a:r>
        </a:p>
      </dgm:t>
    </dgm:pt>
    <dgm:pt modelId="{668D5AA0-201B-4F20-B1F8-F5EE0399730F}" type="parTrans" cxnId="{0E1B80AF-44FE-4E50-BFA2-14622223A452}">
      <dgm:prSet/>
      <dgm:spPr/>
      <dgm:t>
        <a:bodyPr/>
        <a:lstStyle/>
        <a:p>
          <a:endParaRPr lang="en-US"/>
        </a:p>
      </dgm:t>
    </dgm:pt>
    <dgm:pt modelId="{188E43C9-70F2-4057-856D-E654701FA936}" type="sibTrans" cxnId="{0E1B80AF-44FE-4E50-BFA2-14622223A452}">
      <dgm:prSet/>
      <dgm:spPr/>
      <dgm:t>
        <a:bodyPr/>
        <a:lstStyle/>
        <a:p>
          <a:endParaRPr lang="en-US"/>
        </a:p>
      </dgm:t>
    </dgm:pt>
    <dgm:pt modelId="{07E30585-53DC-4156-AE5E-1582617AA97D}">
      <dgm:prSet/>
      <dgm:spPr/>
      <dgm:t>
        <a:bodyPr/>
        <a:lstStyle/>
        <a:p>
          <a:pPr>
            <a:lnSpc>
              <a:spcPct val="100000"/>
            </a:lnSpc>
            <a:defRPr b="1"/>
          </a:pPr>
          <a:r>
            <a:rPr lang="en-US"/>
            <a:t>Mid-term</a:t>
          </a:r>
        </a:p>
      </dgm:t>
    </dgm:pt>
    <dgm:pt modelId="{8E68D148-F559-439C-8E4C-4A5CCE13C94D}" type="parTrans" cxnId="{17AD2FAA-3BF4-46BA-9EB8-57E41A632867}">
      <dgm:prSet/>
      <dgm:spPr/>
      <dgm:t>
        <a:bodyPr/>
        <a:lstStyle/>
        <a:p>
          <a:endParaRPr lang="en-US"/>
        </a:p>
      </dgm:t>
    </dgm:pt>
    <dgm:pt modelId="{FF51CC4C-0FE6-427A-A6D8-8835144A0B44}" type="sibTrans" cxnId="{17AD2FAA-3BF4-46BA-9EB8-57E41A632867}">
      <dgm:prSet/>
      <dgm:spPr/>
      <dgm:t>
        <a:bodyPr/>
        <a:lstStyle/>
        <a:p>
          <a:endParaRPr lang="en-US"/>
        </a:p>
      </dgm:t>
    </dgm:pt>
    <dgm:pt modelId="{82CD1DC1-EA0B-4416-98D8-FFEA0BF36840}">
      <dgm:prSet/>
      <dgm:spPr/>
      <dgm:t>
        <a:bodyPr/>
        <a:lstStyle/>
        <a:p>
          <a:pPr>
            <a:lnSpc>
              <a:spcPct val="100000"/>
            </a:lnSpc>
          </a:pPr>
          <a:r>
            <a:rPr lang="en-US"/>
            <a:t>Calibrate sensors under realistic tissue loads (cadaveric or phantom models)</a:t>
          </a:r>
        </a:p>
      </dgm:t>
    </dgm:pt>
    <dgm:pt modelId="{B2090369-197C-4433-B186-EE0634454D1F}" type="parTrans" cxnId="{83E1B972-696C-4102-BC17-0105D4A4E4A3}">
      <dgm:prSet/>
      <dgm:spPr/>
      <dgm:t>
        <a:bodyPr/>
        <a:lstStyle/>
        <a:p>
          <a:endParaRPr lang="en-US"/>
        </a:p>
      </dgm:t>
    </dgm:pt>
    <dgm:pt modelId="{D28AD6DF-F22B-4D3B-B330-28954D75F9A5}" type="sibTrans" cxnId="{83E1B972-696C-4102-BC17-0105D4A4E4A3}">
      <dgm:prSet/>
      <dgm:spPr/>
      <dgm:t>
        <a:bodyPr/>
        <a:lstStyle/>
        <a:p>
          <a:endParaRPr lang="en-US"/>
        </a:p>
      </dgm:t>
    </dgm:pt>
    <dgm:pt modelId="{DB726905-0AE2-4515-8EB1-AF9F4325DB9C}">
      <dgm:prSet/>
      <dgm:spPr/>
      <dgm:t>
        <a:bodyPr/>
        <a:lstStyle/>
        <a:p>
          <a:pPr>
            <a:lnSpc>
              <a:spcPct val="100000"/>
            </a:lnSpc>
          </a:pPr>
          <a:r>
            <a:rPr lang="en-US"/>
            <a:t>Test multi-sensor arrays for distributed pressure mapping </a:t>
          </a:r>
        </a:p>
      </dgm:t>
    </dgm:pt>
    <dgm:pt modelId="{D756A22A-175A-4653-84AE-58D6EF6B8D4D}" type="parTrans" cxnId="{D86C1717-E673-4C68-875B-A10DAA2760B0}">
      <dgm:prSet/>
      <dgm:spPr/>
      <dgm:t>
        <a:bodyPr/>
        <a:lstStyle/>
        <a:p>
          <a:endParaRPr lang="en-US"/>
        </a:p>
      </dgm:t>
    </dgm:pt>
    <dgm:pt modelId="{8C4849DD-9EB6-4C14-941A-161216F043A9}" type="sibTrans" cxnId="{D86C1717-E673-4C68-875B-A10DAA2760B0}">
      <dgm:prSet/>
      <dgm:spPr/>
      <dgm:t>
        <a:bodyPr/>
        <a:lstStyle/>
        <a:p>
          <a:endParaRPr lang="en-US"/>
        </a:p>
      </dgm:t>
    </dgm:pt>
    <dgm:pt modelId="{6DB83AA2-3195-45C6-BA9F-90A4E60958A3}">
      <dgm:prSet/>
      <dgm:spPr/>
      <dgm:t>
        <a:bodyPr/>
        <a:lstStyle/>
        <a:p>
          <a:pPr>
            <a:lnSpc>
              <a:spcPct val="100000"/>
            </a:lnSpc>
          </a:pPr>
          <a:r>
            <a:rPr lang="en-US"/>
            <a:t>Develop a surgeon-facing interface with live feedback</a:t>
          </a:r>
        </a:p>
      </dgm:t>
    </dgm:pt>
    <dgm:pt modelId="{2E9E7D4B-ED4F-43A7-A989-5CACDA412AF8}" type="parTrans" cxnId="{92CF8F86-B502-4C9D-ADA6-66CD0DCBE052}">
      <dgm:prSet/>
      <dgm:spPr/>
      <dgm:t>
        <a:bodyPr/>
        <a:lstStyle/>
        <a:p>
          <a:endParaRPr lang="en-US"/>
        </a:p>
      </dgm:t>
    </dgm:pt>
    <dgm:pt modelId="{7FD3DD01-6B9F-4972-A7AC-E00D9B92313C}" type="sibTrans" cxnId="{92CF8F86-B502-4C9D-ADA6-66CD0DCBE052}">
      <dgm:prSet/>
      <dgm:spPr/>
      <dgm:t>
        <a:bodyPr/>
        <a:lstStyle/>
        <a:p>
          <a:endParaRPr lang="en-US"/>
        </a:p>
      </dgm:t>
    </dgm:pt>
    <dgm:pt modelId="{58B5D1A8-DDE6-45BC-8451-F03A9A338FC2}">
      <dgm:prSet/>
      <dgm:spPr/>
      <dgm:t>
        <a:bodyPr/>
        <a:lstStyle/>
        <a:p>
          <a:pPr>
            <a:lnSpc>
              <a:spcPct val="100000"/>
            </a:lnSpc>
          </a:pPr>
          <a:r>
            <a:rPr lang="en-US"/>
            <a:t>Refine system usability for integration</a:t>
          </a:r>
        </a:p>
      </dgm:t>
    </dgm:pt>
    <dgm:pt modelId="{6BA9C9C3-4F90-411B-A74B-0E0455A5CD89}" type="parTrans" cxnId="{C638411E-E60D-4834-A6F1-590D650F8638}">
      <dgm:prSet/>
      <dgm:spPr/>
      <dgm:t>
        <a:bodyPr/>
        <a:lstStyle/>
        <a:p>
          <a:endParaRPr lang="en-US"/>
        </a:p>
      </dgm:t>
    </dgm:pt>
    <dgm:pt modelId="{B78E55E2-08AD-47D2-BEB2-1AE5BA523CDF}" type="sibTrans" cxnId="{C638411E-E60D-4834-A6F1-590D650F8638}">
      <dgm:prSet/>
      <dgm:spPr/>
      <dgm:t>
        <a:bodyPr/>
        <a:lstStyle/>
        <a:p>
          <a:endParaRPr lang="en-US"/>
        </a:p>
      </dgm:t>
    </dgm:pt>
    <dgm:pt modelId="{6079F422-1C5A-4EA6-9ACB-D21C61FDC53F}">
      <dgm:prSet/>
      <dgm:spPr/>
      <dgm:t>
        <a:bodyPr/>
        <a:lstStyle/>
        <a:p>
          <a:pPr>
            <a:lnSpc>
              <a:spcPct val="100000"/>
            </a:lnSpc>
            <a:defRPr b="1"/>
          </a:pPr>
          <a:r>
            <a:rPr lang="en-US"/>
            <a:t>Long-term</a:t>
          </a:r>
        </a:p>
      </dgm:t>
    </dgm:pt>
    <dgm:pt modelId="{83EAADD8-701C-4DFD-9EAF-C391F8A7E9E2}" type="parTrans" cxnId="{3BEDB5A6-16F8-43F7-BF4E-5B8449E38348}">
      <dgm:prSet/>
      <dgm:spPr/>
      <dgm:t>
        <a:bodyPr/>
        <a:lstStyle/>
        <a:p>
          <a:endParaRPr lang="en-US"/>
        </a:p>
      </dgm:t>
    </dgm:pt>
    <dgm:pt modelId="{66B15CD5-AE71-45E1-A371-6D2764ED647C}" type="sibTrans" cxnId="{3BEDB5A6-16F8-43F7-BF4E-5B8449E38348}">
      <dgm:prSet/>
      <dgm:spPr/>
      <dgm:t>
        <a:bodyPr/>
        <a:lstStyle/>
        <a:p>
          <a:endParaRPr lang="en-US"/>
        </a:p>
      </dgm:t>
    </dgm:pt>
    <dgm:pt modelId="{359C2B62-60C6-497A-BC2D-DE2088C88FD4}">
      <dgm:prSet/>
      <dgm:spPr/>
      <dgm:t>
        <a:bodyPr/>
        <a:lstStyle/>
        <a:p>
          <a:pPr>
            <a:lnSpc>
              <a:spcPct val="100000"/>
            </a:lnSpc>
          </a:pPr>
          <a:r>
            <a:rPr lang="en-US"/>
            <a:t>AI-based prediction of ischemia and nerve injury</a:t>
          </a:r>
        </a:p>
      </dgm:t>
    </dgm:pt>
    <dgm:pt modelId="{9694C1C6-277D-49FE-BBF1-F72B4D5A6238}" type="parTrans" cxnId="{28B54685-3BCB-43A9-B26B-9CD1328DF8AA}">
      <dgm:prSet/>
      <dgm:spPr/>
      <dgm:t>
        <a:bodyPr/>
        <a:lstStyle/>
        <a:p>
          <a:endParaRPr lang="en-US"/>
        </a:p>
      </dgm:t>
    </dgm:pt>
    <dgm:pt modelId="{A349DE6C-2DC0-4038-976E-FD3DA649F42E}" type="sibTrans" cxnId="{28B54685-3BCB-43A9-B26B-9CD1328DF8AA}">
      <dgm:prSet/>
      <dgm:spPr/>
      <dgm:t>
        <a:bodyPr/>
        <a:lstStyle/>
        <a:p>
          <a:endParaRPr lang="en-US"/>
        </a:p>
      </dgm:t>
    </dgm:pt>
    <dgm:pt modelId="{8E053BC9-8B1A-44B1-ADC3-510ACBAF4CAF}">
      <dgm:prSet/>
      <dgm:spPr/>
      <dgm:t>
        <a:bodyPr/>
        <a:lstStyle/>
        <a:p>
          <a:pPr>
            <a:lnSpc>
              <a:spcPct val="100000"/>
            </a:lnSpc>
          </a:pPr>
          <a:r>
            <a:rPr lang="en-US"/>
            <a:t>Integrated pressure sensing platform</a:t>
          </a:r>
        </a:p>
        <a:p>
          <a:pPr>
            <a:lnSpc>
              <a:spcPct val="100000"/>
            </a:lnSpc>
          </a:pPr>
          <a:r>
            <a:rPr lang="en-US"/>
            <a:t>Fully wireless, sterile-safe hardware</a:t>
          </a:r>
        </a:p>
      </dgm:t>
    </dgm:pt>
    <dgm:pt modelId="{AE874F90-3D04-4E4D-94A2-80DF76C424DA}" type="parTrans" cxnId="{C7202B7F-E1EB-45BF-A30E-F5AB25DFE95B}">
      <dgm:prSet/>
      <dgm:spPr/>
      <dgm:t>
        <a:bodyPr/>
        <a:lstStyle/>
        <a:p>
          <a:endParaRPr lang="en-US"/>
        </a:p>
      </dgm:t>
    </dgm:pt>
    <dgm:pt modelId="{A0CD7004-7F04-483A-9567-AF078ECFB047}" type="sibTrans" cxnId="{C7202B7F-E1EB-45BF-A30E-F5AB25DFE95B}">
      <dgm:prSet/>
      <dgm:spPr/>
      <dgm:t>
        <a:bodyPr/>
        <a:lstStyle/>
        <a:p>
          <a:endParaRPr lang="en-US"/>
        </a:p>
      </dgm:t>
    </dgm:pt>
    <dgm:pt modelId="{4737032E-C408-45E1-9141-912CB150C9FD}">
      <dgm:prSet/>
      <dgm:spPr/>
      <dgm:t>
        <a:bodyPr/>
        <a:lstStyle/>
        <a:p>
          <a:pPr>
            <a:lnSpc>
              <a:spcPct val="100000"/>
            </a:lnSpc>
          </a:pPr>
          <a:r>
            <a:rPr lang="en-US"/>
            <a:t>Expansion to multiple surgical retractor systems</a:t>
          </a:r>
        </a:p>
      </dgm:t>
    </dgm:pt>
    <dgm:pt modelId="{4D41DE48-ADCA-4C3D-911C-D7C6174DE5D5}" type="parTrans" cxnId="{2E97E7D0-5D9F-4CE0-8954-74861050F41D}">
      <dgm:prSet/>
      <dgm:spPr/>
      <dgm:t>
        <a:bodyPr/>
        <a:lstStyle/>
        <a:p>
          <a:endParaRPr lang="en-US"/>
        </a:p>
      </dgm:t>
    </dgm:pt>
    <dgm:pt modelId="{3D2C9F69-173A-4A26-B89F-70E480967725}" type="sibTrans" cxnId="{2E97E7D0-5D9F-4CE0-8954-74861050F41D}">
      <dgm:prSet/>
      <dgm:spPr/>
      <dgm:t>
        <a:bodyPr/>
        <a:lstStyle/>
        <a:p>
          <a:endParaRPr lang="en-US"/>
        </a:p>
      </dgm:t>
    </dgm:pt>
    <dgm:pt modelId="{87A7C85F-379A-4488-9F79-A70AADC14291}" type="pres">
      <dgm:prSet presAssocID="{CA1FF561-26F8-402B-A0E4-535F59E4F783}" presName="root" presStyleCnt="0">
        <dgm:presLayoutVars>
          <dgm:dir/>
          <dgm:resizeHandles val="exact"/>
        </dgm:presLayoutVars>
      </dgm:prSet>
      <dgm:spPr/>
    </dgm:pt>
    <dgm:pt modelId="{E3C8A221-4429-4BAC-AAEE-E2EF286B5D80}" type="pres">
      <dgm:prSet presAssocID="{DEBB4CD8-5DBB-41AE-AF78-D6BB1F3E66DF}" presName="compNode" presStyleCnt="0"/>
      <dgm:spPr/>
    </dgm:pt>
    <dgm:pt modelId="{7F0ABA59-C60F-4E84-B344-E3FAC116FBA9}" type="pres">
      <dgm:prSet presAssocID="{DEBB4CD8-5DBB-41AE-AF78-D6BB1F3E66DF}" presName="iconRect" presStyleLbl="node1" presStyleIdx="0" presStyleCnt="3" custLinFactNeighborY="-382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ools"/>
        </a:ext>
      </dgm:extLst>
    </dgm:pt>
    <dgm:pt modelId="{AF8CDA58-9CD4-4245-A29F-3E8075314C8E}" type="pres">
      <dgm:prSet presAssocID="{DEBB4CD8-5DBB-41AE-AF78-D6BB1F3E66DF}" presName="iconSpace" presStyleCnt="0"/>
      <dgm:spPr/>
    </dgm:pt>
    <dgm:pt modelId="{BEB3164C-9F6A-4376-B0BA-C34CEE8BFFE7}" type="pres">
      <dgm:prSet presAssocID="{DEBB4CD8-5DBB-41AE-AF78-D6BB1F3E66DF}" presName="parTx" presStyleLbl="revTx" presStyleIdx="0" presStyleCnt="6" custLinFactNeighborY="-30984">
        <dgm:presLayoutVars>
          <dgm:chMax val="0"/>
          <dgm:chPref val="0"/>
        </dgm:presLayoutVars>
      </dgm:prSet>
      <dgm:spPr/>
    </dgm:pt>
    <dgm:pt modelId="{D855D45C-257E-462D-AB72-4C57CBD0D219}" type="pres">
      <dgm:prSet presAssocID="{DEBB4CD8-5DBB-41AE-AF78-D6BB1F3E66DF}" presName="txSpace" presStyleCnt="0"/>
      <dgm:spPr/>
    </dgm:pt>
    <dgm:pt modelId="{2DA30274-7B45-4002-9478-A67D86CF59B1}" type="pres">
      <dgm:prSet presAssocID="{DEBB4CD8-5DBB-41AE-AF78-D6BB1F3E66DF}" presName="desTx" presStyleLbl="revTx" presStyleIdx="1" presStyleCnt="6" custLinFactNeighborY="-5808">
        <dgm:presLayoutVars/>
      </dgm:prSet>
      <dgm:spPr/>
    </dgm:pt>
    <dgm:pt modelId="{90069F4D-F6F4-4E70-8EB9-DE2830BC55BB}" type="pres">
      <dgm:prSet presAssocID="{A6E4F3AA-1E23-4A1F-BC3D-7F26FB7DAE8D}" presName="sibTrans" presStyleCnt="0"/>
      <dgm:spPr/>
    </dgm:pt>
    <dgm:pt modelId="{61C8DF26-229E-4F0E-8FD4-1D8ADE394331}" type="pres">
      <dgm:prSet presAssocID="{07E30585-53DC-4156-AE5E-1582617AA97D}" presName="compNode" presStyleCnt="0"/>
      <dgm:spPr/>
    </dgm:pt>
    <dgm:pt modelId="{EACF198F-12A0-41E9-A856-C86BA2C47522}" type="pres">
      <dgm:prSet presAssocID="{07E30585-53DC-4156-AE5E-1582617AA97D}" presName="iconRect" presStyleLbl="node1" presStyleIdx="1" presStyleCnt="3" custLinFactNeighborY="-382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4282665A-CD84-4405-A6EE-6F926BAEAFC6}" type="pres">
      <dgm:prSet presAssocID="{07E30585-53DC-4156-AE5E-1582617AA97D}" presName="iconSpace" presStyleCnt="0"/>
      <dgm:spPr/>
    </dgm:pt>
    <dgm:pt modelId="{3A484B07-9F34-42B7-9FFA-5AA56E4E5A1B}" type="pres">
      <dgm:prSet presAssocID="{07E30585-53DC-4156-AE5E-1582617AA97D}" presName="parTx" presStyleLbl="revTx" presStyleIdx="2" presStyleCnt="6" custLinFactNeighborY="-30984">
        <dgm:presLayoutVars>
          <dgm:chMax val="0"/>
          <dgm:chPref val="0"/>
        </dgm:presLayoutVars>
      </dgm:prSet>
      <dgm:spPr/>
    </dgm:pt>
    <dgm:pt modelId="{475AD4A9-74A9-4DC7-BA77-51B2BFE57EC9}" type="pres">
      <dgm:prSet presAssocID="{07E30585-53DC-4156-AE5E-1582617AA97D}" presName="txSpace" presStyleCnt="0"/>
      <dgm:spPr/>
    </dgm:pt>
    <dgm:pt modelId="{78AC1385-9C0B-4947-8B3B-FC5C451A7FD4}" type="pres">
      <dgm:prSet presAssocID="{07E30585-53DC-4156-AE5E-1582617AA97D}" presName="desTx" presStyleLbl="revTx" presStyleIdx="3" presStyleCnt="6" custLinFactNeighborY="-5808">
        <dgm:presLayoutVars/>
      </dgm:prSet>
      <dgm:spPr/>
    </dgm:pt>
    <dgm:pt modelId="{695F5658-96AD-4CEC-A1BB-0B3AB667D110}" type="pres">
      <dgm:prSet presAssocID="{FF51CC4C-0FE6-427A-A6D8-8835144A0B44}" presName="sibTrans" presStyleCnt="0"/>
      <dgm:spPr/>
    </dgm:pt>
    <dgm:pt modelId="{AD3C1669-B4E6-45A9-A888-F0A2B21087A1}" type="pres">
      <dgm:prSet presAssocID="{6079F422-1C5A-4EA6-9ACB-D21C61FDC53F}" presName="compNode" presStyleCnt="0"/>
      <dgm:spPr/>
    </dgm:pt>
    <dgm:pt modelId="{2114F52C-903F-41C3-9960-76D80EB122B2}" type="pres">
      <dgm:prSet presAssocID="{6079F422-1C5A-4EA6-9ACB-D21C61FDC53F}" presName="iconRect" presStyleLbl="node1" presStyleIdx="2" presStyleCnt="3" custLinFactNeighborY="-382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Ambulance"/>
        </a:ext>
      </dgm:extLst>
    </dgm:pt>
    <dgm:pt modelId="{C718DD89-EC20-4875-9501-F2C5B24E5ABD}" type="pres">
      <dgm:prSet presAssocID="{6079F422-1C5A-4EA6-9ACB-D21C61FDC53F}" presName="iconSpace" presStyleCnt="0"/>
      <dgm:spPr/>
    </dgm:pt>
    <dgm:pt modelId="{EEB8FB5B-E8FD-47F3-B05E-2A05C07B35ED}" type="pres">
      <dgm:prSet presAssocID="{6079F422-1C5A-4EA6-9ACB-D21C61FDC53F}" presName="parTx" presStyleLbl="revTx" presStyleIdx="4" presStyleCnt="6" custLinFactNeighborY="-30984">
        <dgm:presLayoutVars>
          <dgm:chMax val="0"/>
          <dgm:chPref val="0"/>
        </dgm:presLayoutVars>
      </dgm:prSet>
      <dgm:spPr/>
    </dgm:pt>
    <dgm:pt modelId="{E7146FAB-7F17-4763-874D-456F9E71DBEC}" type="pres">
      <dgm:prSet presAssocID="{6079F422-1C5A-4EA6-9ACB-D21C61FDC53F}" presName="txSpace" presStyleCnt="0"/>
      <dgm:spPr/>
    </dgm:pt>
    <dgm:pt modelId="{691393EA-338A-4359-9FBD-F6C54D5EEA6A}" type="pres">
      <dgm:prSet presAssocID="{6079F422-1C5A-4EA6-9ACB-D21C61FDC53F}" presName="desTx" presStyleLbl="revTx" presStyleIdx="5" presStyleCnt="6" custLinFactNeighborY="-5808">
        <dgm:presLayoutVars/>
      </dgm:prSet>
      <dgm:spPr/>
    </dgm:pt>
  </dgm:ptLst>
  <dgm:cxnLst>
    <dgm:cxn modelId="{F4513011-75C9-4A55-944C-32840FECE1FF}" type="presOf" srcId="{4737032E-C408-45E1-9141-912CB150C9FD}" destId="{691393EA-338A-4359-9FBD-F6C54D5EEA6A}" srcOrd="0" destOrd="2" presId="urn:microsoft.com/office/officeart/2018/5/layout/CenteredIconLabelDescriptionList"/>
    <dgm:cxn modelId="{D86C1717-E673-4C68-875B-A10DAA2760B0}" srcId="{07E30585-53DC-4156-AE5E-1582617AA97D}" destId="{DB726905-0AE2-4515-8EB1-AF9F4325DB9C}" srcOrd="1" destOrd="0" parTransId="{D756A22A-175A-4653-84AE-58D6EF6B8D4D}" sibTransId="{8C4849DD-9EB6-4C14-941A-161216F043A9}"/>
    <dgm:cxn modelId="{C638411E-E60D-4834-A6F1-590D650F8638}" srcId="{07E30585-53DC-4156-AE5E-1582617AA97D}" destId="{58B5D1A8-DDE6-45BC-8451-F03A9A338FC2}" srcOrd="3" destOrd="0" parTransId="{6BA9C9C3-4F90-411B-A74B-0E0455A5CD89}" sibTransId="{B78E55E2-08AD-47D2-BEB2-1AE5BA523CDF}"/>
    <dgm:cxn modelId="{B950F01E-35F0-4814-A9ED-2932B5609B95}" type="presOf" srcId="{1F78ED52-A4A3-4028-B8D6-59F5B757EBFE}" destId="{2DA30274-7B45-4002-9478-A67D86CF59B1}" srcOrd="0" destOrd="0" presId="urn:microsoft.com/office/officeart/2018/5/layout/CenteredIconLabelDescriptionList"/>
    <dgm:cxn modelId="{8CDA3F2E-3BFE-4F37-B177-3F31B4311720}" type="presOf" srcId="{8E053BC9-8B1A-44B1-ADC3-510ACBAF4CAF}" destId="{691393EA-338A-4359-9FBD-F6C54D5EEA6A}" srcOrd="0" destOrd="1" presId="urn:microsoft.com/office/officeart/2018/5/layout/CenteredIconLabelDescriptionList"/>
    <dgm:cxn modelId="{17EF183A-8514-46A3-9DD0-4B57D157FB2D}" type="presOf" srcId="{E037BD3B-0499-49CE-A9E5-5E68D5998C6F}" destId="{2DA30274-7B45-4002-9478-A67D86CF59B1}" srcOrd="0" destOrd="2" presId="urn:microsoft.com/office/officeart/2018/5/layout/CenteredIconLabelDescriptionList"/>
    <dgm:cxn modelId="{81D30B3D-1DF8-4F7E-8C7B-44690CC121BB}" type="presOf" srcId="{58B5D1A8-DDE6-45BC-8451-F03A9A338FC2}" destId="{78AC1385-9C0B-4947-8B3B-FC5C451A7FD4}" srcOrd="0" destOrd="3" presId="urn:microsoft.com/office/officeart/2018/5/layout/CenteredIconLabelDescriptionList"/>
    <dgm:cxn modelId="{87A7815C-AB38-49F0-A664-47AE98E6E5E6}" type="presOf" srcId="{DB726905-0AE2-4515-8EB1-AF9F4325DB9C}" destId="{78AC1385-9C0B-4947-8B3B-FC5C451A7FD4}" srcOrd="0" destOrd="1" presId="urn:microsoft.com/office/officeart/2018/5/layout/CenteredIconLabelDescriptionList"/>
    <dgm:cxn modelId="{64295A62-89AB-44F8-AD91-693D8BFBAE3B}" type="presOf" srcId="{FF57AD34-B19B-4CF9-A3B5-68F5FCB60ABB}" destId="{2DA30274-7B45-4002-9478-A67D86CF59B1}" srcOrd="0" destOrd="3" presId="urn:microsoft.com/office/officeart/2018/5/layout/CenteredIconLabelDescriptionList"/>
    <dgm:cxn modelId="{A627EF67-3489-4651-8194-B74D0D389A64}" srcId="{DEBB4CD8-5DBB-41AE-AF78-D6BB1F3E66DF}" destId="{E037BD3B-0499-49CE-A9E5-5E68D5998C6F}" srcOrd="2" destOrd="0" parTransId="{D2124B16-8594-4639-AA7C-4F94C0C83725}" sibTransId="{D61D8F93-C269-43C4-8420-00C8DBD83FA0}"/>
    <dgm:cxn modelId="{94358D69-6E94-4946-96C3-66B32BAB8FCF}" srcId="{CA1FF561-26F8-402B-A0E4-535F59E4F783}" destId="{DEBB4CD8-5DBB-41AE-AF78-D6BB1F3E66DF}" srcOrd="0" destOrd="0" parTransId="{535FBB05-880B-490A-ACAB-05A5A026D674}" sibTransId="{A6E4F3AA-1E23-4A1F-BC3D-7F26FB7DAE8D}"/>
    <dgm:cxn modelId="{6338A06A-DFEC-40D6-8978-158A54C0EAD7}" type="presOf" srcId="{6079F422-1C5A-4EA6-9ACB-D21C61FDC53F}" destId="{EEB8FB5B-E8FD-47F3-B05E-2A05C07B35ED}" srcOrd="0" destOrd="0" presId="urn:microsoft.com/office/officeart/2018/5/layout/CenteredIconLabelDescriptionList"/>
    <dgm:cxn modelId="{F9B0A86C-A9F3-4764-8F52-417282CDB3C5}" type="presOf" srcId="{DEBB4CD8-5DBB-41AE-AF78-D6BB1F3E66DF}" destId="{BEB3164C-9F6A-4376-B0BA-C34CEE8BFFE7}" srcOrd="0" destOrd="0" presId="urn:microsoft.com/office/officeart/2018/5/layout/CenteredIconLabelDescriptionList"/>
    <dgm:cxn modelId="{83E1B972-696C-4102-BC17-0105D4A4E4A3}" srcId="{07E30585-53DC-4156-AE5E-1582617AA97D}" destId="{82CD1DC1-EA0B-4416-98D8-FFEA0BF36840}" srcOrd="0" destOrd="0" parTransId="{B2090369-197C-4433-B186-EE0634454D1F}" sibTransId="{D28AD6DF-F22B-4D3B-B330-28954D75F9A5}"/>
    <dgm:cxn modelId="{569CCA53-EABB-444F-8091-78040D897BF8}" type="presOf" srcId="{359C2B62-60C6-497A-BC2D-DE2088C88FD4}" destId="{691393EA-338A-4359-9FBD-F6C54D5EEA6A}" srcOrd="0" destOrd="0" presId="urn:microsoft.com/office/officeart/2018/5/layout/CenteredIconLabelDescriptionList"/>
    <dgm:cxn modelId="{53A6FB53-196C-4278-89A4-3520E54923F0}" type="presOf" srcId="{CA1FF561-26F8-402B-A0E4-535F59E4F783}" destId="{87A7C85F-379A-4488-9F79-A70AADC14291}" srcOrd="0" destOrd="0" presId="urn:microsoft.com/office/officeart/2018/5/layout/CenteredIconLabelDescriptionList"/>
    <dgm:cxn modelId="{C7202B7F-E1EB-45BF-A30E-F5AB25DFE95B}" srcId="{6079F422-1C5A-4EA6-9ACB-D21C61FDC53F}" destId="{8E053BC9-8B1A-44B1-ADC3-510ACBAF4CAF}" srcOrd="1" destOrd="0" parTransId="{AE874F90-3D04-4E4D-94A2-80DF76C424DA}" sibTransId="{A0CD7004-7F04-483A-9567-AF078ECFB047}"/>
    <dgm:cxn modelId="{022F3C81-F5D9-47BD-95A1-1BE065374018}" type="presOf" srcId="{EB1FAED1-C13F-4BD9-9CB9-A2125AF90EF7}" destId="{2DA30274-7B45-4002-9478-A67D86CF59B1}" srcOrd="0" destOrd="1" presId="urn:microsoft.com/office/officeart/2018/5/layout/CenteredIconLabelDescriptionList"/>
    <dgm:cxn modelId="{28B54685-3BCB-43A9-B26B-9CD1328DF8AA}" srcId="{6079F422-1C5A-4EA6-9ACB-D21C61FDC53F}" destId="{359C2B62-60C6-497A-BC2D-DE2088C88FD4}" srcOrd="0" destOrd="0" parTransId="{9694C1C6-277D-49FE-BBF1-F72B4D5A6238}" sibTransId="{A349DE6C-2DC0-4038-976E-FD3DA649F42E}"/>
    <dgm:cxn modelId="{92CF8F86-B502-4C9D-ADA6-66CD0DCBE052}" srcId="{07E30585-53DC-4156-AE5E-1582617AA97D}" destId="{6DB83AA2-3195-45C6-BA9F-90A4E60958A3}" srcOrd="2" destOrd="0" parTransId="{2E9E7D4B-ED4F-43A7-A989-5CACDA412AF8}" sibTransId="{7FD3DD01-6B9F-4972-A7AC-E00D9B92313C}"/>
    <dgm:cxn modelId="{3BEDB5A6-16F8-43F7-BF4E-5B8449E38348}" srcId="{CA1FF561-26F8-402B-A0E4-535F59E4F783}" destId="{6079F422-1C5A-4EA6-9ACB-D21C61FDC53F}" srcOrd="2" destOrd="0" parTransId="{83EAADD8-701C-4DFD-9EAF-C391F8A7E9E2}" sibTransId="{66B15CD5-AE71-45E1-A371-6D2764ED647C}"/>
    <dgm:cxn modelId="{B63A58A8-D74D-4624-8220-67F8F298F7F9}" srcId="{DEBB4CD8-5DBB-41AE-AF78-D6BB1F3E66DF}" destId="{1F78ED52-A4A3-4028-B8D6-59F5B757EBFE}" srcOrd="0" destOrd="0" parTransId="{E1481349-F45E-4C60-B857-2E9D29E31F3F}" sibTransId="{A1F6EF95-7057-46F0-9421-92E45EE88DC0}"/>
    <dgm:cxn modelId="{17AD2FAA-3BF4-46BA-9EB8-57E41A632867}" srcId="{CA1FF561-26F8-402B-A0E4-535F59E4F783}" destId="{07E30585-53DC-4156-AE5E-1582617AA97D}" srcOrd="1" destOrd="0" parTransId="{8E68D148-F559-439C-8E4C-4A5CCE13C94D}" sibTransId="{FF51CC4C-0FE6-427A-A6D8-8835144A0B44}"/>
    <dgm:cxn modelId="{0E1B80AF-44FE-4E50-BFA2-14622223A452}" srcId="{DEBB4CD8-5DBB-41AE-AF78-D6BB1F3E66DF}" destId="{FF57AD34-B19B-4CF9-A3B5-68F5FCB60ABB}" srcOrd="3" destOrd="0" parTransId="{668D5AA0-201B-4F20-B1F8-F5EE0399730F}" sibTransId="{188E43C9-70F2-4057-856D-E654701FA936}"/>
    <dgm:cxn modelId="{9603B4B6-DB97-458C-A0F2-E3C576325964}" srcId="{DEBB4CD8-5DBB-41AE-AF78-D6BB1F3E66DF}" destId="{EB1FAED1-C13F-4BD9-9CB9-A2125AF90EF7}" srcOrd="1" destOrd="0" parTransId="{BCC75ED0-EF91-47A1-BEF3-C399C0EB48BD}" sibTransId="{6B29A557-3D83-4735-A745-3FB2BD0EA7D0}"/>
    <dgm:cxn modelId="{B69F24B9-6670-4B15-9BF5-AAE7E2986C05}" type="presOf" srcId="{07E30585-53DC-4156-AE5E-1582617AA97D}" destId="{3A484B07-9F34-42B7-9FFA-5AA56E4E5A1B}" srcOrd="0" destOrd="0" presId="urn:microsoft.com/office/officeart/2018/5/layout/CenteredIconLabelDescriptionList"/>
    <dgm:cxn modelId="{59C589BD-BF97-4E4C-B2A3-75E79C1C0FF7}" type="presOf" srcId="{82CD1DC1-EA0B-4416-98D8-FFEA0BF36840}" destId="{78AC1385-9C0B-4947-8B3B-FC5C451A7FD4}" srcOrd="0" destOrd="0" presId="urn:microsoft.com/office/officeart/2018/5/layout/CenteredIconLabelDescriptionList"/>
    <dgm:cxn modelId="{2E97E7D0-5D9F-4CE0-8954-74861050F41D}" srcId="{6079F422-1C5A-4EA6-9ACB-D21C61FDC53F}" destId="{4737032E-C408-45E1-9141-912CB150C9FD}" srcOrd="2" destOrd="0" parTransId="{4D41DE48-ADCA-4C3D-911C-D7C6174DE5D5}" sibTransId="{3D2C9F69-173A-4A26-B89F-70E480967725}"/>
    <dgm:cxn modelId="{FB8ACEDF-6864-43EB-AE64-64FF24B5D9E4}" type="presOf" srcId="{6DB83AA2-3195-45C6-BA9F-90A4E60958A3}" destId="{78AC1385-9C0B-4947-8B3B-FC5C451A7FD4}" srcOrd="0" destOrd="2" presId="urn:microsoft.com/office/officeart/2018/5/layout/CenteredIconLabelDescriptionList"/>
    <dgm:cxn modelId="{89AC71E3-D131-4478-A436-9CA36C03998A}" type="presParOf" srcId="{87A7C85F-379A-4488-9F79-A70AADC14291}" destId="{E3C8A221-4429-4BAC-AAEE-E2EF286B5D80}" srcOrd="0" destOrd="0" presId="urn:microsoft.com/office/officeart/2018/5/layout/CenteredIconLabelDescriptionList"/>
    <dgm:cxn modelId="{BEFA2E2B-A815-4B34-9D32-F8ED09652AFA}" type="presParOf" srcId="{E3C8A221-4429-4BAC-AAEE-E2EF286B5D80}" destId="{7F0ABA59-C60F-4E84-B344-E3FAC116FBA9}" srcOrd="0" destOrd="0" presId="urn:microsoft.com/office/officeart/2018/5/layout/CenteredIconLabelDescriptionList"/>
    <dgm:cxn modelId="{663ECAA2-E1C7-45FF-99F1-F67ECC5AA739}" type="presParOf" srcId="{E3C8A221-4429-4BAC-AAEE-E2EF286B5D80}" destId="{AF8CDA58-9CD4-4245-A29F-3E8075314C8E}" srcOrd="1" destOrd="0" presId="urn:microsoft.com/office/officeart/2018/5/layout/CenteredIconLabelDescriptionList"/>
    <dgm:cxn modelId="{026E7836-9ACE-4F47-8858-0FA54F92EDD0}" type="presParOf" srcId="{E3C8A221-4429-4BAC-AAEE-E2EF286B5D80}" destId="{BEB3164C-9F6A-4376-B0BA-C34CEE8BFFE7}" srcOrd="2" destOrd="0" presId="urn:microsoft.com/office/officeart/2018/5/layout/CenteredIconLabelDescriptionList"/>
    <dgm:cxn modelId="{5F5D0C85-937E-44C9-B6BC-73FD595E1260}" type="presParOf" srcId="{E3C8A221-4429-4BAC-AAEE-E2EF286B5D80}" destId="{D855D45C-257E-462D-AB72-4C57CBD0D219}" srcOrd="3" destOrd="0" presId="urn:microsoft.com/office/officeart/2018/5/layout/CenteredIconLabelDescriptionList"/>
    <dgm:cxn modelId="{DC24EC3B-2FFB-48F7-A2EB-964100C6BD41}" type="presParOf" srcId="{E3C8A221-4429-4BAC-AAEE-E2EF286B5D80}" destId="{2DA30274-7B45-4002-9478-A67D86CF59B1}" srcOrd="4" destOrd="0" presId="urn:microsoft.com/office/officeart/2018/5/layout/CenteredIconLabelDescriptionList"/>
    <dgm:cxn modelId="{DEE2244F-E58D-40FB-AAFE-DD64EB81298A}" type="presParOf" srcId="{87A7C85F-379A-4488-9F79-A70AADC14291}" destId="{90069F4D-F6F4-4E70-8EB9-DE2830BC55BB}" srcOrd="1" destOrd="0" presId="urn:microsoft.com/office/officeart/2018/5/layout/CenteredIconLabelDescriptionList"/>
    <dgm:cxn modelId="{158A6A70-4735-420B-AAD8-7384C7D16343}" type="presParOf" srcId="{87A7C85F-379A-4488-9F79-A70AADC14291}" destId="{61C8DF26-229E-4F0E-8FD4-1D8ADE394331}" srcOrd="2" destOrd="0" presId="urn:microsoft.com/office/officeart/2018/5/layout/CenteredIconLabelDescriptionList"/>
    <dgm:cxn modelId="{4C726B9F-B70A-4EE4-9E0B-497634F706BE}" type="presParOf" srcId="{61C8DF26-229E-4F0E-8FD4-1D8ADE394331}" destId="{EACF198F-12A0-41E9-A856-C86BA2C47522}" srcOrd="0" destOrd="0" presId="urn:microsoft.com/office/officeart/2018/5/layout/CenteredIconLabelDescriptionList"/>
    <dgm:cxn modelId="{696760BE-3BEA-4ADB-901A-5BAAA3AFA00E}" type="presParOf" srcId="{61C8DF26-229E-4F0E-8FD4-1D8ADE394331}" destId="{4282665A-CD84-4405-A6EE-6F926BAEAFC6}" srcOrd="1" destOrd="0" presId="urn:microsoft.com/office/officeart/2018/5/layout/CenteredIconLabelDescriptionList"/>
    <dgm:cxn modelId="{36C96507-3040-4631-83A2-A42B36A58569}" type="presParOf" srcId="{61C8DF26-229E-4F0E-8FD4-1D8ADE394331}" destId="{3A484B07-9F34-42B7-9FFA-5AA56E4E5A1B}" srcOrd="2" destOrd="0" presId="urn:microsoft.com/office/officeart/2018/5/layout/CenteredIconLabelDescriptionList"/>
    <dgm:cxn modelId="{5861AEA6-664A-4EB8-8334-F892C7F4FF2F}" type="presParOf" srcId="{61C8DF26-229E-4F0E-8FD4-1D8ADE394331}" destId="{475AD4A9-74A9-4DC7-BA77-51B2BFE57EC9}" srcOrd="3" destOrd="0" presId="urn:microsoft.com/office/officeart/2018/5/layout/CenteredIconLabelDescriptionList"/>
    <dgm:cxn modelId="{34ADC7A2-86EA-423C-8467-7C3496DB7077}" type="presParOf" srcId="{61C8DF26-229E-4F0E-8FD4-1D8ADE394331}" destId="{78AC1385-9C0B-4947-8B3B-FC5C451A7FD4}" srcOrd="4" destOrd="0" presId="urn:microsoft.com/office/officeart/2018/5/layout/CenteredIconLabelDescriptionList"/>
    <dgm:cxn modelId="{6603338F-3C43-4C90-86B5-03AE7B4BC609}" type="presParOf" srcId="{87A7C85F-379A-4488-9F79-A70AADC14291}" destId="{695F5658-96AD-4CEC-A1BB-0B3AB667D110}" srcOrd="3" destOrd="0" presId="urn:microsoft.com/office/officeart/2018/5/layout/CenteredIconLabelDescriptionList"/>
    <dgm:cxn modelId="{1E1DE866-79C3-490B-BDFC-068760D68BCD}" type="presParOf" srcId="{87A7C85F-379A-4488-9F79-A70AADC14291}" destId="{AD3C1669-B4E6-45A9-A888-F0A2B21087A1}" srcOrd="4" destOrd="0" presId="urn:microsoft.com/office/officeart/2018/5/layout/CenteredIconLabelDescriptionList"/>
    <dgm:cxn modelId="{79BA3D77-ACF4-4BE6-8D16-10FBB3A7FEB3}" type="presParOf" srcId="{AD3C1669-B4E6-45A9-A888-F0A2B21087A1}" destId="{2114F52C-903F-41C3-9960-76D80EB122B2}" srcOrd="0" destOrd="0" presId="urn:microsoft.com/office/officeart/2018/5/layout/CenteredIconLabelDescriptionList"/>
    <dgm:cxn modelId="{C05AC0BA-6D0C-4FCD-ABCF-8DC6B0600564}" type="presParOf" srcId="{AD3C1669-B4E6-45A9-A888-F0A2B21087A1}" destId="{C718DD89-EC20-4875-9501-F2C5B24E5ABD}" srcOrd="1" destOrd="0" presId="urn:microsoft.com/office/officeart/2018/5/layout/CenteredIconLabelDescriptionList"/>
    <dgm:cxn modelId="{0A623F8A-F2F6-4ABB-AF35-C9A4572936FA}" type="presParOf" srcId="{AD3C1669-B4E6-45A9-A888-F0A2B21087A1}" destId="{EEB8FB5B-E8FD-47F3-B05E-2A05C07B35ED}" srcOrd="2" destOrd="0" presId="urn:microsoft.com/office/officeart/2018/5/layout/CenteredIconLabelDescriptionList"/>
    <dgm:cxn modelId="{8EDE8FCE-A5B2-4462-A4F7-1D1BC974B2F7}" type="presParOf" srcId="{AD3C1669-B4E6-45A9-A888-F0A2B21087A1}" destId="{E7146FAB-7F17-4763-874D-456F9E71DBEC}" srcOrd="3" destOrd="0" presId="urn:microsoft.com/office/officeart/2018/5/layout/CenteredIconLabelDescriptionList"/>
    <dgm:cxn modelId="{E95F8470-828D-42AE-86AC-FD6F0ACF8BD7}" type="presParOf" srcId="{AD3C1669-B4E6-45A9-A888-F0A2B21087A1}" destId="{691393EA-338A-4359-9FBD-F6C54D5EEA6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B89BD-5F7E-D54E-B6BD-45CAB2925374}">
      <dsp:nvSpPr>
        <dsp:cNvPr id="0" name=""/>
        <dsp:cNvSpPr/>
      </dsp:nvSpPr>
      <dsp:spPr>
        <a:xfrm>
          <a:off x="2408675" y="1292636"/>
          <a:ext cx="523292" cy="91440"/>
        </a:xfrm>
        <a:custGeom>
          <a:avLst/>
          <a:gdLst/>
          <a:ahLst/>
          <a:cxnLst/>
          <a:rect l="0" t="0" r="0" b="0"/>
          <a:pathLst>
            <a:path>
              <a:moveTo>
                <a:pt x="0" y="45720"/>
              </a:moveTo>
              <a:lnTo>
                <a:pt x="523292" y="45720"/>
              </a:lnTo>
            </a:path>
          </a:pathLst>
        </a:custGeom>
        <a:noFill/>
        <a:ln w="12700" cap="flat" cmpd="sng" algn="ctr">
          <a:solidFill>
            <a:schemeClr val="accent1">
              <a:shade val="90000"/>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56474" y="1335586"/>
        <a:ext cx="27694" cy="5538"/>
      </dsp:txXfrm>
    </dsp:sp>
    <dsp:sp modelId="{4F724BED-5792-774C-854F-BF2D0AEBCF31}">
      <dsp:nvSpPr>
        <dsp:cNvPr id="0" name=""/>
        <dsp:cNvSpPr/>
      </dsp:nvSpPr>
      <dsp:spPr>
        <a:xfrm>
          <a:off x="2248" y="615888"/>
          <a:ext cx="2408226" cy="1444936"/>
        </a:xfrm>
        <a:prstGeom prst="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dirty="0"/>
            <a:t>The Need</a:t>
          </a:r>
        </a:p>
      </dsp:txBody>
      <dsp:txXfrm>
        <a:off x="2248" y="615888"/>
        <a:ext cx="2408226" cy="1444936"/>
      </dsp:txXfrm>
    </dsp:sp>
    <dsp:sp modelId="{CCC402F3-6288-8F4A-8D87-8B8026A7FC94}">
      <dsp:nvSpPr>
        <dsp:cNvPr id="0" name=""/>
        <dsp:cNvSpPr/>
      </dsp:nvSpPr>
      <dsp:spPr>
        <a:xfrm>
          <a:off x="5370794" y="1292636"/>
          <a:ext cx="523292" cy="91440"/>
        </a:xfrm>
        <a:custGeom>
          <a:avLst/>
          <a:gdLst/>
          <a:ahLst/>
          <a:cxnLst/>
          <a:rect l="0" t="0" r="0" b="0"/>
          <a:pathLst>
            <a:path>
              <a:moveTo>
                <a:pt x="0" y="45720"/>
              </a:moveTo>
              <a:lnTo>
                <a:pt x="523292" y="45720"/>
              </a:lnTo>
            </a:path>
          </a:pathLst>
        </a:custGeom>
        <a:noFill/>
        <a:ln w="12700" cap="flat" cmpd="sng" algn="ctr">
          <a:solidFill>
            <a:schemeClr val="accent1">
              <a:shade val="90000"/>
              <a:hueOff val="90907"/>
              <a:satOff val="-9361"/>
              <a:lumOff val="610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18593" y="1335586"/>
        <a:ext cx="27694" cy="5538"/>
      </dsp:txXfrm>
    </dsp:sp>
    <dsp:sp modelId="{6ABA997E-EE23-9C43-9B97-E3B5863445D6}">
      <dsp:nvSpPr>
        <dsp:cNvPr id="0" name=""/>
        <dsp:cNvSpPr/>
      </dsp:nvSpPr>
      <dsp:spPr>
        <a:xfrm>
          <a:off x="2964367" y="615888"/>
          <a:ext cx="2408226" cy="1444936"/>
        </a:xfrm>
        <a:prstGeom prst="rect">
          <a:avLst/>
        </a:prstGeom>
        <a:solidFill>
          <a:schemeClr val="accent1">
            <a:shade val="80000"/>
            <a:hueOff val="77943"/>
            <a:satOff val="-8127"/>
            <a:lumOff val="54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The Significance</a:t>
          </a:r>
        </a:p>
      </dsp:txBody>
      <dsp:txXfrm>
        <a:off x="2964367" y="615888"/>
        <a:ext cx="2408226" cy="1444936"/>
      </dsp:txXfrm>
    </dsp:sp>
    <dsp:sp modelId="{11127D9D-37E5-234B-8A18-AEE9E504A0DC}">
      <dsp:nvSpPr>
        <dsp:cNvPr id="0" name=""/>
        <dsp:cNvSpPr/>
      </dsp:nvSpPr>
      <dsp:spPr>
        <a:xfrm>
          <a:off x="8332913" y="1292636"/>
          <a:ext cx="523292" cy="91440"/>
        </a:xfrm>
        <a:custGeom>
          <a:avLst/>
          <a:gdLst/>
          <a:ahLst/>
          <a:cxnLst/>
          <a:rect l="0" t="0" r="0" b="0"/>
          <a:pathLst>
            <a:path>
              <a:moveTo>
                <a:pt x="0" y="45720"/>
              </a:moveTo>
              <a:lnTo>
                <a:pt x="523292" y="45720"/>
              </a:lnTo>
            </a:path>
          </a:pathLst>
        </a:custGeom>
        <a:noFill/>
        <a:ln w="12700" cap="flat" cmpd="sng" algn="ctr">
          <a:solidFill>
            <a:schemeClr val="accent1">
              <a:shade val="90000"/>
              <a:hueOff val="181813"/>
              <a:satOff val="-18723"/>
              <a:lumOff val="1220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80712" y="1335586"/>
        <a:ext cx="27694" cy="5538"/>
      </dsp:txXfrm>
    </dsp:sp>
    <dsp:sp modelId="{DB3B270D-21BF-A84B-BB24-79D365262E36}">
      <dsp:nvSpPr>
        <dsp:cNvPr id="0" name=""/>
        <dsp:cNvSpPr/>
      </dsp:nvSpPr>
      <dsp:spPr>
        <a:xfrm>
          <a:off x="5926486" y="615888"/>
          <a:ext cx="2408226" cy="1444936"/>
        </a:xfrm>
        <a:prstGeom prst="rect">
          <a:avLst/>
        </a:prstGeom>
        <a:solidFill>
          <a:schemeClr val="accent1">
            <a:shade val="80000"/>
            <a:hueOff val="155885"/>
            <a:satOff val="-16255"/>
            <a:lumOff val="1092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Our Solution</a:t>
          </a:r>
        </a:p>
      </dsp:txBody>
      <dsp:txXfrm>
        <a:off x="5926486" y="615888"/>
        <a:ext cx="2408226" cy="1444936"/>
      </dsp:txXfrm>
    </dsp:sp>
    <dsp:sp modelId="{F553E22F-0F8C-6E4D-A9CA-527B7FE9B65F}">
      <dsp:nvSpPr>
        <dsp:cNvPr id="0" name=""/>
        <dsp:cNvSpPr/>
      </dsp:nvSpPr>
      <dsp:spPr>
        <a:xfrm>
          <a:off x="1206361" y="2059024"/>
          <a:ext cx="8886357" cy="523292"/>
        </a:xfrm>
        <a:custGeom>
          <a:avLst/>
          <a:gdLst/>
          <a:ahLst/>
          <a:cxnLst/>
          <a:rect l="0" t="0" r="0" b="0"/>
          <a:pathLst>
            <a:path>
              <a:moveTo>
                <a:pt x="8886357" y="0"/>
              </a:moveTo>
              <a:lnTo>
                <a:pt x="8886357" y="278746"/>
              </a:lnTo>
              <a:lnTo>
                <a:pt x="0" y="278746"/>
              </a:lnTo>
              <a:lnTo>
                <a:pt x="0" y="523292"/>
              </a:lnTo>
            </a:path>
          </a:pathLst>
        </a:custGeom>
        <a:noFill/>
        <a:ln w="12700" cap="flat" cmpd="sng" algn="ctr">
          <a:solidFill>
            <a:schemeClr val="accent1">
              <a:shade val="90000"/>
              <a:hueOff val="272720"/>
              <a:satOff val="-28084"/>
              <a:lumOff val="183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26950" y="2317901"/>
        <a:ext cx="445180" cy="5538"/>
      </dsp:txXfrm>
    </dsp:sp>
    <dsp:sp modelId="{710ED0B8-632D-1F4E-A642-DD7603A4D568}">
      <dsp:nvSpPr>
        <dsp:cNvPr id="0" name=""/>
        <dsp:cNvSpPr/>
      </dsp:nvSpPr>
      <dsp:spPr>
        <a:xfrm>
          <a:off x="8888605" y="615888"/>
          <a:ext cx="2408226" cy="1444936"/>
        </a:xfrm>
        <a:prstGeom prst="rect">
          <a:avLst/>
        </a:prstGeom>
        <a:solidFill>
          <a:schemeClr val="accent1">
            <a:shade val="80000"/>
            <a:hueOff val="233828"/>
            <a:satOff val="-24382"/>
            <a:lumOff val="163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Product Specifications Summary</a:t>
          </a:r>
        </a:p>
      </dsp:txBody>
      <dsp:txXfrm>
        <a:off x="8888605" y="615888"/>
        <a:ext cx="2408226" cy="1444936"/>
      </dsp:txXfrm>
    </dsp:sp>
    <dsp:sp modelId="{715F22D3-B96B-D14E-A88C-F7A71A9E17DE}">
      <dsp:nvSpPr>
        <dsp:cNvPr id="0" name=""/>
        <dsp:cNvSpPr/>
      </dsp:nvSpPr>
      <dsp:spPr>
        <a:xfrm>
          <a:off x="2408675" y="3291464"/>
          <a:ext cx="523292" cy="91440"/>
        </a:xfrm>
        <a:custGeom>
          <a:avLst/>
          <a:gdLst/>
          <a:ahLst/>
          <a:cxnLst/>
          <a:rect l="0" t="0" r="0" b="0"/>
          <a:pathLst>
            <a:path>
              <a:moveTo>
                <a:pt x="0" y="45720"/>
              </a:moveTo>
              <a:lnTo>
                <a:pt x="523292" y="45720"/>
              </a:lnTo>
            </a:path>
          </a:pathLst>
        </a:custGeom>
        <a:noFill/>
        <a:ln w="12700" cap="flat" cmpd="sng" algn="ctr">
          <a:solidFill>
            <a:schemeClr val="accent1">
              <a:shade val="90000"/>
              <a:hueOff val="363626"/>
              <a:satOff val="-37445"/>
              <a:lumOff val="2440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56474" y="3334415"/>
        <a:ext cx="27694" cy="5538"/>
      </dsp:txXfrm>
    </dsp:sp>
    <dsp:sp modelId="{DE4E3E0C-B258-8541-9813-2EF398CA154B}">
      <dsp:nvSpPr>
        <dsp:cNvPr id="0" name=""/>
        <dsp:cNvSpPr/>
      </dsp:nvSpPr>
      <dsp:spPr>
        <a:xfrm>
          <a:off x="2248" y="2614716"/>
          <a:ext cx="2408226" cy="1444936"/>
        </a:xfrm>
        <a:prstGeom prst="rect">
          <a:avLst/>
        </a:prstGeom>
        <a:solidFill>
          <a:schemeClr val="accent1">
            <a:shade val="80000"/>
            <a:hueOff val="311771"/>
            <a:satOff val="-32510"/>
            <a:lumOff val="218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Market Analysis Summary and Proposed Business Model</a:t>
          </a:r>
        </a:p>
      </dsp:txBody>
      <dsp:txXfrm>
        <a:off x="2248" y="2614716"/>
        <a:ext cx="2408226" cy="1444936"/>
      </dsp:txXfrm>
    </dsp:sp>
    <dsp:sp modelId="{370CBD72-4FDE-FC44-9261-5937AC6C879F}">
      <dsp:nvSpPr>
        <dsp:cNvPr id="0" name=""/>
        <dsp:cNvSpPr/>
      </dsp:nvSpPr>
      <dsp:spPr>
        <a:xfrm>
          <a:off x="5370794" y="3291464"/>
          <a:ext cx="523292" cy="91440"/>
        </a:xfrm>
        <a:custGeom>
          <a:avLst/>
          <a:gdLst/>
          <a:ahLst/>
          <a:cxnLst/>
          <a:rect l="0" t="0" r="0" b="0"/>
          <a:pathLst>
            <a:path>
              <a:moveTo>
                <a:pt x="0" y="45720"/>
              </a:moveTo>
              <a:lnTo>
                <a:pt x="523292" y="45720"/>
              </a:lnTo>
            </a:path>
          </a:pathLst>
        </a:custGeom>
        <a:noFill/>
        <a:ln w="12700" cap="flat" cmpd="sng" algn="ctr">
          <a:solidFill>
            <a:schemeClr val="accent1">
              <a:shade val="90000"/>
              <a:hueOff val="454533"/>
              <a:satOff val="-46807"/>
              <a:lumOff val="305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18593" y="3334415"/>
        <a:ext cx="27694" cy="5538"/>
      </dsp:txXfrm>
    </dsp:sp>
    <dsp:sp modelId="{B806A4A2-2E81-F749-A0E4-D0A595B6DBEF}">
      <dsp:nvSpPr>
        <dsp:cNvPr id="0" name=""/>
        <dsp:cNvSpPr/>
      </dsp:nvSpPr>
      <dsp:spPr>
        <a:xfrm>
          <a:off x="2964367" y="2614716"/>
          <a:ext cx="2408226" cy="1444936"/>
        </a:xfrm>
        <a:prstGeom prst="rect">
          <a:avLst/>
        </a:prstGeom>
        <a:solidFill>
          <a:schemeClr val="accent1">
            <a:shade val="80000"/>
            <a:hueOff val="389713"/>
            <a:satOff val="-40637"/>
            <a:lumOff val="2730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Proposed Regulatory and Reimbursement Strategy</a:t>
          </a:r>
        </a:p>
      </dsp:txBody>
      <dsp:txXfrm>
        <a:off x="2964367" y="2614716"/>
        <a:ext cx="2408226" cy="1444936"/>
      </dsp:txXfrm>
    </dsp:sp>
    <dsp:sp modelId="{228253BF-5AFF-F441-AD61-D0E762121194}">
      <dsp:nvSpPr>
        <dsp:cNvPr id="0" name=""/>
        <dsp:cNvSpPr/>
      </dsp:nvSpPr>
      <dsp:spPr>
        <a:xfrm>
          <a:off x="8332913" y="3291464"/>
          <a:ext cx="523292" cy="91440"/>
        </a:xfrm>
        <a:custGeom>
          <a:avLst/>
          <a:gdLst/>
          <a:ahLst/>
          <a:cxnLst/>
          <a:rect l="0" t="0" r="0" b="0"/>
          <a:pathLst>
            <a:path>
              <a:moveTo>
                <a:pt x="0" y="45720"/>
              </a:moveTo>
              <a:lnTo>
                <a:pt x="523292" y="45720"/>
              </a:lnTo>
            </a:path>
          </a:pathLst>
        </a:custGeom>
        <a:noFill/>
        <a:ln w="12700" cap="flat" cmpd="sng" algn="ctr">
          <a:solidFill>
            <a:schemeClr val="accent1">
              <a:shade val="90000"/>
              <a:hueOff val="545439"/>
              <a:satOff val="-56168"/>
              <a:lumOff val="3661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80712" y="3334415"/>
        <a:ext cx="27694" cy="5538"/>
      </dsp:txXfrm>
    </dsp:sp>
    <dsp:sp modelId="{75D4F90C-1058-2B45-B136-5C2446CF8EB9}">
      <dsp:nvSpPr>
        <dsp:cNvPr id="0" name=""/>
        <dsp:cNvSpPr/>
      </dsp:nvSpPr>
      <dsp:spPr>
        <a:xfrm>
          <a:off x="5926486" y="2614716"/>
          <a:ext cx="2408226" cy="1444936"/>
        </a:xfrm>
        <a:prstGeom prst="rect">
          <a:avLst/>
        </a:prstGeom>
        <a:solidFill>
          <a:schemeClr val="accent1">
            <a:shade val="80000"/>
            <a:hueOff val="467656"/>
            <a:satOff val="-48765"/>
            <a:lumOff val="327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Future R&amp;D Directions</a:t>
          </a:r>
        </a:p>
      </dsp:txBody>
      <dsp:txXfrm>
        <a:off x="5926486" y="2614716"/>
        <a:ext cx="2408226" cy="1444936"/>
      </dsp:txXfrm>
    </dsp:sp>
    <dsp:sp modelId="{DF5C7403-352E-6446-8E48-990E2A5483CC}">
      <dsp:nvSpPr>
        <dsp:cNvPr id="0" name=""/>
        <dsp:cNvSpPr/>
      </dsp:nvSpPr>
      <dsp:spPr>
        <a:xfrm>
          <a:off x="8888605" y="2614716"/>
          <a:ext cx="2408226" cy="1444936"/>
        </a:xfrm>
        <a:prstGeom prst="rect">
          <a:avLst/>
        </a:prstGeom>
        <a:solidFill>
          <a:schemeClr val="accent1">
            <a:shade val="80000"/>
            <a:hueOff val="545598"/>
            <a:satOff val="-56892"/>
            <a:lumOff val="382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05" tIns="123867" rIns="118005" bIns="123867" numCol="1" spcCol="1270" anchor="ctr" anchorCtr="0">
          <a:noAutofit/>
        </a:bodyPr>
        <a:lstStyle/>
        <a:p>
          <a:pPr marL="0" lvl="0" indent="0" algn="ctr" defTabSz="933450">
            <a:lnSpc>
              <a:spcPct val="90000"/>
            </a:lnSpc>
            <a:spcBef>
              <a:spcPct val="0"/>
            </a:spcBef>
            <a:spcAft>
              <a:spcPct val="35000"/>
            </a:spcAft>
            <a:buNone/>
          </a:pPr>
          <a:r>
            <a:rPr lang="en-US" sz="2100" b="1" kern="1200"/>
            <a:t>Conclusion</a:t>
          </a:r>
        </a:p>
      </dsp:txBody>
      <dsp:txXfrm>
        <a:off x="8888605" y="2614716"/>
        <a:ext cx="2408226" cy="14449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2664C-3CDA-496F-BC6B-501BE80BCE0A}">
      <dsp:nvSpPr>
        <dsp:cNvPr id="0" name=""/>
        <dsp:cNvSpPr/>
      </dsp:nvSpPr>
      <dsp:spPr>
        <a:xfrm>
          <a:off x="3647624" y="99222"/>
          <a:ext cx="1097489" cy="10974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838ED9-79A8-47A2-91D3-EB3B0093D79C}">
      <dsp:nvSpPr>
        <dsp:cNvPr id="0" name=""/>
        <dsp:cNvSpPr/>
      </dsp:nvSpPr>
      <dsp:spPr>
        <a:xfrm>
          <a:off x="5527" y="1375286"/>
          <a:ext cx="3135684" cy="470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PRIMARY STAKEHOLDERS</a:t>
          </a:r>
          <a:endParaRPr lang="en-US" sz="1800" kern="1200"/>
        </a:p>
      </dsp:txBody>
      <dsp:txXfrm>
        <a:off x="5527" y="1375286"/>
        <a:ext cx="3135684" cy="470352"/>
      </dsp:txXfrm>
    </dsp:sp>
    <dsp:sp modelId="{AADA8C64-37CC-449F-BE4F-B6008A6D3207}">
      <dsp:nvSpPr>
        <dsp:cNvPr id="0" name=""/>
        <dsp:cNvSpPr/>
      </dsp:nvSpPr>
      <dsp:spPr>
        <a:xfrm>
          <a:off x="5527" y="1928697"/>
          <a:ext cx="3135684" cy="2323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b="1" kern="1200"/>
            <a:t>Spine surgeons</a:t>
          </a:r>
          <a:r>
            <a:rPr lang="en-US" sz="1400" kern="1200"/>
            <a:t> who directly use the retractor system and rely on real-time pressure feedback</a:t>
          </a:r>
        </a:p>
        <a:p>
          <a:pPr marL="0" lvl="0" indent="0" algn="l" defTabSz="622300">
            <a:lnSpc>
              <a:spcPct val="100000"/>
            </a:lnSpc>
            <a:spcBef>
              <a:spcPct val="0"/>
            </a:spcBef>
            <a:spcAft>
              <a:spcPct val="35000"/>
            </a:spcAft>
            <a:buNone/>
          </a:pPr>
          <a:r>
            <a:rPr lang="en-US" sz="1400" b="1" kern="1200"/>
            <a:t>Patients undergoing ACDF/ACDR</a:t>
          </a:r>
          <a:r>
            <a:rPr lang="en-US" sz="1400" kern="1200"/>
            <a:t>, whose outcomes depend on reduced tissue injury</a:t>
          </a:r>
        </a:p>
        <a:p>
          <a:pPr marL="0" lvl="0" indent="0" algn="l" defTabSz="622300">
            <a:lnSpc>
              <a:spcPct val="100000"/>
            </a:lnSpc>
            <a:spcBef>
              <a:spcPct val="0"/>
            </a:spcBef>
            <a:spcAft>
              <a:spcPct val="35000"/>
            </a:spcAft>
            <a:buNone/>
          </a:pPr>
          <a:r>
            <a:rPr lang="en-US" sz="1400" b="1" kern="1200"/>
            <a:t>Operating room staff</a:t>
          </a:r>
          <a:r>
            <a:rPr lang="en-US" sz="1400" kern="1200"/>
            <a:t> who manage device setup, sterilization, and workflow</a:t>
          </a:r>
          <a:br>
            <a:rPr lang="en-US" sz="1400" kern="1200"/>
          </a:br>
          <a:endParaRPr lang="en-US" sz="1400" kern="1200"/>
        </a:p>
      </dsp:txBody>
      <dsp:txXfrm>
        <a:off x="5527" y="1928697"/>
        <a:ext cx="3135684" cy="2323418"/>
      </dsp:txXfrm>
    </dsp:sp>
    <dsp:sp modelId="{FB529FFA-8A24-491B-B9C2-C6115427AC5D}">
      <dsp:nvSpPr>
        <dsp:cNvPr id="0" name=""/>
        <dsp:cNvSpPr/>
      </dsp:nvSpPr>
      <dsp:spPr>
        <a:xfrm>
          <a:off x="0" y="99222"/>
          <a:ext cx="1097489" cy="10974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E8752C-6833-49E2-B5DE-D7150695982F}">
      <dsp:nvSpPr>
        <dsp:cNvPr id="0" name=""/>
        <dsp:cNvSpPr/>
      </dsp:nvSpPr>
      <dsp:spPr>
        <a:xfrm>
          <a:off x="3689957" y="1375286"/>
          <a:ext cx="3135684" cy="470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SECONDARY STAKEHOLDERS</a:t>
          </a:r>
          <a:endParaRPr lang="en-US" sz="1800" kern="1200"/>
        </a:p>
      </dsp:txBody>
      <dsp:txXfrm>
        <a:off x="3689957" y="1375286"/>
        <a:ext cx="3135684" cy="470352"/>
      </dsp:txXfrm>
    </dsp:sp>
    <dsp:sp modelId="{3382A4D1-2B78-48D0-BCC9-AC9E4C44A18B}">
      <dsp:nvSpPr>
        <dsp:cNvPr id="0" name=""/>
        <dsp:cNvSpPr/>
      </dsp:nvSpPr>
      <dsp:spPr>
        <a:xfrm>
          <a:off x="3689957" y="1928697"/>
          <a:ext cx="3135684" cy="2323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b="1" kern="1200"/>
            <a:t>Hospitals and surgical centers</a:t>
          </a:r>
          <a:r>
            <a:rPr lang="en-US" sz="1400" kern="1200"/>
            <a:t> evaluating cost, integration, and clinical benefit</a:t>
          </a:r>
        </a:p>
        <a:p>
          <a:pPr marL="0" lvl="0" indent="0" algn="l" defTabSz="622300">
            <a:lnSpc>
              <a:spcPct val="100000"/>
            </a:lnSpc>
            <a:spcBef>
              <a:spcPct val="0"/>
            </a:spcBef>
            <a:spcAft>
              <a:spcPct val="35000"/>
            </a:spcAft>
            <a:buNone/>
          </a:pPr>
          <a:r>
            <a:rPr lang="en-US" sz="1400" b="1" kern="1200"/>
            <a:t>Payers</a:t>
          </a:r>
          <a:r>
            <a:rPr lang="en-US" sz="1400" kern="1200"/>
            <a:t> (Medicare, private insurers) influenced by complication rates and reimbursement pathways</a:t>
          </a:r>
        </a:p>
        <a:p>
          <a:pPr marL="0" lvl="0" indent="0" algn="l" defTabSz="622300">
            <a:lnSpc>
              <a:spcPct val="100000"/>
            </a:lnSpc>
            <a:spcBef>
              <a:spcPct val="0"/>
            </a:spcBef>
            <a:spcAft>
              <a:spcPct val="35000"/>
            </a:spcAft>
            <a:buNone/>
          </a:pPr>
          <a:r>
            <a:rPr lang="en-US" sz="1400" b="1" kern="1200"/>
            <a:t>Industry partners </a:t>
          </a:r>
          <a:r>
            <a:rPr lang="en-US" sz="1400" kern="1200"/>
            <a:t>(Medtronic R&amp;D) guiding design constraints, compatibility, and feasibility</a:t>
          </a:r>
          <a:br>
            <a:rPr lang="en-US" sz="1400" kern="1200"/>
          </a:br>
          <a:endParaRPr lang="en-US" sz="1400" kern="1200"/>
        </a:p>
      </dsp:txBody>
      <dsp:txXfrm>
        <a:off x="3689957" y="1928697"/>
        <a:ext cx="3135684" cy="2323418"/>
      </dsp:txXfrm>
    </dsp:sp>
    <dsp:sp modelId="{590D0217-05A9-4488-B875-EE0A813E0568}">
      <dsp:nvSpPr>
        <dsp:cNvPr id="0" name=""/>
        <dsp:cNvSpPr/>
      </dsp:nvSpPr>
      <dsp:spPr>
        <a:xfrm>
          <a:off x="7374387" y="99222"/>
          <a:ext cx="1097489" cy="10974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9052D0-BF2B-4E02-9306-577DB1E14C90}">
      <dsp:nvSpPr>
        <dsp:cNvPr id="0" name=""/>
        <dsp:cNvSpPr/>
      </dsp:nvSpPr>
      <dsp:spPr>
        <a:xfrm>
          <a:off x="7374387" y="1375286"/>
          <a:ext cx="3135684" cy="470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TERTIARY STAKEHOLDERS</a:t>
          </a:r>
          <a:endParaRPr lang="en-US" sz="1800" kern="1200"/>
        </a:p>
      </dsp:txBody>
      <dsp:txXfrm>
        <a:off x="7374387" y="1375286"/>
        <a:ext cx="3135684" cy="470352"/>
      </dsp:txXfrm>
    </dsp:sp>
    <dsp:sp modelId="{CD9F5677-59B8-437C-803C-01ACA754CAD3}">
      <dsp:nvSpPr>
        <dsp:cNvPr id="0" name=""/>
        <dsp:cNvSpPr/>
      </dsp:nvSpPr>
      <dsp:spPr>
        <a:xfrm>
          <a:off x="7374387" y="1928697"/>
          <a:ext cx="3135684" cy="2323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b="1" kern="1200"/>
            <a:t>Regulatory bodies</a:t>
          </a:r>
          <a:r>
            <a:rPr lang="en-US" sz="1400" kern="1200"/>
            <a:t> (FDA, ISO standards committees) overseeing safety, compliance, and approval</a:t>
          </a:r>
        </a:p>
        <a:p>
          <a:pPr marL="0" lvl="0" indent="0" algn="l" defTabSz="622300">
            <a:lnSpc>
              <a:spcPct val="100000"/>
            </a:lnSpc>
            <a:spcBef>
              <a:spcPct val="0"/>
            </a:spcBef>
            <a:spcAft>
              <a:spcPct val="35000"/>
            </a:spcAft>
            <a:buNone/>
          </a:pPr>
          <a:r>
            <a:rPr lang="en-US" sz="1400" b="1" kern="1200"/>
            <a:t>Device distributors and supply chain teams</a:t>
          </a:r>
          <a:r>
            <a:rPr lang="en-US" sz="1400" kern="1200"/>
            <a:t> supporting deployment and adoption</a:t>
          </a:r>
        </a:p>
        <a:p>
          <a:pPr marL="0" lvl="0" indent="0" algn="l" defTabSz="622300">
            <a:lnSpc>
              <a:spcPct val="100000"/>
            </a:lnSpc>
            <a:spcBef>
              <a:spcPct val="0"/>
            </a:spcBef>
            <a:spcAft>
              <a:spcPct val="35000"/>
            </a:spcAft>
            <a:buNone/>
          </a:pPr>
          <a:r>
            <a:rPr lang="en-US" sz="1400" b="1" kern="1200"/>
            <a:t>Surgical training programs</a:t>
          </a:r>
          <a:r>
            <a:rPr lang="en-US" sz="1400" kern="1200"/>
            <a:t> that may incorporate the technology into education</a:t>
          </a:r>
        </a:p>
      </dsp:txBody>
      <dsp:txXfrm>
        <a:off x="7374387" y="1928697"/>
        <a:ext cx="3135684" cy="23234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0ABA59-C60F-4E84-B344-E3FAC116FBA9}">
      <dsp:nvSpPr>
        <dsp:cNvPr id="0" name=""/>
        <dsp:cNvSpPr/>
      </dsp:nvSpPr>
      <dsp:spPr>
        <a:xfrm>
          <a:off x="1024625" y="35170"/>
          <a:ext cx="1097489" cy="10593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B3164C-9F6A-4376-B0BA-C34CEE8BFFE7}">
      <dsp:nvSpPr>
        <dsp:cNvPr id="0" name=""/>
        <dsp:cNvSpPr/>
      </dsp:nvSpPr>
      <dsp:spPr>
        <a:xfrm>
          <a:off x="5527" y="1174932"/>
          <a:ext cx="3135684" cy="453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kern="1200"/>
            <a:t>Near-term</a:t>
          </a:r>
        </a:p>
      </dsp:txBody>
      <dsp:txXfrm>
        <a:off x="5527" y="1174932"/>
        <a:ext cx="3135684" cy="453989"/>
      </dsp:txXfrm>
    </dsp:sp>
    <dsp:sp modelId="{2DA30274-7B45-4002-9478-A67D86CF59B1}">
      <dsp:nvSpPr>
        <dsp:cNvPr id="0" name=""/>
        <dsp:cNvSpPr/>
      </dsp:nvSpPr>
      <dsp:spPr>
        <a:xfrm>
          <a:off x="5527" y="1712912"/>
          <a:ext cx="3135684" cy="2422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Integrate sensors into the ACDF retractor hardware</a:t>
          </a:r>
        </a:p>
        <a:p>
          <a:pPr marL="0" lvl="0" indent="0" algn="ctr" defTabSz="755650">
            <a:lnSpc>
              <a:spcPct val="100000"/>
            </a:lnSpc>
            <a:spcBef>
              <a:spcPct val="0"/>
            </a:spcBef>
            <a:spcAft>
              <a:spcPct val="35000"/>
            </a:spcAft>
            <a:buNone/>
          </a:pPr>
          <a:r>
            <a:rPr lang="en-US" sz="1700" kern="1200"/>
            <a:t>Iterate design around real blade geometry and attachment points</a:t>
          </a:r>
        </a:p>
        <a:p>
          <a:pPr marL="0" lvl="0" indent="0" algn="ctr" defTabSz="755650">
            <a:lnSpc>
              <a:spcPct val="100000"/>
            </a:lnSpc>
            <a:spcBef>
              <a:spcPct val="0"/>
            </a:spcBef>
            <a:spcAft>
              <a:spcPct val="35000"/>
            </a:spcAft>
            <a:buNone/>
          </a:pPr>
          <a:r>
            <a:rPr lang="en-US" sz="1700" kern="1200"/>
            <a:t>Evaluate sterilization and material compatibility </a:t>
          </a:r>
        </a:p>
        <a:p>
          <a:pPr marL="0" lvl="0" indent="0" algn="ctr" defTabSz="755650">
            <a:lnSpc>
              <a:spcPct val="100000"/>
            </a:lnSpc>
            <a:spcBef>
              <a:spcPct val="0"/>
            </a:spcBef>
            <a:spcAft>
              <a:spcPct val="35000"/>
            </a:spcAft>
            <a:buNone/>
          </a:pPr>
          <a:r>
            <a:rPr lang="en-US" sz="1700" kern="1200"/>
            <a:t>Perform benchtop testing</a:t>
          </a:r>
        </a:p>
      </dsp:txBody>
      <dsp:txXfrm>
        <a:off x="5527" y="1712912"/>
        <a:ext cx="3135684" cy="2422062"/>
      </dsp:txXfrm>
    </dsp:sp>
    <dsp:sp modelId="{EACF198F-12A0-41E9-A856-C86BA2C47522}">
      <dsp:nvSpPr>
        <dsp:cNvPr id="0" name=""/>
        <dsp:cNvSpPr/>
      </dsp:nvSpPr>
      <dsp:spPr>
        <a:xfrm>
          <a:off x="4709055" y="35170"/>
          <a:ext cx="1097489" cy="10593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484B07-9F34-42B7-9FFA-5AA56E4E5A1B}">
      <dsp:nvSpPr>
        <dsp:cNvPr id="0" name=""/>
        <dsp:cNvSpPr/>
      </dsp:nvSpPr>
      <dsp:spPr>
        <a:xfrm>
          <a:off x="3689957" y="1174932"/>
          <a:ext cx="3135684" cy="453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kern="1200"/>
            <a:t>Mid-term</a:t>
          </a:r>
        </a:p>
      </dsp:txBody>
      <dsp:txXfrm>
        <a:off x="3689957" y="1174932"/>
        <a:ext cx="3135684" cy="453989"/>
      </dsp:txXfrm>
    </dsp:sp>
    <dsp:sp modelId="{78AC1385-9C0B-4947-8B3B-FC5C451A7FD4}">
      <dsp:nvSpPr>
        <dsp:cNvPr id="0" name=""/>
        <dsp:cNvSpPr/>
      </dsp:nvSpPr>
      <dsp:spPr>
        <a:xfrm>
          <a:off x="3689957" y="1712912"/>
          <a:ext cx="3135684" cy="2422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Calibrate sensors under realistic tissue loads (cadaveric or phantom models)</a:t>
          </a:r>
        </a:p>
        <a:p>
          <a:pPr marL="0" lvl="0" indent="0" algn="ctr" defTabSz="755650">
            <a:lnSpc>
              <a:spcPct val="100000"/>
            </a:lnSpc>
            <a:spcBef>
              <a:spcPct val="0"/>
            </a:spcBef>
            <a:spcAft>
              <a:spcPct val="35000"/>
            </a:spcAft>
            <a:buNone/>
          </a:pPr>
          <a:r>
            <a:rPr lang="en-US" sz="1700" kern="1200"/>
            <a:t>Test multi-sensor arrays for distributed pressure mapping </a:t>
          </a:r>
        </a:p>
        <a:p>
          <a:pPr marL="0" lvl="0" indent="0" algn="ctr" defTabSz="755650">
            <a:lnSpc>
              <a:spcPct val="100000"/>
            </a:lnSpc>
            <a:spcBef>
              <a:spcPct val="0"/>
            </a:spcBef>
            <a:spcAft>
              <a:spcPct val="35000"/>
            </a:spcAft>
            <a:buNone/>
          </a:pPr>
          <a:r>
            <a:rPr lang="en-US" sz="1700" kern="1200"/>
            <a:t>Develop a surgeon-facing interface with live feedback</a:t>
          </a:r>
        </a:p>
        <a:p>
          <a:pPr marL="0" lvl="0" indent="0" algn="ctr" defTabSz="755650">
            <a:lnSpc>
              <a:spcPct val="100000"/>
            </a:lnSpc>
            <a:spcBef>
              <a:spcPct val="0"/>
            </a:spcBef>
            <a:spcAft>
              <a:spcPct val="35000"/>
            </a:spcAft>
            <a:buNone/>
          </a:pPr>
          <a:r>
            <a:rPr lang="en-US" sz="1700" kern="1200"/>
            <a:t>Refine system usability for integration</a:t>
          </a:r>
        </a:p>
      </dsp:txBody>
      <dsp:txXfrm>
        <a:off x="3689957" y="1712912"/>
        <a:ext cx="3135684" cy="2422062"/>
      </dsp:txXfrm>
    </dsp:sp>
    <dsp:sp modelId="{2114F52C-903F-41C3-9960-76D80EB122B2}">
      <dsp:nvSpPr>
        <dsp:cNvPr id="0" name=""/>
        <dsp:cNvSpPr/>
      </dsp:nvSpPr>
      <dsp:spPr>
        <a:xfrm>
          <a:off x="8393484" y="35170"/>
          <a:ext cx="1097489" cy="10593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B8FB5B-E8FD-47F3-B05E-2A05C07B35ED}">
      <dsp:nvSpPr>
        <dsp:cNvPr id="0" name=""/>
        <dsp:cNvSpPr/>
      </dsp:nvSpPr>
      <dsp:spPr>
        <a:xfrm>
          <a:off x="7374387" y="1174932"/>
          <a:ext cx="3135684" cy="453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kern="1200"/>
            <a:t>Long-term</a:t>
          </a:r>
        </a:p>
      </dsp:txBody>
      <dsp:txXfrm>
        <a:off x="7374387" y="1174932"/>
        <a:ext cx="3135684" cy="453989"/>
      </dsp:txXfrm>
    </dsp:sp>
    <dsp:sp modelId="{691393EA-338A-4359-9FBD-F6C54D5EEA6A}">
      <dsp:nvSpPr>
        <dsp:cNvPr id="0" name=""/>
        <dsp:cNvSpPr/>
      </dsp:nvSpPr>
      <dsp:spPr>
        <a:xfrm>
          <a:off x="7374387" y="1712912"/>
          <a:ext cx="3135684" cy="2422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AI-based prediction of ischemia and nerve injury</a:t>
          </a:r>
        </a:p>
        <a:p>
          <a:pPr marL="0" lvl="0" indent="0" algn="ctr" defTabSz="755650">
            <a:lnSpc>
              <a:spcPct val="100000"/>
            </a:lnSpc>
            <a:spcBef>
              <a:spcPct val="0"/>
            </a:spcBef>
            <a:spcAft>
              <a:spcPct val="35000"/>
            </a:spcAft>
            <a:buNone/>
          </a:pPr>
          <a:r>
            <a:rPr lang="en-US" sz="1700" kern="1200"/>
            <a:t>Integrated pressure sensing platform</a:t>
          </a:r>
        </a:p>
        <a:p>
          <a:pPr marL="0" lvl="0" indent="0" algn="ctr" defTabSz="755650">
            <a:lnSpc>
              <a:spcPct val="100000"/>
            </a:lnSpc>
            <a:spcBef>
              <a:spcPct val="0"/>
            </a:spcBef>
            <a:spcAft>
              <a:spcPct val="35000"/>
            </a:spcAft>
            <a:buNone/>
          </a:pPr>
          <a:r>
            <a:rPr lang="en-US" sz="1700" kern="1200"/>
            <a:t>Fully wireless, sterile-safe hardware</a:t>
          </a:r>
        </a:p>
        <a:p>
          <a:pPr marL="0" lvl="0" indent="0" algn="ctr" defTabSz="755650">
            <a:lnSpc>
              <a:spcPct val="100000"/>
            </a:lnSpc>
            <a:spcBef>
              <a:spcPct val="0"/>
            </a:spcBef>
            <a:spcAft>
              <a:spcPct val="35000"/>
            </a:spcAft>
            <a:buNone/>
          </a:pPr>
          <a:r>
            <a:rPr lang="en-US" sz="1700" kern="1200"/>
            <a:t>Expansion to multiple surgical retractor systems</a:t>
          </a:r>
        </a:p>
      </dsp:txBody>
      <dsp:txXfrm>
        <a:off x="7374387" y="1712912"/>
        <a:ext cx="3135684" cy="2422062"/>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4B3C2-A731-5B48-AD84-EC04963B53A1}"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E799C-5BB3-2843-88EE-C2E02E1F2F30}" type="slidenum">
              <a:rPr lang="en-US" smtClean="0"/>
              <a:t>‹#›</a:t>
            </a:fld>
            <a:endParaRPr lang="en-US"/>
          </a:p>
        </p:txBody>
      </p:sp>
    </p:spTree>
    <p:extLst>
      <p:ext uri="{BB962C8B-B14F-4D97-AF65-F5344CB8AC3E}">
        <p14:creationId xmlns:p14="http://schemas.microsoft.com/office/powerpoint/2010/main" val="338050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https://drleespine.com.au/cervical-disc-replacement/</a:t>
            </a:r>
          </a:p>
          <a:p>
            <a:endParaRPr lang="en-US" dirty="0"/>
          </a:p>
        </p:txBody>
      </p:sp>
      <p:sp>
        <p:nvSpPr>
          <p:cNvPr id="4" name="Slide Number Placeholder 3"/>
          <p:cNvSpPr>
            <a:spLocks noGrp="1"/>
          </p:cNvSpPr>
          <p:nvPr>
            <p:ph type="sldNum" sz="quarter" idx="5"/>
          </p:nvPr>
        </p:nvSpPr>
        <p:spPr/>
        <p:txBody>
          <a:bodyPr/>
          <a:lstStyle/>
          <a:p>
            <a:fld id="{527E799C-5BB3-2843-88EE-C2E02E1F2F30}" type="slidenum">
              <a:rPr lang="en-US" smtClean="0"/>
              <a:t>1</a:t>
            </a:fld>
            <a:endParaRPr lang="en-US"/>
          </a:p>
        </p:txBody>
      </p:sp>
    </p:spTree>
    <p:extLst>
      <p:ext uri="{BB962C8B-B14F-4D97-AF65-F5344CB8AC3E}">
        <p14:creationId xmlns:p14="http://schemas.microsoft.com/office/powerpoint/2010/main" val="2947591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7E799C-5BB3-2843-88EE-C2E02E1F2F30}" type="slidenum">
              <a:rPr lang="en-US" smtClean="0"/>
              <a:t>11</a:t>
            </a:fld>
            <a:endParaRPr lang="en-US"/>
          </a:p>
        </p:txBody>
      </p:sp>
    </p:spTree>
    <p:extLst>
      <p:ext uri="{BB962C8B-B14F-4D97-AF65-F5344CB8AC3E}">
        <p14:creationId xmlns:p14="http://schemas.microsoft.com/office/powerpoint/2010/main" val="1599083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8950-1FB5-8AA7-FC71-C62B7F84C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1B83E-E6E6-6D69-CDA2-4DF1371BA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3BD5F-F0B7-60DD-39F0-D8A117C6D7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B54852-F213-CCB0-78EA-E1C06E5688F6}"/>
              </a:ext>
            </a:extLst>
          </p:cNvPr>
          <p:cNvSpPr>
            <a:spLocks noGrp="1"/>
          </p:cNvSpPr>
          <p:nvPr>
            <p:ph type="sldNum" sz="quarter" idx="5"/>
          </p:nvPr>
        </p:nvSpPr>
        <p:spPr/>
        <p:txBody>
          <a:bodyPr/>
          <a:lstStyle/>
          <a:p>
            <a:fld id="{527E799C-5BB3-2843-88EE-C2E02E1F2F30}" type="slidenum">
              <a:rPr lang="en-US" smtClean="0"/>
              <a:t>12</a:t>
            </a:fld>
            <a:endParaRPr lang="en-US"/>
          </a:p>
        </p:txBody>
      </p:sp>
    </p:spTree>
    <p:extLst>
      <p:ext uri="{BB962C8B-B14F-4D97-AF65-F5344CB8AC3E}">
        <p14:creationId xmlns:p14="http://schemas.microsoft.com/office/powerpoint/2010/main" val="1280661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8640D-CAA1-70E2-F75D-F4B03EB5F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095A5-257A-E9A7-8E55-13DDB5FF1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08A30-1B5D-BBED-2DE6-66CDC99E8D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B66106-35BA-6102-58B1-2D98C6D5EA12}"/>
              </a:ext>
            </a:extLst>
          </p:cNvPr>
          <p:cNvSpPr>
            <a:spLocks noGrp="1"/>
          </p:cNvSpPr>
          <p:nvPr>
            <p:ph type="sldNum" sz="quarter" idx="5"/>
          </p:nvPr>
        </p:nvSpPr>
        <p:spPr/>
        <p:txBody>
          <a:bodyPr/>
          <a:lstStyle/>
          <a:p>
            <a:fld id="{527E799C-5BB3-2843-88EE-C2E02E1F2F30}" type="slidenum">
              <a:rPr lang="en-US" smtClean="0"/>
              <a:t>13</a:t>
            </a:fld>
            <a:endParaRPr lang="en-US"/>
          </a:p>
        </p:txBody>
      </p:sp>
    </p:spTree>
    <p:extLst>
      <p:ext uri="{BB962C8B-B14F-4D97-AF65-F5344CB8AC3E}">
        <p14:creationId xmlns:p14="http://schemas.microsoft.com/office/powerpoint/2010/main" val="2724337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7EC5-3A8C-0A0C-A9B5-DC39925AA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613B7-4A58-1133-86DC-64240DFC8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56076-58A2-40A5-E83E-9FDEE4C7F79F}"/>
              </a:ext>
            </a:extLst>
          </p:cNvPr>
          <p:cNvSpPr>
            <a:spLocks noGrp="1"/>
          </p:cNvSpPr>
          <p:nvPr>
            <p:ph type="body" idx="1"/>
          </p:nvPr>
        </p:nvSpPr>
        <p:spPr/>
        <p:txBody>
          <a:bodyPr/>
          <a:lstStyle/>
          <a:p>
            <a:r>
              <a:rPr lang="en-US"/>
              <a:t>Piezoresistive pressure sensor</a:t>
            </a:r>
          </a:p>
        </p:txBody>
      </p:sp>
      <p:sp>
        <p:nvSpPr>
          <p:cNvPr id="4" name="Slide Number Placeholder 3">
            <a:extLst>
              <a:ext uri="{FF2B5EF4-FFF2-40B4-BE49-F238E27FC236}">
                <a16:creationId xmlns:a16="http://schemas.microsoft.com/office/drawing/2014/main" id="{340A0DDE-6EA5-81C6-DBB0-FDBCC8A3190E}"/>
              </a:ext>
            </a:extLst>
          </p:cNvPr>
          <p:cNvSpPr>
            <a:spLocks noGrp="1"/>
          </p:cNvSpPr>
          <p:nvPr>
            <p:ph type="sldNum" sz="quarter" idx="5"/>
          </p:nvPr>
        </p:nvSpPr>
        <p:spPr/>
        <p:txBody>
          <a:bodyPr/>
          <a:lstStyle/>
          <a:p>
            <a:fld id="{527E799C-5BB3-2843-88EE-C2E02E1F2F30}" type="slidenum">
              <a:rPr lang="en-US" smtClean="0"/>
              <a:t>14</a:t>
            </a:fld>
            <a:endParaRPr lang="en-US"/>
          </a:p>
        </p:txBody>
      </p:sp>
    </p:spTree>
    <p:extLst>
      <p:ext uri="{BB962C8B-B14F-4D97-AF65-F5344CB8AC3E}">
        <p14:creationId xmlns:p14="http://schemas.microsoft.com/office/powerpoint/2010/main" val="3690017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0634E-6395-637C-5964-637BE3A9D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4DA82-8F2D-AABF-4C6A-702A44DEB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D1EC0-FAAB-849D-82F0-26C00F909F6E}"/>
              </a:ext>
            </a:extLst>
          </p:cNvPr>
          <p:cNvSpPr>
            <a:spLocks noGrp="1"/>
          </p:cNvSpPr>
          <p:nvPr>
            <p:ph type="body" idx="1"/>
          </p:nvPr>
        </p:nvSpPr>
        <p:spPr/>
        <p:txBody>
          <a:bodyPr/>
          <a:lstStyle/>
          <a:p>
            <a:r>
              <a:rPr lang="en-US"/>
              <a:t>Piezoresistive pressure sensor</a:t>
            </a:r>
          </a:p>
        </p:txBody>
      </p:sp>
      <p:sp>
        <p:nvSpPr>
          <p:cNvPr id="4" name="Slide Number Placeholder 3">
            <a:extLst>
              <a:ext uri="{FF2B5EF4-FFF2-40B4-BE49-F238E27FC236}">
                <a16:creationId xmlns:a16="http://schemas.microsoft.com/office/drawing/2014/main" id="{2EB6FAAA-7039-84BE-19DE-413CAE9D8CEE}"/>
              </a:ext>
            </a:extLst>
          </p:cNvPr>
          <p:cNvSpPr>
            <a:spLocks noGrp="1"/>
          </p:cNvSpPr>
          <p:nvPr>
            <p:ph type="sldNum" sz="quarter" idx="5"/>
          </p:nvPr>
        </p:nvSpPr>
        <p:spPr/>
        <p:txBody>
          <a:bodyPr/>
          <a:lstStyle/>
          <a:p>
            <a:fld id="{527E799C-5BB3-2843-88EE-C2E02E1F2F30}" type="slidenum">
              <a:rPr lang="en-US" smtClean="0"/>
              <a:t>15</a:t>
            </a:fld>
            <a:endParaRPr lang="en-US"/>
          </a:p>
        </p:txBody>
      </p:sp>
    </p:spTree>
    <p:extLst>
      <p:ext uri="{BB962C8B-B14F-4D97-AF65-F5344CB8AC3E}">
        <p14:creationId xmlns:p14="http://schemas.microsoft.com/office/powerpoint/2010/main" val="473373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WLCSP45 Package</a:t>
            </a:r>
            <a:r>
              <a:rPr lang="en-US" sz="1200" b="0" i="0" kern="1200">
                <a:solidFill>
                  <a:schemeClr val="tx1"/>
                </a:solidFill>
                <a:effectLst/>
                <a:latin typeface="+mn-lt"/>
                <a:ea typeface="+mn-ea"/>
                <a:cs typeface="+mn-cs"/>
              </a:rPr>
              <a:t> (2.825mm x 2.657mm x 0.5mm)</a:t>
            </a:r>
            <a:endParaRPr lang="en-US"/>
          </a:p>
        </p:txBody>
      </p:sp>
      <p:sp>
        <p:nvSpPr>
          <p:cNvPr id="4" name="Slide Number Placeholder 3"/>
          <p:cNvSpPr>
            <a:spLocks noGrp="1"/>
          </p:cNvSpPr>
          <p:nvPr>
            <p:ph type="sldNum" sz="quarter" idx="5"/>
          </p:nvPr>
        </p:nvSpPr>
        <p:spPr/>
        <p:txBody>
          <a:bodyPr/>
          <a:lstStyle/>
          <a:p>
            <a:fld id="{527E799C-5BB3-2843-88EE-C2E02E1F2F30}" type="slidenum">
              <a:rPr lang="en-US" smtClean="0"/>
              <a:t>17</a:t>
            </a:fld>
            <a:endParaRPr lang="en-US"/>
          </a:p>
        </p:txBody>
      </p:sp>
    </p:spTree>
    <p:extLst>
      <p:ext uri="{BB962C8B-B14F-4D97-AF65-F5344CB8AC3E}">
        <p14:creationId xmlns:p14="http://schemas.microsoft.com/office/powerpoint/2010/main" val="96493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a:solidFill>
                  <a:schemeClr val="tx1"/>
                </a:solidFill>
                <a:effectLst/>
                <a:latin typeface="+mn-lt"/>
                <a:ea typeface="+mn-ea"/>
                <a:cs typeface="+mn-cs"/>
              </a:rPr>
              <a:t>From a regulatory standpoint, this device aligns closely with existing Class II cervical retractors, so we will pursue an FDA 510(k) pathway. The core mechanism, tissue retraction, is unchanged, and our added biosensing functionality does not introduce new anatomical contact or new risks. Because the technological characteristics and indications for use remain equivalent to current devices, substantial equivalence supports a 510(k) submission.</a:t>
            </a:r>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 </a:t>
            </a:r>
          </a:p>
          <a:p>
            <a:pPr rtl="0" fontAlgn="base"/>
            <a:r>
              <a:rPr lang="en-US" sz="1200" b="0" i="0" u="none" strike="noStrike" kern="1200">
                <a:solidFill>
                  <a:schemeClr val="tx1"/>
                </a:solidFill>
                <a:effectLst/>
                <a:latin typeface="+mn-lt"/>
                <a:ea typeface="+mn-ea"/>
                <a:cs typeface="+mn-cs"/>
              </a:rPr>
              <a:t>To demonstrate safety and effectiveness, our testing plan includes mechanical, electrical, usability, and biological evaluation. We will have 4 bench tests followed by an animal test and then 2 tests in humans. The animal testing will ensure tissue response is accurately measured, while the limited human clinical study under ISO 14155 will confirm reduced postoperative complications and safe intraoperative use. Human-factors testing, using IEC 62366, will ensure surgeons can easily interpret the feedback and respond appropriately.</a:t>
            </a:r>
            <a:r>
              <a:rPr lang="en-US" sz="1200" b="0" i="0" kern="120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527E799C-5BB3-2843-88EE-C2E02E1F2F30}" type="slidenum">
              <a:rPr lang="en-US" smtClean="0"/>
              <a:t>20</a:t>
            </a:fld>
            <a:endParaRPr lang="en-US"/>
          </a:p>
        </p:txBody>
      </p:sp>
    </p:spTree>
    <p:extLst>
      <p:ext uri="{BB962C8B-B14F-4D97-AF65-F5344CB8AC3E}">
        <p14:creationId xmlns:p14="http://schemas.microsoft.com/office/powerpoint/2010/main" val="2075062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30AA-F349-AFCD-EF86-75918DC70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F82F3-F8E1-D899-47F2-7BC021E73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D7F3A-C322-AA9B-6E85-B5A49E565718}"/>
              </a:ext>
            </a:extLst>
          </p:cNvPr>
          <p:cNvSpPr>
            <a:spLocks noGrp="1"/>
          </p:cNvSpPr>
          <p:nvPr>
            <p:ph type="body" idx="1"/>
          </p:nvPr>
        </p:nvSpPr>
        <p:spPr/>
        <p:txBody>
          <a:bodyPr/>
          <a:lstStyle/>
          <a:p>
            <a:pPr rtl="0" fontAlgn="base"/>
            <a:r>
              <a:rPr lang="en-US" sz="1200" b="0" i="0" u="none" strike="noStrike" kern="1200">
                <a:solidFill>
                  <a:schemeClr val="tx1"/>
                </a:solidFill>
                <a:effectLst/>
                <a:latin typeface="+mn-lt"/>
                <a:ea typeface="+mn-ea"/>
                <a:cs typeface="+mn-cs"/>
              </a:rPr>
              <a:t>On the reimbursement side, hospitals, Medicare/Medicaid, and private insurers are the primary payers because the retractor is used in a well-established reimbursable procedure: ACDF, which is billed under CPT 22551. Because the device is single-use and disposable, it fits naturally into the supply chain as part of a hospital’s per-procedure surgical kit. Today, most retractors are reimbursed as part of bundled DRG or surgical supply payments, and we anticipate the same structure initially for our retractor attachments.</a:t>
            </a:r>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 </a:t>
            </a:r>
          </a:p>
          <a:p>
            <a:pPr rtl="0" fontAlgn="base"/>
            <a:r>
              <a:rPr lang="en-US" sz="1200" b="0" i="0" u="none" strike="noStrike" kern="1200">
                <a:solidFill>
                  <a:schemeClr val="tx1"/>
                </a:solidFill>
                <a:effectLst/>
                <a:latin typeface="+mn-lt"/>
                <a:ea typeface="+mn-ea"/>
                <a:cs typeface="+mn-cs"/>
              </a:rPr>
              <a:t>However, if clinical data show that our sensor-enabled retractors significantly reduce postoperative complications, particularly dysphagia and dysphonia, we would pursue a device-specific ICD or HCPCS code to reflect its added clinical value. Having our own code would create a clearer reimbursement pathway and further incentivize hospital adoption.</a:t>
            </a:r>
            <a:r>
              <a:rPr lang="en-US" sz="1200" b="0" i="0" kern="120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01A0469B-E844-C115-4CD7-3A096DC7CA7E}"/>
              </a:ext>
            </a:extLst>
          </p:cNvPr>
          <p:cNvSpPr>
            <a:spLocks noGrp="1"/>
          </p:cNvSpPr>
          <p:nvPr>
            <p:ph type="sldNum" sz="quarter" idx="5"/>
          </p:nvPr>
        </p:nvSpPr>
        <p:spPr/>
        <p:txBody>
          <a:bodyPr/>
          <a:lstStyle/>
          <a:p>
            <a:fld id="{527E799C-5BB3-2843-88EE-C2E02E1F2F30}" type="slidenum">
              <a:rPr lang="en-US" smtClean="0"/>
              <a:t>21</a:t>
            </a:fld>
            <a:endParaRPr lang="en-US"/>
          </a:p>
        </p:txBody>
      </p:sp>
    </p:spTree>
    <p:extLst>
      <p:ext uri="{BB962C8B-B14F-4D97-AF65-F5344CB8AC3E}">
        <p14:creationId xmlns:p14="http://schemas.microsoft.com/office/powerpoint/2010/main" val="4171380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6C6EA-F718-A4F5-4C60-A5B2C3980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26AD6-D49B-3A54-F858-CA5E4DB55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C7086-C514-6234-95D9-96EF615F90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7B8A8A-1E9F-C66D-84A7-47EB1531EC88}"/>
              </a:ext>
            </a:extLst>
          </p:cNvPr>
          <p:cNvSpPr>
            <a:spLocks noGrp="1"/>
          </p:cNvSpPr>
          <p:nvPr>
            <p:ph type="sldNum" sz="quarter" idx="5"/>
          </p:nvPr>
        </p:nvSpPr>
        <p:spPr/>
        <p:txBody>
          <a:bodyPr/>
          <a:lstStyle/>
          <a:p>
            <a:fld id="{527E799C-5BB3-2843-88EE-C2E02E1F2F30}" type="slidenum">
              <a:rPr lang="en-US" smtClean="0"/>
              <a:t>23</a:t>
            </a:fld>
            <a:endParaRPr lang="en-US"/>
          </a:p>
        </p:txBody>
      </p:sp>
    </p:spTree>
    <p:extLst>
      <p:ext uri="{BB962C8B-B14F-4D97-AF65-F5344CB8AC3E}">
        <p14:creationId xmlns:p14="http://schemas.microsoft.com/office/powerpoint/2010/main" val="4228641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mailto:lindsey.g.waugh@medtronic.com" TargetMode="External"/><Relationship Id="rId3" Type="http://schemas.openxmlformats.org/officeDocument/2006/relationships/hyperlink" Target="mailto:mona.gerges@vanderbilt.edu" TargetMode="External"/><Relationship Id="rId7" Type="http://schemas.openxmlformats.org/officeDocument/2006/relationships/hyperlink" Target="mailto:camille.e.messonnier@vanderbilt.edu" TargetMode="External"/><Relationship Id="rId2" Type="http://schemas.openxmlformats.org/officeDocument/2006/relationships/hyperlink" Target="mailto:charlotte.d.sevrain@vanderbilt.edu" TargetMode="External"/><Relationship Id="rId1" Type="http://schemas.openxmlformats.org/officeDocument/2006/relationships/slideLayout" Target="../slideLayouts/slideLayout2.xml"/><Relationship Id="rId6" Type="http://schemas.openxmlformats.org/officeDocument/2006/relationships/hyperlink" Target="mailto:jacob.a.stoebner@vanderbilt.edu" TargetMode="External"/><Relationship Id="rId5" Type="http://schemas.openxmlformats.org/officeDocument/2006/relationships/hyperlink" Target="mailto:jason.r.beveridge@vanderbilt.edu" TargetMode="External"/><Relationship Id="rId10" Type="http://schemas.openxmlformats.org/officeDocument/2006/relationships/hyperlink" Target="mailto:shannon.m.vittur@medtronic.com" TargetMode="External"/><Relationship Id="rId4" Type="http://schemas.openxmlformats.org/officeDocument/2006/relationships/hyperlink" Target="mailto:andrew.e.blakemore@vanderbilt.edu" TargetMode="External"/><Relationship Id="rId9" Type="http://schemas.openxmlformats.org/officeDocument/2006/relationships/hyperlink" Target="mailto:newt.metcalf@medtronic.com"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biospine.com/spine-procedures/minimally-invasive/anterior-cervical-discectomy-with-fusion/" TargetMode="External"/><Relationship Id="rId2" Type="http://schemas.openxmlformats.org/officeDocument/2006/relationships/hyperlink" Target="https://drleespine.com.au/cervical-disc-replacement/" TargetMode="External"/><Relationship Id="rId1" Type="http://schemas.openxmlformats.org/officeDocument/2006/relationships/slideLayout" Target="../slideLayouts/slideLayout2.xml"/><Relationship Id="rId4" Type="http://schemas.openxmlformats.org/officeDocument/2006/relationships/hyperlink" Target="https://www.londonspine.com/what-is-anterior-cervical-discectomy-and-fusion-ac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0002FB-F53D-F6CD-B88C-0A0D2BEEB8B2}"/>
              </a:ext>
            </a:extLst>
          </p:cNvPr>
          <p:cNvPicPr>
            <a:picLocks noChangeAspect="1"/>
          </p:cNvPicPr>
          <p:nvPr/>
        </p:nvPicPr>
        <p:blipFill>
          <a:blip r:embed="rId3"/>
          <a:srcRect l="51483"/>
          <a:stretch>
            <a:fillRect/>
          </a:stretch>
        </p:blipFill>
        <p:spPr>
          <a:xfrm>
            <a:off x="6276814" y="0"/>
            <a:ext cx="5915186" cy="6858000"/>
          </a:xfrm>
          <a:prstGeom prst="rect">
            <a:avLst/>
          </a:prstGeom>
        </p:spPr>
      </p:pic>
      <p:pic>
        <p:nvPicPr>
          <p:cNvPr id="2" name="Picture 1">
            <a:extLst>
              <a:ext uri="{FF2B5EF4-FFF2-40B4-BE49-F238E27FC236}">
                <a16:creationId xmlns:a16="http://schemas.microsoft.com/office/drawing/2014/main" id="{7B984DC9-BBA3-D2AE-542B-978CC831769B}"/>
              </a:ext>
            </a:extLst>
          </p:cNvPr>
          <p:cNvPicPr>
            <a:picLocks noChangeAspect="1"/>
          </p:cNvPicPr>
          <p:nvPr/>
        </p:nvPicPr>
        <p:blipFill>
          <a:blip r:embed="rId4"/>
          <a:stretch>
            <a:fillRect/>
          </a:stretch>
        </p:blipFill>
        <p:spPr>
          <a:xfrm>
            <a:off x="10378465" y="6012073"/>
            <a:ext cx="1510584" cy="845927"/>
          </a:xfrm>
          <a:prstGeom prst="rect">
            <a:avLst/>
          </a:prstGeom>
        </p:spPr>
      </p:pic>
      <p:pic>
        <p:nvPicPr>
          <p:cNvPr id="7" name="Picture 6">
            <a:extLst>
              <a:ext uri="{FF2B5EF4-FFF2-40B4-BE49-F238E27FC236}">
                <a16:creationId xmlns:a16="http://schemas.microsoft.com/office/drawing/2014/main" id="{9E284A60-2D3C-C3F0-CF39-4D3975EBBFCE}"/>
              </a:ext>
            </a:extLst>
          </p:cNvPr>
          <p:cNvPicPr>
            <a:picLocks noChangeAspect="1"/>
          </p:cNvPicPr>
          <p:nvPr/>
        </p:nvPicPr>
        <p:blipFill>
          <a:blip r:embed="rId5"/>
          <a:srcRect r="51767"/>
          <a:stretch>
            <a:fillRect/>
          </a:stretch>
        </p:blipFill>
        <p:spPr>
          <a:xfrm>
            <a:off x="213893" y="0"/>
            <a:ext cx="5880495" cy="68580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60770-9A3B-8E90-537A-C06F1F176B52}"/>
              </a:ext>
            </a:extLst>
          </p:cNvPr>
          <p:cNvSpPr>
            <a:spLocks noGrp="1"/>
          </p:cNvSpPr>
          <p:nvPr>
            <p:ph type="title"/>
          </p:nvPr>
        </p:nvSpPr>
        <p:spPr/>
        <p:txBody>
          <a:bodyPr/>
          <a:lstStyle/>
          <a:p>
            <a:r>
              <a:rPr lang="en-US"/>
              <a:t>Agenda Overview</a:t>
            </a:r>
          </a:p>
        </p:txBody>
      </p:sp>
      <p:graphicFrame>
        <p:nvGraphicFramePr>
          <p:cNvPr id="5" name="Content Placeholder 2">
            <a:extLst>
              <a:ext uri="{FF2B5EF4-FFF2-40B4-BE49-F238E27FC236}">
                <a16:creationId xmlns:a16="http://schemas.microsoft.com/office/drawing/2014/main" id="{BEF73986-8E44-C20A-64FB-C2C262779E18}"/>
              </a:ext>
            </a:extLst>
          </p:cNvPr>
          <p:cNvGraphicFramePr>
            <a:graphicFrameLocks noGrp="1"/>
          </p:cNvGraphicFramePr>
          <p:nvPr>
            <p:ph idx="1"/>
            <p:extLst>
              <p:ext uri="{D42A27DB-BD31-4B8C-83A1-F6EECF244321}">
                <p14:modId xmlns:p14="http://schemas.microsoft.com/office/powerpoint/2010/main" val="1145170126"/>
              </p:ext>
            </p:extLst>
          </p:nvPr>
        </p:nvGraphicFramePr>
        <p:xfrm>
          <a:off x="446459" y="1298222"/>
          <a:ext cx="11299081" cy="46755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684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F07C-46DE-D1AE-A37A-827BC6A96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6D00E-EED9-EE6B-0586-7D37FC88D042}"/>
              </a:ext>
            </a:extLst>
          </p:cNvPr>
          <p:cNvSpPr>
            <a:spLocks noGrp="1"/>
          </p:cNvSpPr>
          <p:nvPr>
            <p:ph type="title"/>
          </p:nvPr>
        </p:nvSpPr>
        <p:spPr/>
        <p:txBody>
          <a:bodyPr/>
          <a:lstStyle/>
          <a:p>
            <a:r>
              <a:rPr lang="en-US" dirty="0"/>
              <a:t>Disease State Fundamentals</a:t>
            </a:r>
          </a:p>
        </p:txBody>
      </p:sp>
      <p:sp>
        <p:nvSpPr>
          <p:cNvPr id="3" name="Content Placeholder 2">
            <a:extLst>
              <a:ext uri="{FF2B5EF4-FFF2-40B4-BE49-F238E27FC236}">
                <a16:creationId xmlns:a16="http://schemas.microsoft.com/office/drawing/2014/main" id="{D30976A6-635C-0858-10EB-FF53FB7ECB75}"/>
              </a:ext>
            </a:extLst>
          </p:cNvPr>
          <p:cNvSpPr>
            <a:spLocks noGrp="1"/>
          </p:cNvSpPr>
          <p:nvPr>
            <p:ph idx="1"/>
          </p:nvPr>
        </p:nvSpPr>
        <p:spPr>
          <a:xfrm>
            <a:off x="838200" y="1544165"/>
            <a:ext cx="6563552" cy="4776959"/>
          </a:xfrm>
        </p:spPr>
        <p:txBody>
          <a:bodyPr vert="horz" lIns="91440" tIns="45720" rIns="91440" bIns="45720" rtlCol="0" anchor="t">
            <a:normAutofit fontScale="92500" lnSpcReduction="20000"/>
          </a:bodyPr>
          <a:lstStyle/>
          <a:p>
            <a:r>
              <a:rPr lang="en-US" dirty="0"/>
              <a:t>Anterior cervical discectomy and fusion (ACDF) and anterior cervical disc replacement (ACDR) are two common spinal surgeries to treat cervical radiculopathy</a:t>
            </a:r>
          </a:p>
          <a:p>
            <a:r>
              <a:rPr lang="en-US" dirty="0"/>
              <a:t>As part of this surgery, tissues (muscle, esophagus, trachea, etc.) are retracted to access the spine itself</a:t>
            </a:r>
          </a:p>
          <a:p>
            <a:r>
              <a:rPr lang="en-US" dirty="0"/>
              <a:t>In some cases, patients report dysphonia and dysphagia post-surgically</a:t>
            </a:r>
          </a:p>
          <a:p>
            <a:r>
              <a:rPr lang="en-US" dirty="0"/>
              <a:t>No single source has been identified that causes these problems, but some hypothesize that the force exerted on the retracted tissues causes this injury</a:t>
            </a:r>
          </a:p>
        </p:txBody>
      </p:sp>
      <p:pic>
        <p:nvPicPr>
          <p:cNvPr id="4" name="Picture 3" descr="Anterior Cervical Discectomy With Fusion (ACDF) | BioSpine Institute">
            <a:extLst>
              <a:ext uri="{FF2B5EF4-FFF2-40B4-BE49-F238E27FC236}">
                <a16:creationId xmlns:a16="http://schemas.microsoft.com/office/drawing/2014/main" id="{B1DFF62F-4984-66A8-5AD6-FFF295CEB1C2}"/>
              </a:ext>
            </a:extLst>
          </p:cNvPr>
          <p:cNvPicPr>
            <a:picLocks noChangeAspect="1"/>
          </p:cNvPicPr>
          <p:nvPr/>
        </p:nvPicPr>
        <p:blipFill>
          <a:blip r:embed="rId2"/>
          <a:stretch>
            <a:fillRect/>
          </a:stretch>
        </p:blipFill>
        <p:spPr>
          <a:xfrm>
            <a:off x="7567141" y="1246260"/>
            <a:ext cx="4431955" cy="4363473"/>
          </a:xfrm>
          <a:prstGeom prst="rect">
            <a:avLst/>
          </a:prstGeom>
        </p:spPr>
      </p:pic>
    </p:spTree>
    <p:extLst>
      <p:ext uri="{BB962C8B-B14F-4D97-AF65-F5344CB8AC3E}">
        <p14:creationId xmlns:p14="http://schemas.microsoft.com/office/powerpoint/2010/main" val="400963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11A1-6FAA-88D4-D476-A3BD9A579474}"/>
              </a:ext>
            </a:extLst>
          </p:cNvPr>
          <p:cNvSpPr>
            <a:spLocks noGrp="1"/>
          </p:cNvSpPr>
          <p:nvPr>
            <p:ph type="title"/>
          </p:nvPr>
        </p:nvSpPr>
        <p:spPr/>
        <p:txBody>
          <a:bodyPr/>
          <a:lstStyle/>
          <a:p>
            <a:endParaRPr lang="en-US"/>
          </a:p>
        </p:txBody>
      </p:sp>
      <p:pic>
        <p:nvPicPr>
          <p:cNvPr id="8" name="Untitled video - Made with Clipchamp (4)">
            <a:hlinkClick r:id="" action="ppaction://media"/>
            <a:extLst>
              <a:ext uri="{FF2B5EF4-FFF2-40B4-BE49-F238E27FC236}">
                <a16:creationId xmlns:a16="http://schemas.microsoft.com/office/drawing/2014/main" id="{2FED6B89-E6B5-48EF-7E56-C92CFC24A13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888124" y="2040544"/>
            <a:ext cx="7806152" cy="4390962"/>
          </a:xfrm>
          <a:prstGeom prst="rect">
            <a:avLst/>
          </a:prstGeom>
        </p:spPr>
      </p:pic>
    </p:spTree>
    <p:extLst>
      <p:ext uri="{BB962C8B-B14F-4D97-AF65-F5344CB8AC3E}">
        <p14:creationId xmlns:p14="http://schemas.microsoft.com/office/powerpoint/2010/main" val="222645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89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B0D7B-FED5-82C0-E373-E2381EC78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309DD-BE1C-29B8-CA74-D7DD5D22E997}"/>
              </a:ext>
            </a:extLst>
          </p:cNvPr>
          <p:cNvSpPr>
            <a:spLocks noGrp="1"/>
          </p:cNvSpPr>
          <p:nvPr>
            <p:ph type="title"/>
          </p:nvPr>
        </p:nvSpPr>
        <p:spPr/>
        <p:txBody>
          <a:bodyPr/>
          <a:lstStyle/>
          <a:p>
            <a:r>
              <a:rPr lang="en-US"/>
              <a:t>Needs Statement</a:t>
            </a:r>
          </a:p>
        </p:txBody>
      </p:sp>
      <p:pic>
        <p:nvPicPr>
          <p:cNvPr id="4" name="Content Placeholder 3" descr="Anterior cervical discectomy (ACDF) surgery: All you need to know">
            <a:extLst>
              <a:ext uri="{FF2B5EF4-FFF2-40B4-BE49-F238E27FC236}">
                <a16:creationId xmlns:a16="http://schemas.microsoft.com/office/drawing/2014/main" id="{EDC051A0-4462-1FC7-BFE5-7EB0067467D2}"/>
              </a:ext>
            </a:extLst>
          </p:cNvPr>
          <p:cNvPicPr>
            <a:picLocks noGrp="1" noChangeAspect="1"/>
          </p:cNvPicPr>
          <p:nvPr>
            <p:ph idx="1"/>
          </p:nvPr>
        </p:nvPicPr>
        <p:blipFill>
          <a:blip r:embed="rId2"/>
          <a:stretch>
            <a:fillRect/>
          </a:stretch>
        </p:blipFill>
        <p:spPr>
          <a:xfrm>
            <a:off x="720878" y="2607084"/>
            <a:ext cx="4226863" cy="2895987"/>
          </a:xfrm>
          <a:prstGeom prst="rect">
            <a:avLst/>
          </a:prstGeom>
        </p:spPr>
      </p:pic>
      <p:sp>
        <p:nvSpPr>
          <p:cNvPr id="5" name="TextBox 4">
            <a:extLst>
              <a:ext uri="{FF2B5EF4-FFF2-40B4-BE49-F238E27FC236}">
                <a16:creationId xmlns:a16="http://schemas.microsoft.com/office/drawing/2014/main" id="{9222AB77-C268-A915-DA93-12B86D1354BE}"/>
              </a:ext>
            </a:extLst>
          </p:cNvPr>
          <p:cNvSpPr txBox="1"/>
          <p:nvPr/>
        </p:nvSpPr>
        <p:spPr>
          <a:xfrm>
            <a:off x="5566838" y="2392433"/>
            <a:ext cx="5785378"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t>There is a need for </a:t>
            </a:r>
            <a:r>
              <a:rPr lang="en-US" sz="2800">
                <a:ea typeface="+mn-lt"/>
                <a:cs typeface="+mn-lt"/>
              </a:rPr>
              <a:t>a way to provide real-time monitoring of tissue pressure during anterior cervical spine surgery to minimize soft-tissue injury and postoperative complications from the surgery. </a:t>
            </a:r>
          </a:p>
          <a:p>
            <a:pPr marL="285750" indent="-285750">
              <a:buFont typeface="Arial"/>
              <a:buChar char="•"/>
            </a:pPr>
            <a:endParaRPr lang="en-US" sz="2800">
              <a:latin typeface="Aptos"/>
              <a:cs typeface="Arial"/>
            </a:endParaRPr>
          </a:p>
        </p:txBody>
      </p:sp>
    </p:spTree>
    <p:extLst>
      <p:ext uri="{BB962C8B-B14F-4D97-AF65-F5344CB8AC3E}">
        <p14:creationId xmlns:p14="http://schemas.microsoft.com/office/powerpoint/2010/main" val="2770827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9D199-1ED3-4230-2826-D54A5D80C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AAD42-D2D3-4FE9-6B56-643A38991F79}"/>
              </a:ext>
            </a:extLst>
          </p:cNvPr>
          <p:cNvSpPr>
            <a:spLocks noGrp="1"/>
          </p:cNvSpPr>
          <p:nvPr>
            <p:ph type="title"/>
          </p:nvPr>
        </p:nvSpPr>
        <p:spPr>
          <a:xfrm>
            <a:off x="675060" y="365125"/>
            <a:ext cx="10678740" cy="1325563"/>
          </a:xfrm>
        </p:spPr>
        <p:txBody>
          <a:bodyPr>
            <a:normAutofit/>
          </a:bodyPr>
          <a:lstStyle/>
          <a:p>
            <a:r>
              <a:rPr lang="en-US" sz="4000"/>
              <a:t>Existing Retractors with Tissue Feedback</a:t>
            </a:r>
          </a:p>
        </p:txBody>
      </p:sp>
      <p:sp>
        <p:nvSpPr>
          <p:cNvPr id="6" name="Content Placeholder 5">
            <a:extLst>
              <a:ext uri="{FF2B5EF4-FFF2-40B4-BE49-F238E27FC236}">
                <a16:creationId xmlns:a16="http://schemas.microsoft.com/office/drawing/2014/main" id="{653A7551-717F-34FB-97C9-33E55CEB2EE6}"/>
              </a:ext>
            </a:extLst>
          </p:cNvPr>
          <p:cNvSpPr>
            <a:spLocks noGrp="1"/>
          </p:cNvSpPr>
          <p:nvPr>
            <p:ph idx="1"/>
          </p:nvPr>
        </p:nvSpPr>
        <p:spPr>
          <a:xfrm>
            <a:off x="600918" y="1690688"/>
            <a:ext cx="11516942" cy="517820"/>
          </a:xfrm>
        </p:spPr>
        <p:txBody>
          <a:bodyPr>
            <a:normAutofit/>
          </a:bodyPr>
          <a:lstStyle/>
          <a:p>
            <a:pPr marL="0" indent="0">
              <a:buNone/>
            </a:pPr>
            <a:r>
              <a:rPr lang="en-US" sz="2000" b="1"/>
              <a:t>Gap: </a:t>
            </a:r>
            <a:r>
              <a:rPr lang="en-US" sz="1800"/>
              <a:t>No commercially available handheld retractor provides real-time tissue feedback in cervical spine surgery</a:t>
            </a:r>
            <a:endParaRPr lang="en-US" sz="2000"/>
          </a:p>
          <a:p>
            <a:pPr marL="0" indent="0">
              <a:buNone/>
            </a:pPr>
            <a:endParaRPr lang="en-US" sz="1800"/>
          </a:p>
        </p:txBody>
      </p:sp>
      <p:pic>
        <p:nvPicPr>
          <p:cNvPr id="12" name="Picture 11">
            <a:extLst>
              <a:ext uri="{FF2B5EF4-FFF2-40B4-BE49-F238E27FC236}">
                <a16:creationId xmlns:a16="http://schemas.microsoft.com/office/drawing/2014/main" id="{1E01B7AB-EF08-8DA9-17F9-399B73E7DAE2}"/>
              </a:ext>
            </a:extLst>
          </p:cNvPr>
          <p:cNvPicPr>
            <a:picLocks noChangeAspect="1"/>
          </p:cNvPicPr>
          <p:nvPr/>
        </p:nvPicPr>
        <p:blipFill>
          <a:blip r:embed="rId2"/>
          <a:stretch>
            <a:fillRect/>
          </a:stretch>
        </p:blipFill>
        <p:spPr>
          <a:xfrm>
            <a:off x="1720134" y="4122669"/>
            <a:ext cx="2316957" cy="791330"/>
          </a:xfrm>
          <a:prstGeom prst="rect">
            <a:avLst/>
          </a:prstGeom>
        </p:spPr>
      </p:pic>
      <p:pic>
        <p:nvPicPr>
          <p:cNvPr id="14" name="Picture 13">
            <a:extLst>
              <a:ext uri="{FF2B5EF4-FFF2-40B4-BE49-F238E27FC236}">
                <a16:creationId xmlns:a16="http://schemas.microsoft.com/office/drawing/2014/main" id="{5FF35D21-B25B-C633-E2CA-90C393246BB7}"/>
              </a:ext>
            </a:extLst>
          </p:cNvPr>
          <p:cNvPicPr>
            <a:picLocks noChangeAspect="1"/>
          </p:cNvPicPr>
          <p:nvPr/>
        </p:nvPicPr>
        <p:blipFill>
          <a:blip r:embed="rId3"/>
          <a:stretch>
            <a:fillRect/>
          </a:stretch>
        </p:blipFill>
        <p:spPr>
          <a:xfrm>
            <a:off x="6317977" y="4037397"/>
            <a:ext cx="669797" cy="1323416"/>
          </a:xfrm>
          <a:prstGeom prst="rect">
            <a:avLst/>
          </a:prstGeom>
        </p:spPr>
      </p:pic>
      <p:pic>
        <p:nvPicPr>
          <p:cNvPr id="15" name="Picture 14" descr="A green and silver object with black circles&#10;&#10;AI-generated content may be incorrect.">
            <a:extLst>
              <a:ext uri="{FF2B5EF4-FFF2-40B4-BE49-F238E27FC236}">
                <a16:creationId xmlns:a16="http://schemas.microsoft.com/office/drawing/2014/main" id="{47058756-FE8E-19FA-E1D4-9F2E0094551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9389" y="5768340"/>
            <a:ext cx="1514475" cy="724535"/>
          </a:xfrm>
          <a:prstGeom prst="rect">
            <a:avLst/>
          </a:prstGeom>
          <a:noFill/>
          <a:ln>
            <a:noFill/>
          </a:ln>
        </p:spPr>
      </p:pic>
      <p:pic>
        <p:nvPicPr>
          <p:cNvPr id="17" name="Picture 16">
            <a:extLst>
              <a:ext uri="{FF2B5EF4-FFF2-40B4-BE49-F238E27FC236}">
                <a16:creationId xmlns:a16="http://schemas.microsoft.com/office/drawing/2014/main" id="{B040364B-B1EE-D650-2801-7131190F72FC}"/>
              </a:ext>
            </a:extLst>
          </p:cNvPr>
          <p:cNvPicPr>
            <a:picLocks noChangeAspect="1"/>
          </p:cNvPicPr>
          <p:nvPr/>
        </p:nvPicPr>
        <p:blipFill>
          <a:blip r:embed="rId5"/>
          <a:stretch>
            <a:fillRect/>
          </a:stretch>
        </p:blipFill>
        <p:spPr>
          <a:xfrm>
            <a:off x="9396782" y="4112063"/>
            <a:ext cx="1833720" cy="1024131"/>
          </a:xfrm>
          <a:prstGeom prst="rect">
            <a:avLst/>
          </a:prstGeom>
        </p:spPr>
      </p:pic>
      <p:sp>
        <p:nvSpPr>
          <p:cNvPr id="4" name="TextBox 3">
            <a:extLst>
              <a:ext uri="{FF2B5EF4-FFF2-40B4-BE49-F238E27FC236}">
                <a16:creationId xmlns:a16="http://schemas.microsoft.com/office/drawing/2014/main" id="{C9E47A77-8532-83EC-5BBC-5151195BF956}"/>
              </a:ext>
            </a:extLst>
          </p:cNvPr>
          <p:cNvSpPr txBox="1"/>
          <p:nvPr/>
        </p:nvSpPr>
        <p:spPr>
          <a:xfrm>
            <a:off x="675058" y="2293926"/>
            <a:ext cx="4173103" cy="646331"/>
          </a:xfrm>
          <a:prstGeom prst="rect">
            <a:avLst/>
          </a:prstGeom>
          <a:noFill/>
        </p:spPr>
        <p:txBody>
          <a:bodyPr wrap="square">
            <a:spAutoFit/>
          </a:bodyPr>
          <a:lstStyle/>
          <a:p>
            <a:r>
              <a:rPr lang="en-US" sz="1800" b="1"/>
              <a:t>Majority of studies are preclinical  </a:t>
            </a:r>
          </a:p>
          <a:p>
            <a:endParaRPr lang="en-US" sz="1800" b="1"/>
          </a:p>
        </p:txBody>
      </p:sp>
      <p:sp>
        <p:nvSpPr>
          <p:cNvPr id="7" name="TextBox 6">
            <a:extLst>
              <a:ext uri="{FF2B5EF4-FFF2-40B4-BE49-F238E27FC236}">
                <a16:creationId xmlns:a16="http://schemas.microsoft.com/office/drawing/2014/main" id="{30E03038-FFFD-E72D-F211-B487BE54EEC5}"/>
              </a:ext>
            </a:extLst>
          </p:cNvPr>
          <p:cNvSpPr txBox="1"/>
          <p:nvPr/>
        </p:nvSpPr>
        <p:spPr>
          <a:xfrm>
            <a:off x="909064" y="2796032"/>
            <a:ext cx="3939098" cy="1241365"/>
          </a:xfrm>
          <a:prstGeom prst="rect">
            <a:avLst/>
          </a:prstGeom>
          <a:noFill/>
        </p:spPr>
        <p:txBody>
          <a:bodyPr wrap="square">
            <a:spAutoFit/>
          </a:bodyPr>
          <a:lstStyle/>
          <a:p>
            <a:pPr marL="285750" indent="-285750">
              <a:buFont typeface="Arial" panose="020B0604020202020204" pitchFamily="34" charset="0"/>
              <a:buChar char="•"/>
            </a:pPr>
            <a:r>
              <a:rPr lang="en-US" sz="1600" u="sng"/>
              <a:t>Force-Sensing Silicone Retractor:</a:t>
            </a:r>
            <a:r>
              <a:rPr lang="en-US" sz="1600" b="1"/>
              <a:t> </a:t>
            </a:r>
            <a:r>
              <a:rPr lang="en-US" sz="1600"/>
              <a:t>Neurosurgery</a:t>
            </a:r>
            <a:r>
              <a:rPr lang="en-US" sz="1600" baseline="30000"/>
              <a:t>1</a:t>
            </a:r>
          </a:p>
          <a:p>
            <a:endParaRPr lang="en-US" sz="1600" baseline="30000"/>
          </a:p>
          <a:p>
            <a:pPr marL="800100" lvl="1" indent="-342900">
              <a:buFont typeface="Arial" panose="020B0604020202020204" pitchFamily="34" charset="0"/>
              <a:buChar char="•"/>
            </a:pPr>
            <a:r>
              <a:rPr lang="en-US" sz="1600"/>
              <a:t>Limited feedback, visual only; force range 0.1–0.7 N </a:t>
            </a:r>
          </a:p>
        </p:txBody>
      </p:sp>
      <p:sp>
        <p:nvSpPr>
          <p:cNvPr id="8" name="TextBox 7">
            <a:extLst>
              <a:ext uri="{FF2B5EF4-FFF2-40B4-BE49-F238E27FC236}">
                <a16:creationId xmlns:a16="http://schemas.microsoft.com/office/drawing/2014/main" id="{26717F76-A6CD-FBE7-DD39-D58B3D558832}"/>
              </a:ext>
            </a:extLst>
          </p:cNvPr>
          <p:cNvSpPr txBox="1"/>
          <p:nvPr/>
        </p:nvSpPr>
        <p:spPr>
          <a:xfrm>
            <a:off x="4992378" y="2753708"/>
            <a:ext cx="3436671" cy="1487587"/>
          </a:xfrm>
          <a:prstGeom prst="rect">
            <a:avLst/>
          </a:prstGeom>
          <a:noFill/>
        </p:spPr>
        <p:txBody>
          <a:bodyPr wrap="square">
            <a:spAutoFit/>
          </a:bodyPr>
          <a:lstStyle/>
          <a:p>
            <a:pPr marL="171450" indent="-171450">
              <a:buFont typeface="Arial" panose="020B0604020202020204" pitchFamily="34" charset="0"/>
              <a:buChar char="•"/>
            </a:pPr>
            <a:r>
              <a:rPr lang="en-US" sz="1600" u="sng"/>
              <a:t>Soft Tactile Hydrogel Retractor:  </a:t>
            </a:r>
            <a:r>
              <a:rPr lang="en-US" sz="1600"/>
              <a:t>Oral surgery</a:t>
            </a:r>
            <a:r>
              <a:rPr lang="en-US" sz="1600" baseline="30000"/>
              <a:t>2</a:t>
            </a:r>
          </a:p>
          <a:p>
            <a:endParaRPr lang="en-US" sz="1600" baseline="30000"/>
          </a:p>
          <a:p>
            <a:pPr marL="628650" lvl="1" indent="-171450">
              <a:buFont typeface="Arial" panose="020B0604020202020204" pitchFamily="34" charset="0"/>
              <a:buChar char="•"/>
            </a:pPr>
            <a:r>
              <a:rPr lang="en-US" sz="1600"/>
              <a:t>Limited spatial resolution; cannot localize force</a:t>
            </a:r>
          </a:p>
          <a:p>
            <a:pPr marL="285750" indent="-285750">
              <a:buFont typeface="Arial" panose="020B0604020202020204" pitchFamily="34" charset="0"/>
              <a:buChar char="•"/>
            </a:pPr>
            <a:endParaRPr lang="en-US" sz="1600"/>
          </a:p>
        </p:txBody>
      </p:sp>
      <p:sp>
        <p:nvSpPr>
          <p:cNvPr id="10" name="TextBox 9">
            <a:extLst>
              <a:ext uri="{FF2B5EF4-FFF2-40B4-BE49-F238E27FC236}">
                <a16:creationId xmlns:a16="http://schemas.microsoft.com/office/drawing/2014/main" id="{15826EC2-7AA9-DD13-71C9-55CB9820FC16}"/>
              </a:ext>
            </a:extLst>
          </p:cNvPr>
          <p:cNvSpPr txBox="1"/>
          <p:nvPr/>
        </p:nvSpPr>
        <p:spPr>
          <a:xfrm>
            <a:off x="675058" y="5432999"/>
            <a:ext cx="4173103" cy="646331"/>
          </a:xfrm>
          <a:prstGeom prst="rect">
            <a:avLst/>
          </a:prstGeom>
          <a:noFill/>
        </p:spPr>
        <p:txBody>
          <a:bodyPr wrap="square">
            <a:spAutoFit/>
          </a:bodyPr>
          <a:lstStyle/>
          <a:p>
            <a:r>
              <a:rPr lang="en-US" sz="1800" b="1"/>
              <a:t>Limited commercial products </a:t>
            </a:r>
          </a:p>
          <a:p>
            <a:endParaRPr lang="en-US" sz="1800" b="1"/>
          </a:p>
        </p:txBody>
      </p:sp>
      <p:sp>
        <p:nvSpPr>
          <p:cNvPr id="13" name="TextBox 12">
            <a:extLst>
              <a:ext uri="{FF2B5EF4-FFF2-40B4-BE49-F238E27FC236}">
                <a16:creationId xmlns:a16="http://schemas.microsoft.com/office/drawing/2014/main" id="{380860C0-9A73-A8F9-DA58-DE00ADEFDBA0}"/>
              </a:ext>
            </a:extLst>
          </p:cNvPr>
          <p:cNvSpPr txBox="1"/>
          <p:nvPr/>
        </p:nvSpPr>
        <p:spPr>
          <a:xfrm>
            <a:off x="909064" y="5887600"/>
            <a:ext cx="5243022" cy="584775"/>
          </a:xfrm>
          <a:prstGeom prst="rect">
            <a:avLst/>
          </a:prstGeom>
          <a:noFill/>
        </p:spPr>
        <p:txBody>
          <a:bodyPr wrap="square">
            <a:spAutoFit/>
          </a:bodyPr>
          <a:lstStyle/>
          <a:p>
            <a:pPr marL="285750" indent="-285750">
              <a:buFont typeface="Arial" panose="020B0604020202020204" pitchFamily="34" charset="0"/>
              <a:buChar char="•"/>
            </a:pPr>
            <a:r>
              <a:rPr lang="en-US" sz="1600" u="sng" err="1"/>
              <a:t>SmartBrain</a:t>
            </a:r>
            <a:r>
              <a:rPr lang="en-US" sz="1600" u="sng"/>
              <a:t> Retractor (Neuro-Kinesis)</a:t>
            </a:r>
            <a:r>
              <a:rPr lang="en-US" sz="1600"/>
              <a:t>: Neurosurgery</a:t>
            </a:r>
            <a:r>
              <a:rPr lang="en-US" sz="1600" baseline="30000"/>
              <a:t>4</a:t>
            </a:r>
            <a:r>
              <a:rPr lang="en-US" sz="1600"/>
              <a:t> </a:t>
            </a:r>
          </a:p>
          <a:p>
            <a:pPr marL="742950" lvl="1" indent="-285750">
              <a:buFont typeface="Arial" panose="020B0604020202020204" pitchFamily="34" charset="0"/>
              <a:buChar char="•"/>
            </a:pPr>
            <a:r>
              <a:rPr lang="en-US" sz="1600"/>
              <a:t>Specialized; cost/adoption may limit general use</a:t>
            </a:r>
          </a:p>
        </p:txBody>
      </p:sp>
      <p:sp>
        <p:nvSpPr>
          <p:cNvPr id="18" name="TextBox 17">
            <a:extLst>
              <a:ext uri="{FF2B5EF4-FFF2-40B4-BE49-F238E27FC236}">
                <a16:creationId xmlns:a16="http://schemas.microsoft.com/office/drawing/2014/main" id="{1A46817F-5F27-0ED6-2ECE-113E087888A2}"/>
              </a:ext>
            </a:extLst>
          </p:cNvPr>
          <p:cNvSpPr txBox="1"/>
          <p:nvPr/>
        </p:nvSpPr>
        <p:spPr>
          <a:xfrm>
            <a:off x="8573267" y="2759743"/>
            <a:ext cx="3480750" cy="1241365"/>
          </a:xfrm>
          <a:prstGeom prst="rect">
            <a:avLst/>
          </a:prstGeom>
          <a:noFill/>
        </p:spPr>
        <p:txBody>
          <a:bodyPr wrap="square">
            <a:spAutoFit/>
          </a:bodyPr>
          <a:lstStyle/>
          <a:p>
            <a:pPr marL="285750" indent="-285750">
              <a:buFont typeface="Arial" panose="020B0604020202020204" pitchFamily="34" charset="0"/>
              <a:buChar char="•"/>
            </a:pPr>
            <a:r>
              <a:rPr lang="en-US" sz="1600" u="sng"/>
              <a:t>Transoral Robotic Surgery Force-Sensing Retractor</a:t>
            </a:r>
            <a:r>
              <a:rPr lang="en-US" sz="1600" b="1"/>
              <a:t>: </a:t>
            </a:r>
            <a:r>
              <a:rPr lang="en-US" sz="1600"/>
              <a:t>Oral surgery</a:t>
            </a:r>
            <a:r>
              <a:rPr lang="en-US" sz="1600" baseline="30000"/>
              <a:t>3</a:t>
            </a:r>
          </a:p>
          <a:p>
            <a:endParaRPr lang="en-US" sz="1600" baseline="30000"/>
          </a:p>
          <a:p>
            <a:pPr marL="742950" lvl="1" indent="-285750">
              <a:buFont typeface="Arial" panose="020B0604020202020204" pitchFamily="34" charset="0"/>
              <a:buChar char="•"/>
            </a:pPr>
            <a:r>
              <a:rPr lang="en-US" sz="1600"/>
              <a:t>Limited adoption outside robotics</a:t>
            </a:r>
          </a:p>
        </p:txBody>
      </p:sp>
    </p:spTree>
    <p:extLst>
      <p:ext uri="{BB962C8B-B14F-4D97-AF65-F5344CB8AC3E}">
        <p14:creationId xmlns:p14="http://schemas.microsoft.com/office/powerpoint/2010/main" val="643112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56420-43E3-43B6-88E2-B0D424DEB86A}"/>
              </a:ext>
            </a:extLst>
          </p:cNvPr>
          <p:cNvSpPr>
            <a:spLocks noGrp="1"/>
          </p:cNvSpPr>
          <p:nvPr>
            <p:ph type="title"/>
          </p:nvPr>
        </p:nvSpPr>
        <p:spPr/>
        <p:txBody>
          <a:bodyPr/>
          <a:lstStyle/>
          <a:p>
            <a:r>
              <a:rPr lang="en-US"/>
              <a:t>Stakeholders Overview</a:t>
            </a:r>
          </a:p>
        </p:txBody>
      </p:sp>
      <p:graphicFrame>
        <p:nvGraphicFramePr>
          <p:cNvPr id="5" name="Content Placeholder 2">
            <a:extLst>
              <a:ext uri="{FF2B5EF4-FFF2-40B4-BE49-F238E27FC236}">
                <a16:creationId xmlns:a16="http://schemas.microsoft.com/office/drawing/2014/main" id="{8A28534E-7F77-2CE5-DCCD-80D842ACB2AF}"/>
              </a:ext>
            </a:extLst>
          </p:cNvPr>
          <p:cNvGraphicFramePr>
            <a:graphicFrameLocks noGrp="1"/>
          </p:cNvGraphicFramePr>
          <p:nvPr>
            <p:ph idx="1"/>
            <p:extLst>
              <p:ext uri="{D42A27DB-BD31-4B8C-83A1-F6EECF244321}">
                <p14:modId xmlns:p14="http://schemas.microsoft.com/office/powerpoint/2010/main" val="27590877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950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9246AD7-77F5-99ED-264E-1EC7FDEFD066}"/>
              </a:ext>
            </a:extLst>
          </p:cNvPr>
          <p:cNvGraphicFramePr>
            <a:graphicFrameLocks noGrp="1"/>
          </p:cNvGraphicFramePr>
          <p:nvPr>
            <p:extLst>
              <p:ext uri="{D42A27DB-BD31-4B8C-83A1-F6EECF244321}">
                <p14:modId xmlns:p14="http://schemas.microsoft.com/office/powerpoint/2010/main" val="3382013372"/>
              </p:ext>
            </p:extLst>
          </p:nvPr>
        </p:nvGraphicFramePr>
        <p:xfrm>
          <a:off x="3631448" y="1388992"/>
          <a:ext cx="7990261" cy="2337355"/>
        </p:xfrm>
        <a:graphic>
          <a:graphicData uri="http://schemas.openxmlformats.org/drawingml/2006/table">
            <a:tbl>
              <a:tblPr firstRow="1" firstCol="1" bandRow="1">
                <a:tableStyleId>{5C22544A-7EE6-4342-B048-85BDC9FD1C3A}</a:tableStyleId>
              </a:tblPr>
              <a:tblGrid>
                <a:gridCol w="2195872">
                  <a:extLst>
                    <a:ext uri="{9D8B030D-6E8A-4147-A177-3AD203B41FA5}">
                      <a16:colId xmlns:a16="http://schemas.microsoft.com/office/drawing/2014/main" val="3025451464"/>
                    </a:ext>
                  </a:extLst>
                </a:gridCol>
                <a:gridCol w="3763070">
                  <a:extLst>
                    <a:ext uri="{9D8B030D-6E8A-4147-A177-3AD203B41FA5}">
                      <a16:colId xmlns:a16="http://schemas.microsoft.com/office/drawing/2014/main" val="4041548741"/>
                    </a:ext>
                  </a:extLst>
                </a:gridCol>
                <a:gridCol w="2031319">
                  <a:extLst>
                    <a:ext uri="{9D8B030D-6E8A-4147-A177-3AD203B41FA5}">
                      <a16:colId xmlns:a16="http://schemas.microsoft.com/office/drawing/2014/main" val="1400728100"/>
                    </a:ext>
                  </a:extLst>
                </a:gridCol>
              </a:tblGrid>
              <a:tr h="151270">
                <a:tc>
                  <a:txBody>
                    <a:bodyPr/>
                    <a:lstStyle/>
                    <a:p>
                      <a:pPr marL="0" marR="0">
                        <a:lnSpc>
                          <a:spcPct val="107000"/>
                        </a:lnSpc>
                        <a:spcAft>
                          <a:spcPts val="800"/>
                        </a:spcAft>
                        <a:buNone/>
                      </a:pPr>
                      <a:r>
                        <a:rPr lang="en-US" sz="1400">
                          <a:effectLst/>
                        </a:rPr>
                        <a:t>User/Customer Need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400">
                          <a:effectLst/>
                        </a:rPr>
                        <a:t>Design Specification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400">
                          <a:effectLst/>
                        </a:rPr>
                        <a:t>Source/Evidence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3070824973"/>
                  </a:ext>
                </a:extLst>
              </a:tr>
              <a:tr h="283893">
                <a:tc>
                  <a:txBody>
                    <a:bodyPr/>
                    <a:lstStyle/>
                    <a:p>
                      <a:pPr marL="0" marR="0" algn="l">
                        <a:lnSpc>
                          <a:spcPct val="107000"/>
                        </a:lnSpc>
                        <a:spcAft>
                          <a:spcPts val="800"/>
                        </a:spcAft>
                        <a:buNone/>
                      </a:pPr>
                      <a:r>
                        <a:rPr lang="en-US" sz="1400">
                          <a:effectLst/>
                          <a:latin typeface="+mn-lt"/>
                        </a:rPr>
                        <a:t>Sterilizable</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Maintain original device sterility; compatible with standard hospital sterilization processes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CDC Infection Control, ANSI/AAMI ST79, ISO 17665/11135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1757153212"/>
                  </a:ext>
                </a:extLst>
              </a:tr>
              <a:tr h="290384">
                <a:tc>
                  <a:txBody>
                    <a:bodyPr/>
                    <a:lstStyle/>
                    <a:p>
                      <a:pPr marL="0" marR="0" algn="l">
                        <a:lnSpc>
                          <a:spcPct val="107000"/>
                        </a:lnSpc>
                        <a:spcAft>
                          <a:spcPts val="800"/>
                        </a:spcAft>
                        <a:buNone/>
                      </a:pPr>
                      <a:r>
                        <a:rPr lang="en-US" sz="1400">
                          <a:effectLst/>
                          <a:latin typeface="+mn-lt"/>
                        </a:rPr>
                        <a:t>Biocompatible components</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All tissue-contacting components must be medical-grade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FDA Biocompatibility Guidance, ISO 10993-1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1892181876"/>
                  </a:ext>
                </a:extLst>
              </a:tr>
              <a:tr h="427024">
                <a:tc>
                  <a:txBody>
                    <a:bodyPr/>
                    <a:lstStyle/>
                    <a:p>
                      <a:pPr marL="0" marR="0" algn="l">
                        <a:lnSpc>
                          <a:spcPct val="107000"/>
                        </a:lnSpc>
                        <a:spcAft>
                          <a:spcPts val="800"/>
                        </a:spcAft>
                        <a:buNone/>
                      </a:pPr>
                      <a:r>
                        <a:rPr lang="en-US" sz="1400">
                          <a:effectLst/>
                          <a:latin typeface="+mn-lt"/>
                        </a:rPr>
                        <a:t>Fail-safe operation </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Retractor retains full mechanical function in the event of electronic or sensor failure</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ISO 14971, IEC 60601-1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990566570"/>
                  </a:ext>
                </a:extLst>
              </a:tr>
              <a:tr h="427024">
                <a:tc>
                  <a:txBody>
                    <a:bodyPr/>
                    <a:lstStyle/>
                    <a:p>
                      <a:pPr marL="0" marR="0" algn="l">
                        <a:lnSpc>
                          <a:spcPct val="107000"/>
                        </a:lnSpc>
                        <a:spcAft>
                          <a:spcPts val="800"/>
                        </a:spcAft>
                        <a:buNone/>
                      </a:pPr>
                      <a:r>
                        <a:rPr lang="en-US" sz="1400">
                          <a:effectLst/>
                          <a:latin typeface="+mn-lt"/>
                        </a:rPr>
                        <a:t>Maintain blade profile </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Blade geometry and mechanical performance matches original retractors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200">
                          <a:effectLst/>
                        </a:rPr>
                        <a:t>Mentor Feedback</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301822305"/>
                  </a:ext>
                </a:extLst>
              </a:tr>
              <a:tr h="234515">
                <a:tc>
                  <a:txBody>
                    <a:bodyPr/>
                    <a:lstStyle/>
                    <a:p>
                      <a:pPr marL="0" marR="0" algn="l">
                        <a:lnSpc>
                          <a:spcPct val="107000"/>
                        </a:lnSpc>
                        <a:spcAft>
                          <a:spcPts val="800"/>
                        </a:spcAft>
                        <a:buNone/>
                      </a:pPr>
                      <a:r>
                        <a:rPr lang="en-US" sz="1400">
                          <a:effectLst/>
                          <a:latin typeface="+mn-lt"/>
                          <a:ea typeface="Calibri" panose="020F0502020204030204" pitchFamily="34" charset="0"/>
                          <a:cs typeface="Arial" panose="020B0604020202020204" pitchFamily="34" charset="0"/>
                        </a:rPr>
                        <a:t>Battery life</a:t>
                      </a:r>
                    </a:p>
                  </a:txBody>
                  <a:tcPr marL="40248" marR="40248" marT="0" marB="0" anchor="ctr">
                    <a:lnB w="12700" cap="flat" cmpd="sng" algn="ctr">
                      <a:solidFill>
                        <a:schemeClr val="tx1"/>
                      </a:solidFill>
                      <a:prstDash val="solid"/>
                      <a:round/>
                      <a:headEnd type="none" w="med" len="med"/>
                      <a:tailEnd type="none" w="med" len="med"/>
                    </a:lnB>
                    <a:solidFill>
                      <a:schemeClr val="accent6"/>
                    </a:solidFill>
                  </a:tcPr>
                </a:tc>
                <a:tc>
                  <a:txBody>
                    <a:bodyPr/>
                    <a:lstStyle/>
                    <a:p>
                      <a:pPr marL="0" marR="0">
                        <a:lnSpc>
                          <a:spcPct val="107000"/>
                        </a:lnSpc>
                        <a:spcAft>
                          <a:spcPts val="800"/>
                        </a:spcAft>
                        <a:buNone/>
                      </a:pPr>
                      <a:r>
                        <a:rPr lang="en-US" sz="1200"/>
                        <a:t>System must operate continuously for &gt; 4 hours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tc>
                  <a:txBody>
                    <a:bodyPr/>
                    <a:lstStyle/>
                    <a:p>
                      <a:pPr marL="0" marR="0">
                        <a:lnSpc>
                          <a:spcPct val="107000"/>
                        </a:lnSpc>
                        <a:spcAft>
                          <a:spcPts val="800"/>
                        </a:spcAft>
                        <a:buNone/>
                      </a:pPr>
                      <a:r>
                        <a:rPr lang="en-US" sz="1200"/>
                        <a:t>IEC 60601-1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877776"/>
                  </a:ext>
                </a:extLst>
              </a:tr>
            </a:tbl>
          </a:graphicData>
        </a:graphic>
      </p:graphicFrame>
      <p:sp>
        <p:nvSpPr>
          <p:cNvPr id="4" name="Rectangle 3">
            <a:extLst>
              <a:ext uri="{FF2B5EF4-FFF2-40B4-BE49-F238E27FC236}">
                <a16:creationId xmlns:a16="http://schemas.microsoft.com/office/drawing/2014/main" id="{5A397062-A648-5DB5-1FE9-47A989B02081}"/>
              </a:ext>
            </a:extLst>
          </p:cNvPr>
          <p:cNvSpPr/>
          <p:nvPr/>
        </p:nvSpPr>
        <p:spPr>
          <a:xfrm>
            <a:off x="4478743" y="2766058"/>
            <a:ext cx="1276874"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Left Brace 5">
            <a:extLst>
              <a:ext uri="{FF2B5EF4-FFF2-40B4-BE49-F238E27FC236}">
                <a16:creationId xmlns:a16="http://schemas.microsoft.com/office/drawing/2014/main" id="{3753AEE2-4309-5492-66F6-A3EBCED2571E}"/>
              </a:ext>
            </a:extLst>
          </p:cNvPr>
          <p:cNvSpPr/>
          <p:nvPr/>
        </p:nvSpPr>
        <p:spPr>
          <a:xfrm>
            <a:off x="3151386" y="1915152"/>
            <a:ext cx="255375" cy="1701812"/>
          </a:xfrm>
          <a:prstGeom prst="leftBrace">
            <a:avLst>
              <a:gd name="adj1" fmla="val 0"/>
              <a:gd name="adj2" fmla="val 49639"/>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grpSp>
        <p:nvGrpSpPr>
          <p:cNvPr id="9" name="Group 8">
            <a:extLst>
              <a:ext uri="{FF2B5EF4-FFF2-40B4-BE49-F238E27FC236}">
                <a16:creationId xmlns:a16="http://schemas.microsoft.com/office/drawing/2014/main" id="{E09D7468-B229-76ED-3729-58EF2EACBEF9}"/>
              </a:ext>
            </a:extLst>
          </p:cNvPr>
          <p:cNvGrpSpPr/>
          <p:nvPr/>
        </p:nvGrpSpPr>
        <p:grpSpPr>
          <a:xfrm>
            <a:off x="157908" y="2099223"/>
            <a:ext cx="6947080" cy="1765567"/>
            <a:chOff x="-4266304" y="66266"/>
            <a:chExt cx="6947080" cy="1765567"/>
          </a:xfrm>
        </p:grpSpPr>
        <p:sp>
          <p:nvSpPr>
            <p:cNvPr id="10" name="Rectangle 9">
              <a:extLst>
                <a:ext uri="{FF2B5EF4-FFF2-40B4-BE49-F238E27FC236}">
                  <a16:creationId xmlns:a16="http://schemas.microsoft.com/office/drawing/2014/main" id="{74F71282-0415-A3DB-2D7C-4E9DF303836E}"/>
                </a:ext>
              </a:extLst>
            </p:cNvPr>
            <p:cNvSpPr/>
            <p:nvPr/>
          </p:nvSpPr>
          <p:spPr>
            <a:xfrm>
              <a:off x="0" y="544833"/>
              <a:ext cx="2680776"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TextBox 10">
              <a:extLst>
                <a:ext uri="{FF2B5EF4-FFF2-40B4-BE49-F238E27FC236}">
                  <a16:creationId xmlns:a16="http://schemas.microsoft.com/office/drawing/2014/main" id="{E640B045-C6C7-514C-E344-1EB225A541A2}"/>
                </a:ext>
              </a:extLst>
            </p:cNvPr>
            <p:cNvSpPr txBox="1"/>
            <p:nvPr/>
          </p:nvSpPr>
          <p:spPr>
            <a:xfrm>
              <a:off x="-4266304" y="66266"/>
              <a:ext cx="2680776"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kern="1200"/>
                <a:t>Safety and Essential Performance</a:t>
              </a:r>
            </a:p>
          </p:txBody>
        </p:sp>
      </p:grpSp>
      <p:sp>
        <p:nvSpPr>
          <p:cNvPr id="16" name="Title 1">
            <a:extLst>
              <a:ext uri="{FF2B5EF4-FFF2-40B4-BE49-F238E27FC236}">
                <a16:creationId xmlns:a16="http://schemas.microsoft.com/office/drawing/2014/main" id="{E09DEB88-5726-08A3-0FE6-4409BBF5C7FB}"/>
              </a:ext>
            </a:extLst>
          </p:cNvPr>
          <p:cNvSpPr txBox="1">
            <a:spLocks/>
          </p:cNvSpPr>
          <p:nvPr/>
        </p:nvSpPr>
        <p:spPr>
          <a:xfrm>
            <a:off x="838200" y="365126"/>
            <a:ext cx="10515600" cy="7063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Design Specifications</a:t>
            </a:r>
          </a:p>
        </p:txBody>
      </p:sp>
    </p:spTree>
    <p:extLst>
      <p:ext uri="{BB962C8B-B14F-4D97-AF65-F5344CB8AC3E}">
        <p14:creationId xmlns:p14="http://schemas.microsoft.com/office/powerpoint/2010/main" val="295809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BE78-26C8-5BFE-C09B-92FA45F9612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A92267-07FD-0C9F-9246-CF941735259F}"/>
              </a:ext>
            </a:extLst>
          </p:cNvPr>
          <p:cNvGraphicFramePr>
            <a:graphicFrameLocks noGrp="1"/>
          </p:cNvGraphicFramePr>
          <p:nvPr>
            <p:extLst>
              <p:ext uri="{D42A27DB-BD31-4B8C-83A1-F6EECF244321}">
                <p14:modId xmlns:p14="http://schemas.microsoft.com/office/powerpoint/2010/main" val="3180366253"/>
              </p:ext>
            </p:extLst>
          </p:nvPr>
        </p:nvGraphicFramePr>
        <p:xfrm>
          <a:off x="3631448" y="1388992"/>
          <a:ext cx="7990261" cy="2986627"/>
        </p:xfrm>
        <a:graphic>
          <a:graphicData uri="http://schemas.openxmlformats.org/drawingml/2006/table">
            <a:tbl>
              <a:tblPr firstRow="1" firstCol="1" bandRow="1">
                <a:tableStyleId>{5C22544A-7EE6-4342-B048-85BDC9FD1C3A}</a:tableStyleId>
              </a:tblPr>
              <a:tblGrid>
                <a:gridCol w="2195872">
                  <a:extLst>
                    <a:ext uri="{9D8B030D-6E8A-4147-A177-3AD203B41FA5}">
                      <a16:colId xmlns:a16="http://schemas.microsoft.com/office/drawing/2014/main" val="3025451464"/>
                    </a:ext>
                  </a:extLst>
                </a:gridCol>
                <a:gridCol w="3763070">
                  <a:extLst>
                    <a:ext uri="{9D8B030D-6E8A-4147-A177-3AD203B41FA5}">
                      <a16:colId xmlns:a16="http://schemas.microsoft.com/office/drawing/2014/main" val="4041548741"/>
                    </a:ext>
                  </a:extLst>
                </a:gridCol>
                <a:gridCol w="2031319">
                  <a:extLst>
                    <a:ext uri="{9D8B030D-6E8A-4147-A177-3AD203B41FA5}">
                      <a16:colId xmlns:a16="http://schemas.microsoft.com/office/drawing/2014/main" val="1400728100"/>
                    </a:ext>
                  </a:extLst>
                </a:gridCol>
              </a:tblGrid>
              <a:tr h="151270">
                <a:tc>
                  <a:txBody>
                    <a:bodyPr/>
                    <a:lstStyle/>
                    <a:p>
                      <a:pPr marL="0" marR="0">
                        <a:lnSpc>
                          <a:spcPct val="107000"/>
                        </a:lnSpc>
                        <a:spcAft>
                          <a:spcPts val="800"/>
                        </a:spcAft>
                        <a:buNone/>
                      </a:pPr>
                      <a:r>
                        <a:rPr lang="en-US" sz="1400">
                          <a:effectLst/>
                        </a:rPr>
                        <a:t>User/Customer Need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400">
                          <a:effectLst/>
                        </a:rPr>
                        <a:t>Design Specification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400">
                          <a:effectLst/>
                        </a:rPr>
                        <a:t>Source/Evidence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3070824973"/>
                  </a:ext>
                </a:extLst>
              </a:tr>
              <a:tr h="283893">
                <a:tc>
                  <a:txBody>
                    <a:bodyPr/>
                    <a:lstStyle/>
                    <a:p>
                      <a:pPr marL="0" marR="0" algn="l">
                        <a:lnSpc>
                          <a:spcPct val="107000"/>
                        </a:lnSpc>
                        <a:spcAft>
                          <a:spcPts val="800"/>
                        </a:spcAft>
                        <a:buNone/>
                      </a:pPr>
                      <a:r>
                        <a:rPr lang="en-US" sz="1400">
                          <a:effectLst/>
                          <a:latin typeface="+mn-lt"/>
                        </a:rPr>
                        <a:t>Sterilizable</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Maintain original device sterility; compatible with standard hospital sterilization processes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CDC Infection Control, ANSI/AAMI ST79, ISO 17665/11135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1757153212"/>
                  </a:ext>
                </a:extLst>
              </a:tr>
              <a:tr h="290384">
                <a:tc>
                  <a:txBody>
                    <a:bodyPr/>
                    <a:lstStyle/>
                    <a:p>
                      <a:pPr marL="0" marR="0" algn="l">
                        <a:lnSpc>
                          <a:spcPct val="107000"/>
                        </a:lnSpc>
                        <a:spcAft>
                          <a:spcPts val="800"/>
                        </a:spcAft>
                        <a:buNone/>
                      </a:pPr>
                      <a:r>
                        <a:rPr lang="en-US" sz="1400">
                          <a:effectLst/>
                          <a:latin typeface="+mn-lt"/>
                        </a:rPr>
                        <a:t>Biocompatible components</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All tissue-contacting components must be medical-grade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FDA Biocompatibility Guidance, ISO 10993-1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1892181876"/>
                  </a:ext>
                </a:extLst>
              </a:tr>
              <a:tr h="427024">
                <a:tc>
                  <a:txBody>
                    <a:bodyPr/>
                    <a:lstStyle/>
                    <a:p>
                      <a:pPr marL="0" marR="0" algn="l">
                        <a:lnSpc>
                          <a:spcPct val="107000"/>
                        </a:lnSpc>
                        <a:spcAft>
                          <a:spcPts val="800"/>
                        </a:spcAft>
                        <a:buNone/>
                      </a:pPr>
                      <a:r>
                        <a:rPr lang="en-US" sz="1400">
                          <a:effectLst/>
                          <a:latin typeface="+mn-lt"/>
                        </a:rPr>
                        <a:t>Fail-safe operation</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Retractor retains full mechanical function in the event of electronic or sensor failure</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ISO 14971, IEC 60601-1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990566570"/>
                  </a:ext>
                </a:extLst>
              </a:tr>
              <a:tr h="427024">
                <a:tc>
                  <a:txBody>
                    <a:bodyPr/>
                    <a:lstStyle/>
                    <a:p>
                      <a:pPr marL="0" marR="0" algn="l">
                        <a:lnSpc>
                          <a:spcPct val="107000"/>
                        </a:lnSpc>
                        <a:spcAft>
                          <a:spcPts val="800"/>
                        </a:spcAft>
                        <a:buNone/>
                      </a:pPr>
                      <a:r>
                        <a:rPr lang="en-US" sz="1400">
                          <a:effectLst/>
                          <a:latin typeface="+mn-lt"/>
                        </a:rPr>
                        <a:t>Maintain blade profile </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Blade geometry and mechanical performance matches original retractors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200">
                          <a:effectLst/>
                        </a:rPr>
                        <a:t>Mentor Feedback</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301822305"/>
                  </a:ext>
                </a:extLst>
              </a:tr>
              <a:tr h="234515">
                <a:tc>
                  <a:txBody>
                    <a:bodyPr/>
                    <a:lstStyle/>
                    <a:p>
                      <a:pPr marL="0" marR="0" algn="l">
                        <a:lnSpc>
                          <a:spcPct val="107000"/>
                        </a:lnSpc>
                        <a:spcAft>
                          <a:spcPts val="800"/>
                        </a:spcAft>
                        <a:buNone/>
                      </a:pPr>
                      <a:r>
                        <a:rPr lang="en-US" sz="1400">
                          <a:effectLst/>
                          <a:latin typeface="+mn-lt"/>
                          <a:ea typeface="Calibri" panose="020F0502020204030204" pitchFamily="34" charset="0"/>
                          <a:cs typeface="Arial" panose="020B0604020202020204" pitchFamily="34" charset="0"/>
                        </a:rPr>
                        <a:t>Battery life</a:t>
                      </a:r>
                    </a:p>
                  </a:txBody>
                  <a:tcPr marL="40248" marR="40248" marT="0" marB="0" anchor="ctr">
                    <a:lnB w="12700" cap="flat" cmpd="sng" algn="ctr">
                      <a:solidFill>
                        <a:schemeClr val="tx1"/>
                      </a:solidFill>
                      <a:prstDash val="solid"/>
                      <a:round/>
                      <a:headEnd type="none" w="med" len="med"/>
                      <a:tailEnd type="none" w="med" len="med"/>
                    </a:lnB>
                    <a:solidFill>
                      <a:schemeClr val="accent6"/>
                    </a:solidFill>
                  </a:tcPr>
                </a:tc>
                <a:tc>
                  <a:txBody>
                    <a:bodyPr/>
                    <a:lstStyle/>
                    <a:p>
                      <a:pPr marL="0" marR="0">
                        <a:lnSpc>
                          <a:spcPct val="107000"/>
                        </a:lnSpc>
                        <a:spcAft>
                          <a:spcPts val="800"/>
                        </a:spcAft>
                        <a:buNone/>
                      </a:pPr>
                      <a:r>
                        <a:rPr lang="en-US" sz="1200"/>
                        <a:t>System must operate continuously for &gt; 4 hours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tc>
                  <a:txBody>
                    <a:bodyPr/>
                    <a:lstStyle/>
                    <a:p>
                      <a:pPr marL="0" marR="0">
                        <a:lnSpc>
                          <a:spcPct val="107000"/>
                        </a:lnSpc>
                        <a:spcAft>
                          <a:spcPts val="800"/>
                        </a:spcAft>
                        <a:buNone/>
                      </a:pPr>
                      <a:r>
                        <a:rPr lang="en-US" sz="1200"/>
                        <a:t>IEC 60601-1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877776"/>
                  </a:ext>
                </a:extLst>
              </a:tr>
              <a:tr h="391721">
                <a:tc>
                  <a:txBody>
                    <a:bodyPr/>
                    <a:lstStyle/>
                    <a:p>
                      <a:pPr marL="0" marR="0" algn="l">
                        <a:lnSpc>
                          <a:spcPct val="107000"/>
                        </a:lnSpc>
                        <a:spcAft>
                          <a:spcPts val="800"/>
                        </a:spcAft>
                        <a:buNone/>
                      </a:pPr>
                      <a:r>
                        <a:rPr lang="en-US" sz="1400">
                          <a:effectLst/>
                          <a:latin typeface="+mn-lt"/>
                        </a:rPr>
                        <a:t>Sensitive detection</a:t>
                      </a:r>
                      <a:endParaRPr lang="en-US" sz="1400">
                        <a:effectLst/>
                        <a:latin typeface="+mn-lt"/>
                        <a:ea typeface="Calibri" panose="020F0502020204030204" pitchFamily="34" charset="0"/>
                        <a:cs typeface="Arial" panose="020B0604020202020204" pitchFamily="34" charset="0"/>
                      </a:endParaRPr>
                    </a:p>
                  </a:txBody>
                  <a:tcPr marL="40248" marR="40248" marT="0" marB="0" anchor="ctr">
                    <a:lnT w="12700" cap="flat" cmpd="sng" algn="ctr">
                      <a:solidFill>
                        <a:schemeClr val="tx1"/>
                      </a:solidFill>
                      <a:prstDash val="solid"/>
                      <a:round/>
                      <a:headEnd type="none" w="med" len="med"/>
                      <a:tailEnd type="none" w="med" len="med"/>
                    </a:lnT>
                    <a:solidFill>
                      <a:schemeClr val="accent6"/>
                    </a:solidFill>
                  </a:tcPr>
                </a:tc>
                <a:tc>
                  <a:txBody>
                    <a:bodyPr/>
                    <a:lstStyle/>
                    <a:p>
                      <a:pPr marL="0" marR="0">
                        <a:lnSpc>
                          <a:spcPct val="107000"/>
                        </a:lnSpc>
                        <a:spcAft>
                          <a:spcPts val="800"/>
                        </a:spcAft>
                        <a:buNone/>
                      </a:pPr>
                      <a:r>
                        <a:rPr lang="en-US" sz="1200"/>
                        <a:t>Sensors detect forces </a:t>
                      </a:r>
                      <a:r>
                        <a:rPr lang="en-US" sz="1200" b="0"/>
                        <a:t>&lt; 0.05 N </a:t>
                      </a:r>
                      <a:r>
                        <a:rPr lang="en-US" sz="1200"/>
                        <a:t>and capture the full biologically relevant range (1-10 N)</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T w="19050" cap="flat" cmpd="sng" algn="ctr">
                      <a:solidFill>
                        <a:schemeClr val="tx1"/>
                      </a:solidFill>
                      <a:prstDash val="solid"/>
                      <a:round/>
                      <a:headEnd type="none" w="med" len="med"/>
                      <a:tailEnd type="none" w="med" len="med"/>
                    </a:lnT>
                  </a:tcPr>
                </a:tc>
                <a:tc>
                  <a:txBody>
                    <a:bodyPr/>
                    <a:lstStyle/>
                    <a:p>
                      <a:pPr marL="0" marR="0">
                        <a:lnSpc>
                          <a:spcPct val="107000"/>
                        </a:lnSpc>
                        <a:spcAft>
                          <a:spcPts val="800"/>
                        </a:spcAft>
                        <a:buNone/>
                      </a:pPr>
                      <a:r>
                        <a:rPr lang="en-US" sz="1200">
                          <a:effectLst/>
                        </a:rPr>
                        <a:t>Literature Review</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97250617"/>
                  </a:ext>
                </a:extLst>
              </a:tr>
              <a:tr h="257551">
                <a:tc>
                  <a:txBody>
                    <a:bodyPr/>
                    <a:lstStyle/>
                    <a:p>
                      <a:pPr marL="0" marR="0" algn="l">
                        <a:lnSpc>
                          <a:spcPct val="107000"/>
                        </a:lnSpc>
                        <a:spcAft>
                          <a:spcPts val="800"/>
                        </a:spcAft>
                        <a:buNone/>
                      </a:pPr>
                      <a:r>
                        <a:rPr lang="en-US" sz="1400">
                          <a:effectLst/>
                          <a:latin typeface="+mn-lt"/>
                        </a:rPr>
                        <a:t>Real-time feedback</a:t>
                      </a:r>
                      <a:endParaRPr lang="en-US" sz="1400">
                        <a:effectLst/>
                        <a:latin typeface="+mn-lt"/>
                        <a:ea typeface="Calibri" panose="020F0502020204030204" pitchFamily="34" charset="0"/>
                        <a:cs typeface="Arial" panose="020B0604020202020204" pitchFamily="34" charset="0"/>
                      </a:endParaRPr>
                    </a:p>
                  </a:txBody>
                  <a:tcPr marL="40248" marR="40248" marT="0" marB="0" anchor="ctr">
                    <a:lnB w="12700" cap="flat" cmpd="sng" algn="ctr">
                      <a:solidFill>
                        <a:schemeClr val="tx1"/>
                      </a:solidFill>
                      <a:prstDash val="solid"/>
                      <a:round/>
                      <a:headEnd type="none" w="med" len="med"/>
                      <a:tailEnd type="none" w="med" len="med"/>
                    </a:lnB>
                    <a:solidFill>
                      <a:schemeClr val="accent6"/>
                    </a:solidFill>
                  </a:tcPr>
                </a:tc>
                <a:tc>
                  <a:txBody>
                    <a:bodyPr/>
                    <a:lstStyle/>
                    <a:p>
                      <a:pPr marL="0" marR="0">
                        <a:lnSpc>
                          <a:spcPct val="107000"/>
                        </a:lnSpc>
                        <a:spcAft>
                          <a:spcPts val="800"/>
                        </a:spcAft>
                        <a:buNone/>
                      </a:pPr>
                      <a:r>
                        <a:rPr lang="en-US" sz="1200"/>
                        <a:t>Continuous, low-latency (&lt;100–200 </a:t>
                      </a:r>
                      <a:r>
                        <a:rPr lang="en-US" sz="1200" err="1"/>
                        <a:t>ms</a:t>
                      </a:r>
                      <a:r>
                        <a:rPr lang="en-US" sz="1200"/>
                        <a:t>) sensor updates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tc>
                  <a:txBody>
                    <a:bodyPr/>
                    <a:lstStyle/>
                    <a:p>
                      <a:pPr marL="0" marR="0">
                        <a:lnSpc>
                          <a:spcPct val="107000"/>
                        </a:lnSpc>
                        <a:spcAft>
                          <a:spcPts val="800"/>
                        </a:spcAft>
                        <a:buNone/>
                      </a:pPr>
                      <a:r>
                        <a:rPr lang="en-US" sz="1200"/>
                        <a:t>IEC 62366-1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7230740"/>
                  </a:ext>
                </a:extLst>
              </a:tr>
            </a:tbl>
          </a:graphicData>
        </a:graphic>
      </p:graphicFrame>
      <p:sp>
        <p:nvSpPr>
          <p:cNvPr id="4" name="Rectangle 3">
            <a:extLst>
              <a:ext uri="{FF2B5EF4-FFF2-40B4-BE49-F238E27FC236}">
                <a16:creationId xmlns:a16="http://schemas.microsoft.com/office/drawing/2014/main" id="{1C952E67-036D-32B5-543E-75426315D0D8}"/>
              </a:ext>
            </a:extLst>
          </p:cNvPr>
          <p:cNvSpPr/>
          <p:nvPr/>
        </p:nvSpPr>
        <p:spPr>
          <a:xfrm>
            <a:off x="4478743" y="2766058"/>
            <a:ext cx="1276874"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Left Brace 5">
            <a:extLst>
              <a:ext uri="{FF2B5EF4-FFF2-40B4-BE49-F238E27FC236}">
                <a16:creationId xmlns:a16="http://schemas.microsoft.com/office/drawing/2014/main" id="{CF35D942-2B66-ACD8-ECBB-8D051A364388}"/>
              </a:ext>
            </a:extLst>
          </p:cNvPr>
          <p:cNvSpPr/>
          <p:nvPr/>
        </p:nvSpPr>
        <p:spPr>
          <a:xfrm>
            <a:off x="3151386" y="1915152"/>
            <a:ext cx="255375" cy="1701812"/>
          </a:xfrm>
          <a:prstGeom prst="leftBrace">
            <a:avLst>
              <a:gd name="adj1" fmla="val 0"/>
              <a:gd name="adj2" fmla="val 49639"/>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grpSp>
        <p:nvGrpSpPr>
          <p:cNvPr id="9" name="Group 8">
            <a:extLst>
              <a:ext uri="{FF2B5EF4-FFF2-40B4-BE49-F238E27FC236}">
                <a16:creationId xmlns:a16="http://schemas.microsoft.com/office/drawing/2014/main" id="{42956A4E-5868-AE56-D9DB-CE0F600C70D3}"/>
              </a:ext>
            </a:extLst>
          </p:cNvPr>
          <p:cNvGrpSpPr/>
          <p:nvPr/>
        </p:nvGrpSpPr>
        <p:grpSpPr>
          <a:xfrm>
            <a:off x="157908" y="2099223"/>
            <a:ext cx="6947080" cy="1765567"/>
            <a:chOff x="-4266304" y="66266"/>
            <a:chExt cx="6947080" cy="1765567"/>
          </a:xfrm>
        </p:grpSpPr>
        <p:sp>
          <p:nvSpPr>
            <p:cNvPr id="10" name="Rectangle 9">
              <a:extLst>
                <a:ext uri="{FF2B5EF4-FFF2-40B4-BE49-F238E27FC236}">
                  <a16:creationId xmlns:a16="http://schemas.microsoft.com/office/drawing/2014/main" id="{9F56A4F1-C44B-4100-DCF9-31E49C6CBCBA}"/>
                </a:ext>
              </a:extLst>
            </p:cNvPr>
            <p:cNvSpPr/>
            <p:nvPr/>
          </p:nvSpPr>
          <p:spPr>
            <a:xfrm>
              <a:off x="0" y="544833"/>
              <a:ext cx="2680776"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TextBox 10">
              <a:extLst>
                <a:ext uri="{FF2B5EF4-FFF2-40B4-BE49-F238E27FC236}">
                  <a16:creationId xmlns:a16="http://schemas.microsoft.com/office/drawing/2014/main" id="{783EFE89-9126-9764-A4CB-EA435AC3A5B9}"/>
                </a:ext>
              </a:extLst>
            </p:cNvPr>
            <p:cNvSpPr txBox="1"/>
            <p:nvPr/>
          </p:nvSpPr>
          <p:spPr>
            <a:xfrm>
              <a:off x="-4266304" y="66266"/>
              <a:ext cx="2680776"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kern="1200"/>
                <a:t>Safety and Essential Performance</a:t>
              </a:r>
            </a:p>
          </p:txBody>
        </p:sp>
      </p:grpSp>
      <p:sp>
        <p:nvSpPr>
          <p:cNvPr id="12" name="TextBox 11">
            <a:extLst>
              <a:ext uri="{FF2B5EF4-FFF2-40B4-BE49-F238E27FC236}">
                <a16:creationId xmlns:a16="http://schemas.microsoft.com/office/drawing/2014/main" id="{7BCAF6F5-B8E8-3207-1162-897DCC44AF8B}"/>
              </a:ext>
            </a:extLst>
          </p:cNvPr>
          <p:cNvSpPr txBox="1"/>
          <p:nvPr/>
        </p:nvSpPr>
        <p:spPr>
          <a:xfrm>
            <a:off x="345469" y="3490157"/>
            <a:ext cx="2490651" cy="11258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kern="1200"/>
              <a:t>Functional Performance</a:t>
            </a:r>
          </a:p>
        </p:txBody>
      </p:sp>
      <p:sp>
        <p:nvSpPr>
          <p:cNvPr id="15" name="Left Brace 14">
            <a:extLst>
              <a:ext uri="{FF2B5EF4-FFF2-40B4-BE49-F238E27FC236}">
                <a16:creationId xmlns:a16="http://schemas.microsoft.com/office/drawing/2014/main" id="{FEE98771-1ED8-C2CA-CA3C-46D4BB10CBBB}"/>
              </a:ext>
            </a:extLst>
          </p:cNvPr>
          <p:cNvSpPr/>
          <p:nvPr/>
        </p:nvSpPr>
        <p:spPr>
          <a:xfrm>
            <a:off x="3151385" y="3812487"/>
            <a:ext cx="255375" cy="481141"/>
          </a:xfrm>
          <a:prstGeom prst="leftBrace">
            <a:avLst>
              <a:gd name="adj1" fmla="val 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6" name="Title 1">
            <a:extLst>
              <a:ext uri="{FF2B5EF4-FFF2-40B4-BE49-F238E27FC236}">
                <a16:creationId xmlns:a16="http://schemas.microsoft.com/office/drawing/2014/main" id="{857D217F-C70E-D40D-A9E8-E2517A1DE9D0}"/>
              </a:ext>
            </a:extLst>
          </p:cNvPr>
          <p:cNvSpPr txBox="1">
            <a:spLocks/>
          </p:cNvSpPr>
          <p:nvPr/>
        </p:nvSpPr>
        <p:spPr>
          <a:xfrm>
            <a:off x="838200" y="365126"/>
            <a:ext cx="10515600" cy="7063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Design Specifications</a:t>
            </a:r>
          </a:p>
        </p:txBody>
      </p:sp>
    </p:spTree>
    <p:extLst>
      <p:ext uri="{BB962C8B-B14F-4D97-AF65-F5344CB8AC3E}">
        <p14:creationId xmlns:p14="http://schemas.microsoft.com/office/powerpoint/2010/main" val="1038858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90929-7A23-2041-5FDE-3D96C306CA4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7E0FB31-2072-111C-23C6-1C5B52B13687}"/>
              </a:ext>
            </a:extLst>
          </p:cNvPr>
          <p:cNvGraphicFramePr>
            <a:graphicFrameLocks noGrp="1"/>
          </p:cNvGraphicFramePr>
          <p:nvPr>
            <p:extLst>
              <p:ext uri="{D42A27DB-BD31-4B8C-83A1-F6EECF244321}">
                <p14:modId xmlns:p14="http://schemas.microsoft.com/office/powerpoint/2010/main" val="4223996650"/>
              </p:ext>
            </p:extLst>
          </p:nvPr>
        </p:nvGraphicFramePr>
        <p:xfrm>
          <a:off x="3631448" y="1388992"/>
          <a:ext cx="7990261" cy="5157623"/>
        </p:xfrm>
        <a:graphic>
          <a:graphicData uri="http://schemas.openxmlformats.org/drawingml/2006/table">
            <a:tbl>
              <a:tblPr firstRow="1" firstCol="1" bandRow="1">
                <a:tableStyleId>{5C22544A-7EE6-4342-B048-85BDC9FD1C3A}</a:tableStyleId>
              </a:tblPr>
              <a:tblGrid>
                <a:gridCol w="2195872">
                  <a:extLst>
                    <a:ext uri="{9D8B030D-6E8A-4147-A177-3AD203B41FA5}">
                      <a16:colId xmlns:a16="http://schemas.microsoft.com/office/drawing/2014/main" val="3025451464"/>
                    </a:ext>
                  </a:extLst>
                </a:gridCol>
                <a:gridCol w="3763070">
                  <a:extLst>
                    <a:ext uri="{9D8B030D-6E8A-4147-A177-3AD203B41FA5}">
                      <a16:colId xmlns:a16="http://schemas.microsoft.com/office/drawing/2014/main" val="4041548741"/>
                    </a:ext>
                  </a:extLst>
                </a:gridCol>
                <a:gridCol w="2031319">
                  <a:extLst>
                    <a:ext uri="{9D8B030D-6E8A-4147-A177-3AD203B41FA5}">
                      <a16:colId xmlns:a16="http://schemas.microsoft.com/office/drawing/2014/main" val="1400728100"/>
                    </a:ext>
                  </a:extLst>
                </a:gridCol>
              </a:tblGrid>
              <a:tr h="151270">
                <a:tc>
                  <a:txBody>
                    <a:bodyPr/>
                    <a:lstStyle/>
                    <a:p>
                      <a:pPr marL="0" marR="0">
                        <a:lnSpc>
                          <a:spcPct val="107000"/>
                        </a:lnSpc>
                        <a:spcAft>
                          <a:spcPts val="800"/>
                        </a:spcAft>
                        <a:buNone/>
                      </a:pPr>
                      <a:r>
                        <a:rPr lang="en-US" sz="1400">
                          <a:effectLst/>
                        </a:rPr>
                        <a:t>User/Customer Need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400">
                          <a:effectLst/>
                        </a:rPr>
                        <a:t>Design Specification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400">
                          <a:effectLst/>
                        </a:rPr>
                        <a:t>Source/Evidence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3070824973"/>
                  </a:ext>
                </a:extLst>
              </a:tr>
              <a:tr h="283893">
                <a:tc>
                  <a:txBody>
                    <a:bodyPr/>
                    <a:lstStyle/>
                    <a:p>
                      <a:pPr marL="0" marR="0" algn="l">
                        <a:lnSpc>
                          <a:spcPct val="107000"/>
                        </a:lnSpc>
                        <a:spcAft>
                          <a:spcPts val="800"/>
                        </a:spcAft>
                        <a:buNone/>
                      </a:pPr>
                      <a:r>
                        <a:rPr lang="en-US" sz="1400">
                          <a:effectLst/>
                          <a:latin typeface="+mn-lt"/>
                        </a:rPr>
                        <a:t>Sterilizable</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Maintain original device sterility; compatible with standard hospital sterilization processes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CDC Infection Control, ANSI/AAMI ST79, ISO 17665/11135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1757153212"/>
                  </a:ext>
                </a:extLst>
              </a:tr>
              <a:tr h="290384">
                <a:tc>
                  <a:txBody>
                    <a:bodyPr/>
                    <a:lstStyle/>
                    <a:p>
                      <a:pPr marL="0" marR="0" algn="l">
                        <a:lnSpc>
                          <a:spcPct val="107000"/>
                        </a:lnSpc>
                        <a:spcAft>
                          <a:spcPts val="800"/>
                        </a:spcAft>
                        <a:buNone/>
                      </a:pPr>
                      <a:r>
                        <a:rPr lang="en-US" sz="1400">
                          <a:effectLst/>
                          <a:latin typeface="+mn-lt"/>
                        </a:rPr>
                        <a:t>Biocompatible components</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All tissue-contacting components must be medical-grade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FDA Biocompatibility Guidance, ISO 10993-1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1892181876"/>
                  </a:ext>
                </a:extLst>
              </a:tr>
              <a:tr h="427024">
                <a:tc>
                  <a:txBody>
                    <a:bodyPr/>
                    <a:lstStyle/>
                    <a:p>
                      <a:pPr marL="0" marR="0" algn="l">
                        <a:lnSpc>
                          <a:spcPct val="107000"/>
                        </a:lnSpc>
                        <a:spcAft>
                          <a:spcPts val="800"/>
                        </a:spcAft>
                        <a:buNone/>
                      </a:pPr>
                      <a:r>
                        <a:rPr lang="en-US" sz="1400">
                          <a:effectLst/>
                          <a:latin typeface="+mn-lt"/>
                        </a:rPr>
                        <a:t>Fail-safe operation</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Retractor retains full mechanical function in the event of electronic or sensor failure</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lvl="0" indent="0">
                        <a:lnSpc>
                          <a:spcPct val="107000"/>
                        </a:lnSpc>
                        <a:buFont typeface="Symbol" panose="05050102010706020507" pitchFamily="18" charset="2"/>
                        <a:buNone/>
                      </a:pPr>
                      <a:r>
                        <a:rPr lang="en-US" sz="1200">
                          <a:effectLst/>
                        </a:rPr>
                        <a:t>ISO 14971, IEC 60601-1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990566570"/>
                  </a:ext>
                </a:extLst>
              </a:tr>
              <a:tr h="427024">
                <a:tc>
                  <a:txBody>
                    <a:bodyPr/>
                    <a:lstStyle/>
                    <a:p>
                      <a:pPr marL="0" marR="0" algn="l">
                        <a:lnSpc>
                          <a:spcPct val="107000"/>
                        </a:lnSpc>
                        <a:spcAft>
                          <a:spcPts val="800"/>
                        </a:spcAft>
                        <a:buNone/>
                      </a:pPr>
                      <a:r>
                        <a:rPr lang="en-US" sz="1400">
                          <a:effectLst/>
                          <a:latin typeface="+mn-lt"/>
                        </a:rPr>
                        <a:t>Maintain blade profile </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chemeClr val="accent6"/>
                    </a:solidFill>
                  </a:tcPr>
                </a:tc>
                <a:tc>
                  <a:txBody>
                    <a:bodyPr/>
                    <a:lstStyle/>
                    <a:p>
                      <a:pPr marL="0" marR="0">
                        <a:lnSpc>
                          <a:spcPct val="107000"/>
                        </a:lnSpc>
                        <a:spcAft>
                          <a:spcPts val="800"/>
                        </a:spcAft>
                        <a:buNone/>
                      </a:pPr>
                      <a:r>
                        <a:rPr lang="en-US" sz="1200"/>
                        <a:t>Blade geometry and mechanical performance matches original retractors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200">
                          <a:effectLst/>
                        </a:rPr>
                        <a:t>Mentor Feedback</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301822305"/>
                  </a:ext>
                </a:extLst>
              </a:tr>
              <a:tr h="234515">
                <a:tc>
                  <a:txBody>
                    <a:bodyPr/>
                    <a:lstStyle/>
                    <a:p>
                      <a:pPr marL="0" marR="0" algn="l">
                        <a:lnSpc>
                          <a:spcPct val="107000"/>
                        </a:lnSpc>
                        <a:spcAft>
                          <a:spcPts val="800"/>
                        </a:spcAft>
                        <a:buNone/>
                      </a:pPr>
                      <a:r>
                        <a:rPr lang="en-US" sz="1400">
                          <a:effectLst/>
                          <a:latin typeface="+mn-lt"/>
                          <a:ea typeface="Calibri" panose="020F0502020204030204" pitchFamily="34" charset="0"/>
                          <a:cs typeface="Arial" panose="020B0604020202020204" pitchFamily="34" charset="0"/>
                        </a:rPr>
                        <a:t>Battery life</a:t>
                      </a:r>
                    </a:p>
                  </a:txBody>
                  <a:tcPr marL="40248" marR="40248" marT="0" marB="0" anchor="ctr">
                    <a:lnB w="12700" cap="flat" cmpd="sng" algn="ctr">
                      <a:solidFill>
                        <a:schemeClr val="tx1"/>
                      </a:solidFill>
                      <a:prstDash val="solid"/>
                      <a:round/>
                      <a:headEnd type="none" w="med" len="med"/>
                      <a:tailEnd type="none" w="med" len="med"/>
                    </a:lnB>
                    <a:solidFill>
                      <a:schemeClr val="accent6"/>
                    </a:solidFill>
                  </a:tcPr>
                </a:tc>
                <a:tc>
                  <a:txBody>
                    <a:bodyPr/>
                    <a:lstStyle/>
                    <a:p>
                      <a:pPr marL="0" marR="0">
                        <a:lnSpc>
                          <a:spcPct val="107000"/>
                        </a:lnSpc>
                        <a:spcAft>
                          <a:spcPts val="800"/>
                        </a:spcAft>
                        <a:buNone/>
                      </a:pPr>
                      <a:r>
                        <a:rPr lang="en-US" sz="1200"/>
                        <a:t>System must operate continuously for &gt; 4 hours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tc>
                  <a:txBody>
                    <a:bodyPr/>
                    <a:lstStyle/>
                    <a:p>
                      <a:pPr marL="0" marR="0">
                        <a:lnSpc>
                          <a:spcPct val="107000"/>
                        </a:lnSpc>
                        <a:spcAft>
                          <a:spcPts val="800"/>
                        </a:spcAft>
                        <a:buNone/>
                      </a:pPr>
                      <a:r>
                        <a:rPr lang="en-US" sz="1200"/>
                        <a:t>IEC 60601-1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877776"/>
                  </a:ext>
                </a:extLst>
              </a:tr>
              <a:tr h="391721">
                <a:tc>
                  <a:txBody>
                    <a:bodyPr/>
                    <a:lstStyle/>
                    <a:p>
                      <a:pPr marL="0" marR="0" algn="l">
                        <a:lnSpc>
                          <a:spcPct val="107000"/>
                        </a:lnSpc>
                        <a:spcAft>
                          <a:spcPts val="800"/>
                        </a:spcAft>
                        <a:buNone/>
                      </a:pPr>
                      <a:r>
                        <a:rPr lang="en-US" sz="1400">
                          <a:effectLst/>
                          <a:latin typeface="+mn-lt"/>
                        </a:rPr>
                        <a:t>Sensitive detection</a:t>
                      </a:r>
                      <a:endParaRPr lang="en-US" sz="1400">
                        <a:effectLst/>
                        <a:latin typeface="+mn-lt"/>
                        <a:ea typeface="Calibri" panose="020F0502020204030204" pitchFamily="34" charset="0"/>
                        <a:cs typeface="Arial" panose="020B0604020202020204" pitchFamily="34" charset="0"/>
                      </a:endParaRPr>
                    </a:p>
                  </a:txBody>
                  <a:tcPr marL="40248" marR="40248" marT="0" marB="0" anchor="ctr">
                    <a:lnT w="12700" cap="flat" cmpd="sng" algn="ctr">
                      <a:solidFill>
                        <a:schemeClr val="tx1"/>
                      </a:solidFill>
                      <a:prstDash val="solid"/>
                      <a:round/>
                      <a:headEnd type="none" w="med" len="med"/>
                      <a:tailEnd type="none" w="med" len="med"/>
                    </a:lnT>
                    <a:solidFill>
                      <a:schemeClr val="accent6"/>
                    </a:solidFill>
                  </a:tcPr>
                </a:tc>
                <a:tc>
                  <a:txBody>
                    <a:bodyPr/>
                    <a:lstStyle/>
                    <a:p>
                      <a:pPr marL="0" marR="0">
                        <a:lnSpc>
                          <a:spcPct val="107000"/>
                        </a:lnSpc>
                        <a:spcAft>
                          <a:spcPts val="800"/>
                        </a:spcAft>
                        <a:buNone/>
                      </a:pPr>
                      <a:r>
                        <a:rPr lang="en-US" sz="1200"/>
                        <a:t>Sensors detect forces </a:t>
                      </a:r>
                      <a:r>
                        <a:rPr lang="en-US" sz="1200" b="0"/>
                        <a:t>&lt; 0.05 N </a:t>
                      </a:r>
                      <a:r>
                        <a:rPr lang="en-US" sz="1200"/>
                        <a:t>and capture the full biologically relevant range (1-10 N)</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T w="19050" cap="flat" cmpd="sng" algn="ctr">
                      <a:solidFill>
                        <a:schemeClr val="tx1"/>
                      </a:solidFill>
                      <a:prstDash val="solid"/>
                      <a:round/>
                      <a:headEnd type="none" w="med" len="med"/>
                      <a:tailEnd type="none" w="med" len="med"/>
                    </a:lnT>
                  </a:tcPr>
                </a:tc>
                <a:tc>
                  <a:txBody>
                    <a:bodyPr/>
                    <a:lstStyle/>
                    <a:p>
                      <a:pPr marL="0" marR="0">
                        <a:lnSpc>
                          <a:spcPct val="107000"/>
                        </a:lnSpc>
                        <a:spcAft>
                          <a:spcPts val="800"/>
                        </a:spcAft>
                        <a:buNone/>
                      </a:pPr>
                      <a:r>
                        <a:rPr lang="en-US" sz="1200">
                          <a:effectLst/>
                        </a:rPr>
                        <a:t>Literature Review</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97250617"/>
                  </a:ext>
                </a:extLst>
              </a:tr>
              <a:tr h="257551">
                <a:tc>
                  <a:txBody>
                    <a:bodyPr/>
                    <a:lstStyle/>
                    <a:p>
                      <a:pPr marL="0" marR="0" algn="l">
                        <a:lnSpc>
                          <a:spcPct val="107000"/>
                        </a:lnSpc>
                        <a:spcAft>
                          <a:spcPts val="800"/>
                        </a:spcAft>
                        <a:buNone/>
                      </a:pPr>
                      <a:r>
                        <a:rPr lang="en-US" sz="1400">
                          <a:effectLst/>
                          <a:latin typeface="+mn-lt"/>
                        </a:rPr>
                        <a:t>Real-time feedback</a:t>
                      </a:r>
                      <a:endParaRPr lang="en-US" sz="1400">
                        <a:effectLst/>
                        <a:latin typeface="+mn-lt"/>
                        <a:ea typeface="Calibri" panose="020F0502020204030204" pitchFamily="34" charset="0"/>
                        <a:cs typeface="Arial" panose="020B0604020202020204" pitchFamily="34" charset="0"/>
                      </a:endParaRPr>
                    </a:p>
                  </a:txBody>
                  <a:tcPr marL="40248" marR="40248" marT="0" marB="0" anchor="ctr">
                    <a:lnB w="12700" cap="flat" cmpd="sng" algn="ctr">
                      <a:solidFill>
                        <a:schemeClr val="tx1"/>
                      </a:solidFill>
                      <a:prstDash val="solid"/>
                      <a:round/>
                      <a:headEnd type="none" w="med" len="med"/>
                      <a:tailEnd type="none" w="med" len="med"/>
                    </a:lnB>
                    <a:solidFill>
                      <a:schemeClr val="accent6"/>
                    </a:solidFill>
                  </a:tcPr>
                </a:tc>
                <a:tc>
                  <a:txBody>
                    <a:bodyPr/>
                    <a:lstStyle/>
                    <a:p>
                      <a:pPr marL="0" marR="0">
                        <a:lnSpc>
                          <a:spcPct val="107000"/>
                        </a:lnSpc>
                        <a:spcAft>
                          <a:spcPts val="800"/>
                        </a:spcAft>
                        <a:buNone/>
                      </a:pPr>
                      <a:r>
                        <a:rPr lang="en-US" sz="1200"/>
                        <a:t>Continuous, low-latency (&lt;100–200 </a:t>
                      </a:r>
                      <a:r>
                        <a:rPr lang="en-US" sz="1200" err="1"/>
                        <a:t>ms</a:t>
                      </a:r>
                      <a:r>
                        <a:rPr lang="en-US" sz="1200"/>
                        <a:t>) sensor updates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tc>
                  <a:txBody>
                    <a:bodyPr/>
                    <a:lstStyle/>
                    <a:p>
                      <a:pPr marL="0" marR="0">
                        <a:lnSpc>
                          <a:spcPct val="107000"/>
                        </a:lnSpc>
                        <a:spcAft>
                          <a:spcPts val="800"/>
                        </a:spcAft>
                        <a:buNone/>
                      </a:pPr>
                      <a:r>
                        <a:rPr lang="en-US" sz="1200"/>
                        <a:t>IEC 62366-1 </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7230740"/>
                  </a:ext>
                </a:extLst>
              </a:tr>
              <a:tr h="308287">
                <a:tc>
                  <a:txBody>
                    <a:bodyPr/>
                    <a:lstStyle/>
                    <a:p>
                      <a:pPr marL="0" marR="0" algn="l">
                        <a:lnSpc>
                          <a:spcPct val="107000"/>
                        </a:lnSpc>
                        <a:spcAft>
                          <a:spcPts val="800"/>
                        </a:spcAft>
                        <a:buNone/>
                      </a:pPr>
                      <a:r>
                        <a:rPr lang="en-US" sz="1400" b="1">
                          <a:solidFill>
                            <a:srgbClr val="FFFFFF"/>
                          </a:solidFill>
                          <a:effectLst/>
                          <a:latin typeface="+mn-lt"/>
                          <a:ea typeface="Times New Roman" panose="02020603050405020304" pitchFamily="18" charset="0"/>
                          <a:cs typeface="Arial" panose="020B0604020202020204" pitchFamily="34" charset="0"/>
                        </a:rPr>
                        <a:t>Compatible base components </a:t>
                      </a:r>
                      <a:endParaRPr lang="en-US" sz="1400" b="1">
                        <a:effectLst/>
                        <a:latin typeface="+mn-lt"/>
                        <a:ea typeface="Calibri" panose="020F0502020204030204" pitchFamily="34" charset="0"/>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solidFill>
                      <a:schemeClr val="accent6"/>
                    </a:solidFill>
                  </a:tcPr>
                </a:tc>
                <a:tc>
                  <a:txBody>
                    <a:bodyPr/>
                    <a:lstStyle/>
                    <a:p>
                      <a:pPr marL="0" marR="0">
                        <a:lnSpc>
                          <a:spcPct val="107000"/>
                        </a:lnSpc>
                        <a:spcAft>
                          <a:spcPts val="800"/>
                        </a:spcAft>
                        <a:buNone/>
                      </a:pPr>
                      <a:r>
                        <a:rPr lang="en-US" sz="1200"/>
                        <a:t>System components attach securely to the existing reusable retractor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68580" marR="68580" marT="0" marB="0">
                    <a:lnT w="19050" cap="flat" cmpd="sng" algn="ctr">
                      <a:solidFill>
                        <a:schemeClr val="tx1"/>
                      </a:solidFill>
                      <a:prstDash val="solid"/>
                      <a:round/>
                      <a:headEnd type="none" w="med" len="med"/>
                      <a:tailEnd type="none" w="med" len="med"/>
                    </a:lnT>
                  </a:tcPr>
                </a:tc>
                <a:tc>
                  <a:txBody>
                    <a:bodyPr/>
                    <a:lstStyle/>
                    <a:p>
                      <a:pPr marL="0" marR="0">
                        <a:lnSpc>
                          <a:spcPct val="107000"/>
                        </a:lnSpc>
                        <a:spcAft>
                          <a:spcPts val="800"/>
                        </a:spcAft>
                        <a:buNone/>
                      </a:pPr>
                      <a:r>
                        <a:rPr lang="en-US" sz="1200">
                          <a:effectLst/>
                          <a:latin typeface="Calibri" panose="020F0502020204030204" pitchFamily="34" charset="0"/>
                          <a:ea typeface="Calibri" panose="020F0502020204030204" pitchFamily="34" charset="0"/>
                          <a:cs typeface="Arial" panose="020B0604020202020204" pitchFamily="34" charset="0"/>
                        </a:rPr>
                        <a:t>Mentor Feedback</a:t>
                      </a:r>
                    </a:p>
                  </a:txBody>
                  <a:tcPr marL="68580" marR="68580" marT="0" marB="0">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75150587"/>
                  </a:ext>
                </a:extLst>
              </a:tr>
              <a:tr h="308287">
                <a:tc>
                  <a:txBody>
                    <a:bodyPr/>
                    <a:lstStyle/>
                    <a:p>
                      <a:pPr marL="0" marR="0" algn="l">
                        <a:lnSpc>
                          <a:spcPct val="107000"/>
                        </a:lnSpc>
                        <a:spcAft>
                          <a:spcPts val="800"/>
                        </a:spcAft>
                        <a:buNone/>
                      </a:pPr>
                      <a:r>
                        <a:rPr lang="en-US" sz="1400" b="1">
                          <a:effectLst/>
                          <a:latin typeface="+mn-lt"/>
                          <a:ea typeface="Calibri" panose="020F0502020204030204" pitchFamily="34" charset="0"/>
                          <a:cs typeface="Arial" panose="020B0604020202020204" pitchFamily="34" charset="0"/>
                        </a:rPr>
                        <a:t>Cable management </a:t>
                      </a:r>
                    </a:p>
                  </a:txBody>
                  <a:tcPr marL="68580" marR="68580" marT="0" marB="0" anchor="ctr">
                    <a:solidFill>
                      <a:schemeClr val="accent6"/>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i="0"/>
                        <a:t>Cables routed to avoid interference with surgical field </a:t>
                      </a:r>
                    </a:p>
                  </a:txBody>
                  <a:tcPr marL="68580" marR="68580" marT="0" marB="0"/>
                </a:tc>
                <a:tc>
                  <a:txBody>
                    <a:bodyPr/>
                    <a:lstStyle/>
                    <a:p>
                      <a:pPr marL="0" marR="0">
                        <a:lnSpc>
                          <a:spcPct val="107000"/>
                        </a:lnSpc>
                        <a:spcAft>
                          <a:spcPts val="800"/>
                        </a:spcAft>
                        <a:buNone/>
                      </a:pPr>
                      <a:r>
                        <a:rPr lang="en-US" sz="1200"/>
                        <a:t>IEC 62366-1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17917327"/>
                  </a:ext>
                </a:extLst>
              </a:tr>
              <a:tr h="399793">
                <a:tc>
                  <a:txBody>
                    <a:bodyPr/>
                    <a:lstStyle/>
                    <a:p>
                      <a:pPr marL="0" marR="0" algn="l">
                        <a:lnSpc>
                          <a:spcPct val="107000"/>
                        </a:lnSpc>
                        <a:spcAft>
                          <a:spcPts val="800"/>
                        </a:spcAft>
                        <a:buNone/>
                      </a:pPr>
                      <a:r>
                        <a:rPr lang="en-US" sz="1400">
                          <a:effectLst/>
                          <a:latin typeface="+mn-lt"/>
                        </a:rPr>
                        <a:t>Ergonomics match standard retractor </a:t>
                      </a:r>
                      <a:endParaRPr lang="en-US" sz="1400">
                        <a:effectLst/>
                        <a:latin typeface="+mn-lt"/>
                        <a:ea typeface="Calibri" panose="020F0502020204030204" pitchFamily="34" charset="0"/>
                        <a:cs typeface="Arial" panose="020B0604020202020204" pitchFamily="34" charset="0"/>
                      </a:endParaRPr>
                    </a:p>
                  </a:txBody>
                  <a:tcPr marL="40248" marR="40248" marT="0" marB="0" anchor="ctr">
                    <a:lnB w="19050" cap="flat" cmpd="sng" algn="ctr">
                      <a:solidFill>
                        <a:schemeClr val="tx1"/>
                      </a:solidFill>
                      <a:prstDash val="solid"/>
                      <a:round/>
                      <a:headEnd type="none" w="med" len="med"/>
                      <a:tailEnd type="none" w="med" len="med"/>
                    </a:lnB>
                    <a:solidFill>
                      <a:srgbClr val="FFC000"/>
                    </a:solidFill>
                  </a:tcPr>
                </a:tc>
                <a:tc>
                  <a:txBody>
                    <a:bodyPr/>
                    <a:lstStyle/>
                    <a:p>
                      <a:pPr marL="0" marR="0">
                        <a:lnSpc>
                          <a:spcPct val="107000"/>
                        </a:lnSpc>
                        <a:spcAft>
                          <a:spcPts val="800"/>
                        </a:spcAft>
                        <a:buNone/>
                      </a:pPr>
                      <a:r>
                        <a:rPr lang="en-US" sz="1200"/>
                        <a:t>Added system mass &lt; 0.25 </a:t>
                      </a:r>
                      <a:r>
                        <a:rPr lang="en-US" sz="1200" err="1"/>
                        <a:t>lb</a:t>
                      </a:r>
                      <a:r>
                        <a:rPr lang="en-US" sz="1200"/>
                        <a:t>; must preserve surgeon grip and maneuverability</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tc>
                  <a:txBody>
                    <a:bodyPr/>
                    <a:lstStyle/>
                    <a:p>
                      <a:pPr marL="0" marR="0">
                        <a:lnSpc>
                          <a:spcPct val="107000"/>
                        </a:lnSpc>
                        <a:spcAft>
                          <a:spcPts val="800"/>
                        </a:spcAft>
                        <a:buNone/>
                      </a:pPr>
                      <a:r>
                        <a:rPr lang="en-US" sz="1200"/>
                        <a:t>IEC 62366-1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039184"/>
                  </a:ext>
                </a:extLst>
              </a:tr>
              <a:tr h="212001">
                <a:tc>
                  <a:txBody>
                    <a:bodyPr/>
                    <a:lstStyle/>
                    <a:p>
                      <a:pPr marL="0" marR="0" algn="l">
                        <a:lnSpc>
                          <a:spcPct val="107000"/>
                        </a:lnSpc>
                        <a:spcAft>
                          <a:spcPts val="800"/>
                        </a:spcAft>
                        <a:buNone/>
                      </a:pPr>
                      <a:r>
                        <a:rPr lang="en-US" sz="1400">
                          <a:effectLst/>
                          <a:latin typeface="+mn-lt"/>
                        </a:rPr>
                        <a:t>Durability  </a:t>
                      </a:r>
                      <a:endParaRPr lang="en-US" sz="1400">
                        <a:effectLst/>
                        <a:latin typeface="+mn-lt"/>
                        <a:ea typeface="Calibri" panose="020F0502020204030204" pitchFamily="34" charset="0"/>
                        <a:cs typeface="Arial" panose="020B0604020202020204" pitchFamily="34" charset="0"/>
                      </a:endParaRPr>
                    </a:p>
                  </a:txBody>
                  <a:tcPr marL="40248" marR="40248" marT="0" marB="0" anchor="ctr">
                    <a:lnT w="19050" cap="flat" cmpd="sng" algn="ctr">
                      <a:solidFill>
                        <a:schemeClr val="tx1"/>
                      </a:solidFill>
                      <a:prstDash val="solid"/>
                      <a:round/>
                      <a:headEnd type="none" w="med" len="med"/>
                      <a:tailEnd type="none" w="med" len="med"/>
                    </a:lnT>
                    <a:solidFill>
                      <a:srgbClr val="FFC000"/>
                    </a:solidFill>
                  </a:tcPr>
                </a:tc>
                <a:tc>
                  <a:txBody>
                    <a:bodyPr/>
                    <a:lstStyle/>
                    <a:p>
                      <a:pPr marL="0" marR="0">
                        <a:lnSpc>
                          <a:spcPct val="107000"/>
                        </a:lnSpc>
                        <a:spcAft>
                          <a:spcPts val="800"/>
                        </a:spcAft>
                        <a:buNone/>
                      </a:pPr>
                      <a:r>
                        <a:rPr lang="en-US" sz="1200" b="0"/>
                        <a:t>Any reusable components must retain functional </a:t>
                      </a:r>
                      <a:r>
                        <a:rPr lang="en-US" sz="1200"/>
                        <a:t>integrity after repeated mechanical use and sterilization cycles</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lnT w="190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a:effectLst/>
                        </a:rPr>
                        <a:t>IEC 60601-1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34511634"/>
                  </a:ext>
                </a:extLst>
              </a:tr>
              <a:tr h="308464">
                <a:tc>
                  <a:txBody>
                    <a:bodyPr/>
                    <a:lstStyle/>
                    <a:p>
                      <a:pPr marL="0" marR="0" algn="l">
                        <a:lnSpc>
                          <a:spcPct val="107000"/>
                        </a:lnSpc>
                        <a:spcAft>
                          <a:spcPts val="800"/>
                        </a:spcAft>
                        <a:buNone/>
                      </a:pPr>
                      <a:r>
                        <a:rPr lang="en-US" sz="1400">
                          <a:effectLst/>
                          <a:latin typeface="+mn-lt"/>
                        </a:rPr>
                        <a:t>Data Security </a:t>
                      </a:r>
                      <a:endParaRPr lang="en-US" sz="1400">
                        <a:effectLst/>
                        <a:latin typeface="+mn-lt"/>
                        <a:ea typeface="Calibri" panose="020F0502020204030204" pitchFamily="34" charset="0"/>
                        <a:cs typeface="Arial" panose="020B0604020202020204" pitchFamily="34" charset="0"/>
                      </a:endParaRPr>
                    </a:p>
                  </a:txBody>
                  <a:tcPr marL="40248" marR="40248" marT="0" marB="0" anchor="ctr">
                    <a:solidFill>
                      <a:srgbClr val="C00000"/>
                    </a:solidFill>
                  </a:tcPr>
                </a:tc>
                <a:tc>
                  <a:txBody>
                    <a:bodyPr/>
                    <a:lstStyle/>
                    <a:p>
                      <a:pPr marL="0" marR="0">
                        <a:lnSpc>
                          <a:spcPct val="107000"/>
                        </a:lnSpc>
                        <a:spcAft>
                          <a:spcPts val="800"/>
                        </a:spcAft>
                        <a:buNone/>
                      </a:pPr>
                      <a:r>
                        <a:rPr lang="en-US" sz="1200" b="0">
                          <a:solidFill>
                            <a:schemeClr val="tx1"/>
                          </a:solidFill>
                          <a:effectLst/>
                          <a:latin typeface="+mn-lt"/>
                        </a:rPr>
                        <a:t>The record of signals ensure the privacy and protection of the patient </a:t>
                      </a:r>
                      <a:endParaRPr lang="en-US" sz="1200" b="0">
                        <a:solidFill>
                          <a:schemeClr val="tx1"/>
                        </a:solidFill>
                        <a:effectLst/>
                        <a:latin typeface="+mn-lt"/>
                        <a:ea typeface="Calibri" panose="020F0502020204030204" pitchFamily="34" charset="0"/>
                        <a:cs typeface="Arial" panose="020B0604020202020204" pitchFamily="34" charset="0"/>
                      </a:endParaRPr>
                    </a:p>
                  </a:txBody>
                  <a:tcPr marL="40248" marR="40248" marT="0" marB="0"/>
                </a:tc>
                <a:tc>
                  <a:txBody>
                    <a:bodyPr/>
                    <a:lstStyle/>
                    <a:p>
                      <a:pPr marL="0" marR="0">
                        <a:lnSpc>
                          <a:spcPct val="107000"/>
                        </a:lnSpc>
                        <a:spcAft>
                          <a:spcPts val="800"/>
                        </a:spcAft>
                        <a:buNone/>
                      </a:pPr>
                      <a:r>
                        <a:rPr lang="en-US" sz="1200">
                          <a:effectLst/>
                        </a:rPr>
                        <a:t>HIPAA</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0248" marR="40248" marT="0" marB="0"/>
                </a:tc>
                <a:extLst>
                  <a:ext uri="{0D108BD9-81ED-4DB2-BD59-A6C34878D82A}">
                    <a16:rowId xmlns:a16="http://schemas.microsoft.com/office/drawing/2014/main" val="4019247812"/>
                  </a:ext>
                </a:extLst>
              </a:tr>
            </a:tbl>
          </a:graphicData>
        </a:graphic>
      </p:graphicFrame>
      <p:sp>
        <p:nvSpPr>
          <p:cNvPr id="4" name="Rectangle 3">
            <a:extLst>
              <a:ext uri="{FF2B5EF4-FFF2-40B4-BE49-F238E27FC236}">
                <a16:creationId xmlns:a16="http://schemas.microsoft.com/office/drawing/2014/main" id="{8CA8D6E9-E716-529B-EC05-4773BB7153BE}"/>
              </a:ext>
            </a:extLst>
          </p:cNvPr>
          <p:cNvSpPr/>
          <p:nvPr/>
        </p:nvSpPr>
        <p:spPr>
          <a:xfrm>
            <a:off x="4478743" y="2766058"/>
            <a:ext cx="1276874"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Left Brace 5">
            <a:extLst>
              <a:ext uri="{FF2B5EF4-FFF2-40B4-BE49-F238E27FC236}">
                <a16:creationId xmlns:a16="http://schemas.microsoft.com/office/drawing/2014/main" id="{42D3BC94-BA7E-6659-E1FA-F532A407DAD2}"/>
              </a:ext>
            </a:extLst>
          </p:cNvPr>
          <p:cNvSpPr/>
          <p:nvPr/>
        </p:nvSpPr>
        <p:spPr>
          <a:xfrm>
            <a:off x="3151386" y="1915152"/>
            <a:ext cx="255375" cy="1701812"/>
          </a:xfrm>
          <a:prstGeom prst="leftBrace">
            <a:avLst>
              <a:gd name="adj1" fmla="val 0"/>
              <a:gd name="adj2" fmla="val 49639"/>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 name="Left Brace 6">
            <a:extLst>
              <a:ext uri="{FF2B5EF4-FFF2-40B4-BE49-F238E27FC236}">
                <a16:creationId xmlns:a16="http://schemas.microsoft.com/office/drawing/2014/main" id="{4E7FE2F0-2AE5-2849-7C71-348407D88D54}"/>
              </a:ext>
            </a:extLst>
          </p:cNvPr>
          <p:cNvSpPr/>
          <p:nvPr/>
        </p:nvSpPr>
        <p:spPr>
          <a:xfrm>
            <a:off x="3171758" y="4593191"/>
            <a:ext cx="255375" cy="880935"/>
          </a:xfrm>
          <a:prstGeom prst="leftBrace">
            <a:avLst>
              <a:gd name="adj1" fmla="val 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grpSp>
        <p:nvGrpSpPr>
          <p:cNvPr id="9" name="Group 8">
            <a:extLst>
              <a:ext uri="{FF2B5EF4-FFF2-40B4-BE49-F238E27FC236}">
                <a16:creationId xmlns:a16="http://schemas.microsoft.com/office/drawing/2014/main" id="{1F538066-9638-61E7-CEA2-73E158E7B17A}"/>
              </a:ext>
            </a:extLst>
          </p:cNvPr>
          <p:cNvGrpSpPr/>
          <p:nvPr/>
        </p:nvGrpSpPr>
        <p:grpSpPr>
          <a:xfrm>
            <a:off x="157908" y="2099223"/>
            <a:ext cx="6947080" cy="1765567"/>
            <a:chOff x="-4266304" y="66266"/>
            <a:chExt cx="6947080" cy="1765567"/>
          </a:xfrm>
        </p:grpSpPr>
        <p:sp>
          <p:nvSpPr>
            <p:cNvPr id="10" name="Rectangle 9">
              <a:extLst>
                <a:ext uri="{FF2B5EF4-FFF2-40B4-BE49-F238E27FC236}">
                  <a16:creationId xmlns:a16="http://schemas.microsoft.com/office/drawing/2014/main" id="{B93C4FE5-C8B8-69C3-2DB4-384E26257EF8}"/>
                </a:ext>
              </a:extLst>
            </p:cNvPr>
            <p:cNvSpPr/>
            <p:nvPr/>
          </p:nvSpPr>
          <p:spPr>
            <a:xfrm>
              <a:off x="0" y="544833"/>
              <a:ext cx="2680776"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TextBox 10">
              <a:extLst>
                <a:ext uri="{FF2B5EF4-FFF2-40B4-BE49-F238E27FC236}">
                  <a16:creationId xmlns:a16="http://schemas.microsoft.com/office/drawing/2014/main" id="{1EFED33C-7AA1-B8F7-5C6F-3C9B25724A0B}"/>
                </a:ext>
              </a:extLst>
            </p:cNvPr>
            <p:cNvSpPr txBox="1"/>
            <p:nvPr/>
          </p:nvSpPr>
          <p:spPr>
            <a:xfrm>
              <a:off x="-4266304" y="66266"/>
              <a:ext cx="2680776"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kern="1200"/>
                <a:t>Safety and Essential Performance</a:t>
              </a:r>
            </a:p>
          </p:txBody>
        </p:sp>
      </p:grpSp>
      <p:sp>
        <p:nvSpPr>
          <p:cNvPr id="12" name="TextBox 11">
            <a:extLst>
              <a:ext uri="{FF2B5EF4-FFF2-40B4-BE49-F238E27FC236}">
                <a16:creationId xmlns:a16="http://schemas.microsoft.com/office/drawing/2014/main" id="{D503E3A9-B102-ACF5-7842-DE120CA9251A}"/>
              </a:ext>
            </a:extLst>
          </p:cNvPr>
          <p:cNvSpPr txBox="1"/>
          <p:nvPr/>
        </p:nvSpPr>
        <p:spPr>
          <a:xfrm>
            <a:off x="319119" y="3539447"/>
            <a:ext cx="2490651" cy="11258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kern="1200"/>
              <a:t>Functional Performance</a:t>
            </a:r>
          </a:p>
        </p:txBody>
      </p:sp>
      <p:sp>
        <p:nvSpPr>
          <p:cNvPr id="14" name="TextBox 13">
            <a:extLst>
              <a:ext uri="{FF2B5EF4-FFF2-40B4-BE49-F238E27FC236}">
                <a16:creationId xmlns:a16="http://schemas.microsoft.com/office/drawing/2014/main" id="{893E9EA6-648E-A628-E433-5FDE28DE4EDA}"/>
              </a:ext>
            </a:extLst>
          </p:cNvPr>
          <p:cNvSpPr txBox="1"/>
          <p:nvPr/>
        </p:nvSpPr>
        <p:spPr>
          <a:xfrm>
            <a:off x="505305" y="4665247"/>
            <a:ext cx="2329249" cy="88093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kern="1200"/>
              <a:t>Mechanical Integration</a:t>
            </a:r>
          </a:p>
        </p:txBody>
      </p:sp>
      <p:sp>
        <p:nvSpPr>
          <p:cNvPr id="15" name="Left Brace 14">
            <a:extLst>
              <a:ext uri="{FF2B5EF4-FFF2-40B4-BE49-F238E27FC236}">
                <a16:creationId xmlns:a16="http://schemas.microsoft.com/office/drawing/2014/main" id="{4ECC1C92-6438-6C87-33F1-ED6B9C4CD50A}"/>
              </a:ext>
            </a:extLst>
          </p:cNvPr>
          <p:cNvSpPr/>
          <p:nvPr/>
        </p:nvSpPr>
        <p:spPr>
          <a:xfrm>
            <a:off x="3129372" y="3830664"/>
            <a:ext cx="255375" cy="481141"/>
          </a:xfrm>
          <a:prstGeom prst="leftBrace">
            <a:avLst>
              <a:gd name="adj1" fmla="val 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6" name="Title 1">
            <a:extLst>
              <a:ext uri="{FF2B5EF4-FFF2-40B4-BE49-F238E27FC236}">
                <a16:creationId xmlns:a16="http://schemas.microsoft.com/office/drawing/2014/main" id="{B82DC782-302B-7191-8BA0-1D353423AD26}"/>
              </a:ext>
            </a:extLst>
          </p:cNvPr>
          <p:cNvSpPr txBox="1">
            <a:spLocks/>
          </p:cNvSpPr>
          <p:nvPr/>
        </p:nvSpPr>
        <p:spPr>
          <a:xfrm>
            <a:off x="838200" y="365126"/>
            <a:ext cx="10515600" cy="7063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Design Specifications</a:t>
            </a:r>
          </a:p>
        </p:txBody>
      </p:sp>
    </p:spTree>
    <p:extLst>
      <p:ext uri="{BB962C8B-B14F-4D97-AF65-F5344CB8AC3E}">
        <p14:creationId xmlns:p14="http://schemas.microsoft.com/office/powerpoint/2010/main" val="1989965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2FF29-55A0-D29B-95B7-14266B129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96216-09AB-CC49-032C-41D873705FC2}"/>
              </a:ext>
            </a:extLst>
          </p:cNvPr>
          <p:cNvSpPr>
            <a:spLocks noGrp="1"/>
          </p:cNvSpPr>
          <p:nvPr>
            <p:ph type="title"/>
          </p:nvPr>
        </p:nvSpPr>
        <p:spPr/>
        <p:txBody>
          <a:bodyPr/>
          <a:lstStyle/>
          <a:p>
            <a:r>
              <a:rPr lang="en-US"/>
              <a:t>Our Solution</a:t>
            </a:r>
          </a:p>
        </p:txBody>
      </p:sp>
      <p:pic>
        <p:nvPicPr>
          <p:cNvPr id="7" name="Picture 6">
            <a:extLst>
              <a:ext uri="{FF2B5EF4-FFF2-40B4-BE49-F238E27FC236}">
                <a16:creationId xmlns:a16="http://schemas.microsoft.com/office/drawing/2014/main" id="{C8DAED11-929E-3268-DA42-480C64EB6B25}"/>
              </a:ext>
            </a:extLst>
          </p:cNvPr>
          <p:cNvPicPr>
            <a:picLocks noChangeAspect="1"/>
          </p:cNvPicPr>
          <p:nvPr/>
        </p:nvPicPr>
        <p:blipFill>
          <a:blip r:embed="rId3"/>
          <a:stretch>
            <a:fillRect/>
          </a:stretch>
        </p:blipFill>
        <p:spPr>
          <a:xfrm>
            <a:off x="6096000" y="-53215"/>
            <a:ext cx="6096000" cy="6911215"/>
          </a:xfrm>
          <a:prstGeom prst="rect">
            <a:avLst/>
          </a:prstGeom>
        </p:spPr>
      </p:pic>
      <p:sp>
        <p:nvSpPr>
          <p:cNvPr id="11" name="TextBox 10">
            <a:extLst>
              <a:ext uri="{FF2B5EF4-FFF2-40B4-BE49-F238E27FC236}">
                <a16:creationId xmlns:a16="http://schemas.microsoft.com/office/drawing/2014/main" id="{A2263E13-A3CD-CF0A-0D61-557AE9AF0DCF}"/>
              </a:ext>
            </a:extLst>
          </p:cNvPr>
          <p:cNvSpPr txBox="1"/>
          <p:nvPr/>
        </p:nvSpPr>
        <p:spPr>
          <a:xfrm>
            <a:off x="9517627" y="6492875"/>
            <a:ext cx="2674373" cy="400110"/>
          </a:xfrm>
          <a:prstGeom prst="rect">
            <a:avLst/>
          </a:prstGeom>
          <a:noFill/>
        </p:spPr>
        <p:txBody>
          <a:bodyPr wrap="square" rtlCol="0">
            <a:spAutoFit/>
          </a:bodyPr>
          <a:lstStyle/>
          <a:p>
            <a:r>
              <a:rPr lang="en-US" sz="1000"/>
              <a:t>Source: Medtronic, </a:t>
            </a:r>
            <a:r>
              <a:rPr lang="en-US" sz="1000" i="1" err="1"/>
              <a:t>TrimLine</a:t>
            </a:r>
            <a:r>
              <a:rPr lang="en-US" sz="1000" i="1"/>
              <a:t> Anterior Cervical Discectomy &amp; Fusion Instrument Set </a:t>
            </a:r>
            <a:r>
              <a:rPr lang="en-US" sz="1000"/>
              <a:t>(2002)</a:t>
            </a:r>
          </a:p>
        </p:txBody>
      </p:sp>
      <p:sp>
        <p:nvSpPr>
          <p:cNvPr id="13" name="TextBox 12">
            <a:extLst>
              <a:ext uri="{FF2B5EF4-FFF2-40B4-BE49-F238E27FC236}">
                <a16:creationId xmlns:a16="http://schemas.microsoft.com/office/drawing/2014/main" id="{475CE67F-7B32-7988-0B26-B3F06AC3647F}"/>
              </a:ext>
            </a:extLst>
          </p:cNvPr>
          <p:cNvSpPr txBox="1"/>
          <p:nvPr/>
        </p:nvSpPr>
        <p:spPr>
          <a:xfrm>
            <a:off x="616059" y="1596154"/>
            <a:ext cx="50594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Candidate points for load/pressure sensing:</a:t>
            </a:r>
          </a:p>
        </p:txBody>
      </p:sp>
      <p:grpSp>
        <p:nvGrpSpPr>
          <p:cNvPr id="64" name="Group 63">
            <a:extLst>
              <a:ext uri="{FF2B5EF4-FFF2-40B4-BE49-F238E27FC236}">
                <a16:creationId xmlns:a16="http://schemas.microsoft.com/office/drawing/2014/main" id="{861EBAE4-C37D-151A-6231-4D234ADE3F8B}"/>
              </a:ext>
            </a:extLst>
          </p:cNvPr>
          <p:cNvGrpSpPr/>
          <p:nvPr/>
        </p:nvGrpSpPr>
        <p:grpSpPr>
          <a:xfrm>
            <a:off x="-1214908" y="1661572"/>
            <a:ext cx="6224633" cy="3133682"/>
            <a:chOff x="-1214908" y="1661572"/>
            <a:chExt cx="6224633" cy="3133682"/>
          </a:xfrm>
        </p:grpSpPr>
        <p:sp>
          <p:nvSpPr>
            <p:cNvPr id="27" name="Google Shape;342;p25">
              <a:extLst>
                <a:ext uri="{FF2B5EF4-FFF2-40B4-BE49-F238E27FC236}">
                  <a16:creationId xmlns:a16="http://schemas.microsoft.com/office/drawing/2014/main" id="{7E639398-A934-8136-1018-1756A33CA292}"/>
                </a:ext>
              </a:extLst>
            </p:cNvPr>
            <p:cNvSpPr/>
            <p:nvPr/>
          </p:nvSpPr>
          <p:spPr>
            <a:xfrm>
              <a:off x="-1214908" y="1661572"/>
              <a:ext cx="6224633" cy="3133682"/>
            </a:xfrm>
            <a:custGeom>
              <a:avLst/>
              <a:gdLst/>
              <a:ahLst/>
              <a:cxnLst/>
              <a:rect l="l" t="t" r="r" b="b"/>
              <a:pathLst>
                <a:path w="11566558" h="4959162" extrusionOk="0">
                  <a:moveTo>
                    <a:pt x="0" y="0"/>
                  </a:moveTo>
                  <a:lnTo>
                    <a:pt x="11566558" y="0"/>
                  </a:lnTo>
                  <a:lnTo>
                    <a:pt x="11566558" y="4959162"/>
                  </a:lnTo>
                  <a:lnTo>
                    <a:pt x="0" y="4959162"/>
                  </a:lnTo>
                  <a:lnTo>
                    <a:pt x="0" y="0"/>
                  </a:lnTo>
                  <a:close/>
                </a:path>
              </a:pathLst>
            </a:custGeom>
            <a:blipFill rotWithShape="1">
              <a:blip r:embed="rId4">
                <a:alphaModFix/>
              </a:blip>
              <a:stretch>
                <a:fillRect/>
              </a:stretch>
            </a:blipFill>
            <a:ln>
              <a:noFill/>
            </a:ln>
          </p:spPr>
          <p:txBody>
            <a:bodyPr/>
            <a:lstStyle/>
            <a:p>
              <a:endParaRPr lang="en-US"/>
            </a:p>
          </p:txBody>
        </p:sp>
        <p:sp>
          <p:nvSpPr>
            <p:cNvPr id="28" name="Google Shape;343;p25">
              <a:extLst>
                <a:ext uri="{FF2B5EF4-FFF2-40B4-BE49-F238E27FC236}">
                  <a16:creationId xmlns:a16="http://schemas.microsoft.com/office/drawing/2014/main" id="{85132AAF-45AE-D4D5-7B70-4324E773AC9C}"/>
                </a:ext>
              </a:extLst>
            </p:cNvPr>
            <p:cNvSpPr txBox="1"/>
            <p:nvPr/>
          </p:nvSpPr>
          <p:spPr>
            <a:xfrm>
              <a:off x="1897408" y="2885359"/>
              <a:ext cx="2291915" cy="1132618"/>
            </a:xfrm>
            <a:prstGeom prst="rect">
              <a:avLst/>
            </a:prstGeom>
            <a:noFill/>
            <a:ln>
              <a:noFill/>
            </a:ln>
          </p:spPr>
          <p:txBody>
            <a:bodyPr spcFirstLastPara="1" wrap="square" lIns="0" tIns="0" rIns="0" bIns="0" anchor="t" anchorCtr="0">
              <a:spAutoFit/>
            </a:bodyPr>
            <a:lstStyle/>
            <a:p>
              <a:pPr marL="0" marR="0" lvl="1" indent="0" algn="l" rtl="0">
                <a:lnSpc>
                  <a:spcPct val="115000"/>
                </a:lnSpc>
                <a:spcBef>
                  <a:spcPts val="0"/>
                </a:spcBef>
                <a:spcAft>
                  <a:spcPts val="0"/>
                </a:spcAft>
                <a:buNone/>
              </a:pPr>
              <a:r>
                <a:rPr lang="en-US" sz="1600" b="0" i="0" u="none" strike="noStrike" cap="none">
                  <a:solidFill>
                    <a:srgbClr val="335879"/>
                  </a:solidFill>
                  <a:latin typeface="Lato"/>
                  <a:ea typeface="Lato"/>
                  <a:cs typeface="Lato"/>
                  <a:sym typeface="Lato"/>
                </a:rPr>
                <a:t>Measures tensile forces transmitted through the arms as they hold the incision open.</a:t>
              </a:r>
              <a:endParaRPr sz="1600"/>
            </a:p>
          </p:txBody>
        </p:sp>
        <p:sp>
          <p:nvSpPr>
            <p:cNvPr id="29" name="Google Shape;347;p25">
              <a:extLst>
                <a:ext uri="{FF2B5EF4-FFF2-40B4-BE49-F238E27FC236}">
                  <a16:creationId xmlns:a16="http://schemas.microsoft.com/office/drawing/2014/main" id="{2CCFD2BF-1B5F-59EC-9D28-06287CBFDD65}"/>
                </a:ext>
              </a:extLst>
            </p:cNvPr>
            <p:cNvSpPr txBox="1"/>
            <p:nvPr/>
          </p:nvSpPr>
          <p:spPr>
            <a:xfrm>
              <a:off x="1897408" y="2529502"/>
              <a:ext cx="2082686" cy="33239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b="1">
                  <a:solidFill>
                    <a:srgbClr val="D5252B"/>
                  </a:solidFill>
                  <a:latin typeface="Lato"/>
                  <a:ea typeface="Lato"/>
                  <a:cs typeface="Lato"/>
                  <a:sym typeface="Lato"/>
                </a:rPr>
                <a:t>RETRACTOR ARM</a:t>
              </a:r>
              <a:endParaRPr b="1">
                <a:solidFill>
                  <a:srgbClr val="D5252B"/>
                </a:solidFill>
              </a:endParaRPr>
            </a:p>
          </p:txBody>
        </p:sp>
        <p:sp>
          <p:nvSpPr>
            <p:cNvPr id="52" name="Circle: Hollow 51">
              <a:extLst>
                <a:ext uri="{FF2B5EF4-FFF2-40B4-BE49-F238E27FC236}">
                  <a16:creationId xmlns:a16="http://schemas.microsoft.com/office/drawing/2014/main" id="{96F21390-92BC-23D3-5833-1013C6FD4B11}"/>
                </a:ext>
              </a:extLst>
            </p:cNvPr>
            <p:cNvSpPr/>
            <p:nvPr/>
          </p:nvSpPr>
          <p:spPr>
            <a:xfrm>
              <a:off x="269239" y="2598276"/>
              <a:ext cx="1328587" cy="1260273"/>
            </a:xfrm>
            <a:prstGeom prst="donut">
              <a:avLst>
                <a:gd name="adj" fmla="val 14810"/>
              </a:avLst>
            </a:prstGeom>
            <a:solidFill>
              <a:srgbClr val="D5252B"/>
            </a:solidFill>
          </p:spPr>
          <p:txBody>
            <a:bodyPr rtlCol="0" anchor="ctr"/>
            <a:lstStyle/>
            <a:p>
              <a:pPr algn="l"/>
              <a:endParaRPr lang="en-US"/>
            </a:p>
          </p:txBody>
        </p:sp>
        <p:sp>
          <p:nvSpPr>
            <p:cNvPr id="53" name="TextBox 52">
              <a:extLst>
                <a:ext uri="{FF2B5EF4-FFF2-40B4-BE49-F238E27FC236}">
                  <a16:creationId xmlns:a16="http://schemas.microsoft.com/office/drawing/2014/main" id="{7E7D03B7-F463-3262-C05B-4E010398A16E}"/>
                </a:ext>
              </a:extLst>
            </p:cNvPr>
            <p:cNvSpPr txBox="1"/>
            <p:nvPr/>
          </p:nvSpPr>
          <p:spPr>
            <a:xfrm>
              <a:off x="725971" y="2874469"/>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1</a:t>
              </a:r>
            </a:p>
          </p:txBody>
        </p:sp>
      </p:grpSp>
      <p:grpSp>
        <p:nvGrpSpPr>
          <p:cNvPr id="65" name="Group 64">
            <a:extLst>
              <a:ext uri="{FF2B5EF4-FFF2-40B4-BE49-F238E27FC236}">
                <a16:creationId xmlns:a16="http://schemas.microsoft.com/office/drawing/2014/main" id="{D8838DC9-9A74-FAFD-96B0-15F43DF0B450}"/>
              </a:ext>
            </a:extLst>
          </p:cNvPr>
          <p:cNvGrpSpPr/>
          <p:nvPr/>
        </p:nvGrpSpPr>
        <p:grpSpPr>
          <a:xfrm>
            <a:off x="-1214909" y="4106853"/>
            <a:ext cx="6224633" cy="3133682"/>
            <a:chOff x="-1214909" y="4106853"/>
            <a:chExt cx="6224633" cy="3133682"/>
          </a:xfrm>
        </p:grpSpPr>
        <p:sp>
          <p:nvSpPr>
            <p:cNvPr id="47" name="Google Shape;342;p25">
              <a:extLst>
                <a:ext uri="{FF2B5EF4-FFF2-40B4-BE49-F238E27FC236}">
                  <a16:creationId xmlns:a16="http://schemas.microsoft.com/office/drawing/2014/main" id="{F924D37A-8412-664D-E29A-664BD7F64BFA}"/>
                </a:ext>
              </a:extLst>
            </p:cNvPr>
            <p:cNvSpPr/>
            <p:nvPr/>
          </p:nvSpPr>
          <p:spPr>
            <a:xfrm>
              <a:off x="-1214909" y="4106853"/>
              <a:ext cx="6224633" cy="3133682"/>
            </a:xfrm>
            <a:custGeom>
              <a:avLst/>
              <a:gdLst/>
              <a:ahLst/>
              <a:cxnLst/>
              <a:rect l="l" t="t" r="r" b="b"/>
              <a:pathLst>
                <a:path w="11566558" h="4959162" extrusionOk="0">
                  <a:moveTo>
                    <a:pt x="0" y="0"/>
                  </a:moveTo>
                  <a:lnTo>
                    <a:pt x="11566558" y="0"/>
                  </a:lnTo>
                  <a:lnTo>
                    <a:pt x="11566558" y="4959162"/>
                  </a:lnTo>
                  <a:lnTo>
                    <a:pt x="0" y="4959162"/>
                  </a:lnTo>
                  <a:lnTo>
                    <a:pt x="0" y="0"/>
                  </a:lnTo>
                  <a:close/>
                </a:path>
              </a:pathLst>
            </a:custGeom>
            <a:blipFill rotWithShape="1">
              <a:blip r:embed="rId4">
                <a:alphaModFix/>
              </a:blip>
              <a:stretch>
                <a:fillRect/>
              </a:stretch>
            </a:blipFill>
            <a:ln>
              <a:noFill/>
            </a:ln>
          </p:spPr>
          <p:txBody>
            <a:bodyPr/>
            <a:lstStyle/>
            <a:p>
              <a:endParaRPr lang="en-US"/>
            </a:p>
          </p:txBody>
        </p:sp>
        <p:sp>
          <p:nvSpPr>
            <p:cNvPr id="48" name="Google Shape;343;p25">
              <a:extLst>
                <a:ext uri="{FF2B5EF4-FFF2-40B4-BE49-F238E27FC236}">
                  <a16:creationId xmlns:a16="http://schemas.microsoft.com/office/drawing/2014/main" id="{1D6AF9CD-E3D1-64EC-CFC9-10F4882B7DEA}"/>
                </a:ext>
              </a:extLst>
            </p:cNvPr>
            <p:cNvSpPr txBox="1"/>
            <p:nvPr/>
          </p:nvSpPr>
          <p:spPr>
            <a:xfrm>
              <a:off x="1897407" y="5330640"/>
              <a:ext cx="2291915" cy="1132618"/>
            </a:xfrm>
            <a:prstGeom prst="rect">
              <a:avLst/>
            </a:prstGeom>
            <a:noFill/>
            <a:ln>
              <a:noFill/>
            </a:ln>
          </p:spPr>
          <p:txBody>
            <a:bodyPr spcFirstLastPara="1" wrap="square" lIns="0" tIns="0" rIns="0" bIns="0" anchor="t" anchorCtr="0">
              <a:spAutoFit/>
            </a:bodyPr>
            <a:lstStyle/>
            <a:p>
              <a:pPr marL="0" marR="0" lvl="1" indent="0" algn="l" rtl="0">
                <a:lnSpc>
                  <a:spcPct val="115000"/>
                </a:lnSpc>
                <a:spcBef>
                  <a:spcPts val="0"/>
                </a:spcBef>
                <a:spcAft>
                  <a:spcPts val="0"/>
                </a:spcAft>
                <a:buNone/>
              </a:pPr>
              <a:r>
                <a:rPr lang="en-US" sz="1600" b="0" i="0" u="none" strike="noStrike" cap="none">
                  <a:solidFill>
                    <a:srgbClr val="335879"/>
                  </a:solidFill>
                  <a:latin typeface="Lato"/>
                  <a:ea typeface="Lato"/>
                  <a:cs typeface="Lato"/>
                  <a:sym typeface="Lato"/>
                </a:rPr>
                <a:t>Measures local pressures applied by the blades directly against surrounding tissue.</a:t>
              </a:r>
              <a:endParaRPr sz="1600"/>
            </a:p>
          </p:txBody>
        </p:sp>
        <p:sp>
          <p:nvSpPr>
            <p:cNvPr id="49" name="Google Shape;347;p25">
              <a:extLst>
                <a:ext uri="{FF2B5EF4-FFF2-40B4-BE49-F238E27FC236}">
                  <a16:creationId xmlns:a16="http://schemas.microsoft.com/office/drawing/2014/main" id="{246A9CAC-4653-0701-2584-D703790B8479}"/>
                </a:ext>
              </a:extLst>
            </p:cNvPr>
            <p:cNvSpPr txBox="1"/>
            <p:nvPr/>
          </p:nvSpPr>
          <p:spPr>
            <a:xfrm>
              <a:off x="1897407" y="4974783"/>
              <a:ext cx="2478650" cy="33239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b="1">
                  <a:solidFill>
                    <a:srgbClr val="D5252B"/>
                  </a:solidFill>
                  <a:latin typeface="Lato"/>
                  <a:ea typeface="Lato"/>
                  <a:cs typeface="Lato"/>
                  <a:sym typeface="Lato"/>
                </a:rPr>
                <a:t>RETRACTOR BLADE</a:t>
              </a:r>
              <a:endParaRPr>
                <a:solidFill>
                  <a:srgbClr val="D5252B"/>
                </a:solidFill>
              </a:endParaRPr>
            </a:p>
          </p:txBody>
        </p:sp>
        <p:sp>
          <p:nvSpPr>
            <p:cNvPr id="54" name="Circle: Hollow 53">
              <a:extLst>
                <a:ext uri="{FF2B5EF4-FFF2-40B4-BE49-F238E27FC236}">
                  <a16:creationId xmlns:a16="http://schemas.microsoft.com/office/drawing/2014/main" id="{E2463A0A-87CE-4479-9A61-F20C9E7D7233}"/>
                </a:ext>
              </a:extLst>
            </p:cNvPr>
            <p:cNvSpPr/>
            <p:nvPr/>
          </p:nvSpPr>
          <p:spPr>
            <a:xfrm>
              <a:off x="269239" y="5007901"/>
              <a:ext cx="1328587" cy="1260273"/>
            </a:xfrm>
            <a:prstGeom prst="donut">
              <a:avLst>
                <a:gd name="adj" fmla="val 14810"/>
              </a:avLst>
            </a:prstGeom>
            <a:solidFill>
              <a:srgbClr val="D5252B"/>
            </a:solidFill>
          </p:spPr>
          <p:txBody>
            <a:bodyPr rtlCol="0" anchor="ctr"/>
            <a:lstStyle/>
            <a:p>
              <a:pPr algn="l"/>
              <a:endParaRPr lang="en-US"/>
            </a:p>
          </p:txBody>
        </p:sp>
        <p:sp>
          <p:nvSpPr>
            <p:cNvPr id="55" name="TextBox 54">
              <a:extLst>
                <a:ext uri="{FF2B5EF4-FFF2-40B4-BE49-F238E27FC236}">
                  <a16:creationId xmlns:a16="http://schemas.microsoft.com/office/drawing/2014/main" id="{61B57A76-842B-8F4E-FD6D-677F883AE57F}"/>
                </a:ext>
              </a:extLst>
            </p:cNvPr>
            <p:cNvSpPr txBox="1"/>
            <p:nvPr/>
          </p:nvSpPr>
          <p:spPr>
            <a:xfrm>
              <a:off x="725971" y="5284094"/>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2</a:t>
              </a:r>
            </a:p>
          </p:txBody>
        </p:sp>
      </p:grpSp>
      <p:sp>
        <p:nvSpPr>
          <p:cNvPr id="62" name="TextBox 61">
            <a:extLst>
              <a:ext uri="{FF2B5EF4-FFF2-40B4-BE49-F238E27FC236}">
                <a16:creationId xmlns:a16="http://schemas.microsoft.com/office/drawing/2014/main" id="{FE3EB38B-33D3-C0D5-071C-8E9FD10E8586}"/>
              </a:ext>
            </a:extLst>
          </p:cNvPr>
          <p:cNvSpPr txBox="1"/>
          <p:nvPr/>
        </p:nvSpPr>
        <p:spPr>
          <a:xfrm>
            <a:off x="6695583" y="3664034"/>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1</a:t>
            </a:r>
          </a:p>
        </p:txBody>
      </p:sp>
      <p:sp>
        <p:nvSpPr>
          <p:cNvPr id="63" name="TextBox 62">
            <a:extLst>
              <a:ext uri="{FF2B5EF4-FFF2-40B4-BE49-F238E27FC236}">
                <a16:creationId xmlns:a16="http://schemas.microsoft.com/office/drawing/2014/main" id="{1D12C6AE-114D-5B7B-F698-E22B7819BD7E}"/>
              </a:ext>
            </a:extLst>
          </p:cNvPr>
          <p:cNvSpPr txBox="1"/>
          <p:nvPr/>
        </p:nvSpPr>
        <p:spPr>
          <a:xfrm>
            <a:off x="8626707" y="4795254"/>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2</a:t>
            </a:r>
          </a:p>
        </p:txBody>
      </p:sp>
    </p:spTree>
    <p:extLst>
      <p:ext uri="{BB962C8B-B14F-4D97-AF65-F5344CB8AC3E}">
        <p14:creationId xmlns:p14="http://schemas.microsoft.com/office/powerpoint/2010/main" val="19769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2" grpId="0"/>
      <p:bldP spid="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ABB8-F71F-8EE6-0FA5-E3FBBF96F321}"/>
            </a:ext>
          </a:extLst>
        </p:cNvPr>
        <p:cNvGrpSpPr/>
        <p:nvPr/>
      </p:nvGrpSpPr>
      <p:grpSpPr>
        <a:xfrm>
          <a:off x="0" y="0"/>
          <a:ext cx="0" cy="0"/>
          <a:chOff x="0" y="0"/>
          <a:chExt cx="0" cy="0"/>
        </a:xfrm>
      </p:grpSpPr>
      <p:pic>
        <p:nvPicPr>
          <p:cNvPr id="2050" name="Picture 2" descr="Getting Started with Load Cells - SparkFun Learn">
            <a:extLst>
              <a:ext uri="{FF2B5EF4-FFF2-40B4-BE49-F238E27FC236}">
                <a16:creationId xmlns:a16="http://schemas.microsoft.com/office/drawing/2014/main" id="{0F54C1E5-94FB-5390-77B5-7B2D61A4D3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39" t="2729" r="1791" b="4762"/>
          <a:stretch>
            <a:fillRect/>
          </a:stretch>
        </p:blipFill>
        <p:spPr bwMode="auto">
          <a:xfrm>
            <a:off x="919669" y="2950959"/>
            <a:ext cx="4268348" cy="31721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176F6C0-4CB3-4C30-0F41-D5949906045E}"/>
              </a:ext>
            </a:extLst>
          </p:cNvPr>
          <p:cNvSpPr>
            <a:spLocks noGrp="1"/>
          </p:cNvSpPr>
          <p:nvPr>
            <p:ph type="title"/>
          </p:nvPr>
        </p:nvSpPr>
        <p:spPr/>
        <p:txBody>
          <a:bodyPr/>
          <a:lstStyle/>
          <a:p>
            <a:r>
              <a:rPr lang="en-US"/>
              <a:t>Our Solution</a:t>
            </a:r>
          </a:p>
        </p:txBody>
      </p:sp>
      <p:pic>
        <p:nvPicPr>
          <p:cNvPr id="7" name="Picture 6">
            <a:extLst>
              <a:ext uri="{FF2B5EF4-FFF2-40B4-BE49-F238E27FC236}">
                <a16:creationId xmlns:a16="http://schemas.microsoft.com/office/drawing/2014/main" id="{55C510FE-2EF6-E7A0-2D4E-152D67145DDB}"/>
              </a:ext>
            </a:extLst>
          </p:cNvPr>
          <p:cNvPicPr>
            <a:picLocks noChangeAspect="1"/>
          </p:cNvPicPr>
          <p:nvPr/>
        </p:nvPicPr>
        <p:blipFill>
          <a:blip r:embed="rId4"/>
          <a:stretch>
            <a:fillRect/>
          </a:stretch>
        </p:blipFill>
        <p:spPr>
          <a:xfrm>
            <a:off x="6096000" y="-53215"/>
            <a:ext cx="6096000" cy="6911215"/>
          </a:xfrm>
          <a:prstGeom prst="rect">
            <a:avLst/>
          </a:prstGeom>
        </p:spPr>
      </p:pic>
      <p:sp>
        <p:nvSpPr>
          <p:cNvPr id="11" name="TextBox 10">
            <a:extLst>
              <a:ext uri="{FF2B5EF4-FFF2-40B4-BE49-F238E27FC236}">
                <a16:creationId xmlns:a16="http://schemas.microsoft.com/office/drawing/2014/main" id="{0A101A3F-CC8E-36BF-4853-804E41006380}"/>
              </a:ext>
            </a:extLst>
          </p:cNvPr>
          <p:cNvSpPr txBox="1"/>
          <p:nvPr/>
        </p:nvSpPr>
        <p:spPr>
          <a:xfrm>
            <a:off x="9517627" y="6492875"/>
            <a:ext cx="2674373" cy="400110"/>
          </a:xfrm>
          <a:prstGeom prst="rect">
            <a:avLst/>
          </a:prstGeom>
          <a:noFill/>
        </p:spPr>
        <p:txBody>
          <a:bodyPr wrap="square" rtlCol="0">
            <a:spAutoFit/>
          </a:bodyPr>
          <a:lstStyle/>
          <a:p>
            <a:r>
              <a:rPr lang="en-US" sz="1000"/>
              <a:t>Source: Medtronic, </a:t>
            </a:r>
            <a:r>
              <a:rPr lang="en-US" sz="1000" i="1" err="1"/>
              <a:t>TrimLine</a:t>
            </a:r>
            <a:r>
              <a:rPr lang="en-US" sz="1000" i="1"/>
              <a:t> Anterior Cervical Discectomy &amp; Fusion Instrument Set </a:t>
            </a:r>
            <a:r>
              <a:rPr lang="en-US" sz="1000"/>
              <a:t>(2002)</a:t>
            </a:r>
          </a:p>
        </p:txBody>
      </p:sp>
      <p:sp>
        <p:nvSpPr>
          <p:cNvPr id="62" name="TextBox 61">
            <a:extLst>
              <a:ext uri="{FF2B5EF4-FFF2-40B4-BE49-F238E27FC236}">
                <a16:creationId xmlns:a16="http://schemas.microsoft.com/office/drawing/2014/main" id="{B9ECA4F8-5469-8D67-1149-1714A4CE30C9}"/>
              </a:ext>
            </a:extLst>
          </p:cNvPr>
          <p:cNvSpPr txBox="1"/>
          <p:nvPr/>
        </p:nvSpPr>
        <p:spPr>
          <a:xfrm>
            <a:off x="6695583" y="3664034"/>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1</a:t>
            </a:r>
          </a:p>
        </p:txBody>
      </p:sp>
      <p:grpSp>
        <p:nvGrpSpPr>
          <p:cNvPr id="5" name="Group 4">
            <a:extLst>
              <a:ext uri="{FF2B5EF4-FFF2-40B4-BE49-F238E27FC236}">
                <a16:creationId xmlns:a16="http://schemas.microsoft.com/office/drawing/2014/main" id="{43FA51EB-8B30-88C2-7B80-26EF7C918C23}"/>
              </a:ext>
            </a:extLst>
          </p:cNvPr>
          <p:cNvGrpSpPr/>
          <p:nvPr/>
        </p:nvGrpSpPr>
        <p:grpSpPr>
          <a:xfrm>
            <a:off x="318285" y="1690688"/>
            <a:ext cx="3555931" cy="1260273"/>
            <a:chOff x="173906" y="1478891"/>
            <a:chExt cx="3555931" cy="1260273"/>
          </a:xfrm>
        </p:grpSpPr>
        <p:grpSp>
          <p:nvGrpSpPr>
            <p:cNvPr id="3" name="Group 2">
              <a:extLst>
                <a:ext uri="{FF2B5EF4-FFF2-40B4-BE49-F238E27FC236}">
                  <a16:creationId xmlns:a16="http://schemas.microsoft.com/office/drawing/2014/main" id="{6C4B3DEA-9DF2-5292-32CE-E78D77E23E9A}"/>
                </a:ext>
              </a:extLst>
            </p:cNvPr>
            <p:cNvGrpSpPr/>
            <p:nvPr/>
          </p:nvGrpSpPr>
          <p:grpSpPr>
            <a:xfrm>
              <a:off x="173906" y="1478891"/>
              <a:ext cx="1328587" cy="1260273"/>
              <a:chOff x="269239" y="2598276"/>
              <a:chExt cx="1328587" cy="1260273"/>
            </a:xfrm>
          </p:grpSpPr>
          <p:sp>
            <p:nvSpPr>
              <p:cNvPr id="52" name="Circle: Hollow 51">
                <a:extLst>
                  <a:ext uri="{FF2B5EF4-FFF2-40B4-BE49-F238E27FC236}">
                    <a16:creationId xmlns:a16="http://schemas.microsoft.com/office/drawing/2014/main" id="{4A2BDC2C-4FDD-F22C-67A5-59A95FFF1416}"/>
                  </a:ext>
                </a:extLst>
              </p:cNvPr>
              <p:cNvSpPr/>
              <p:nvPr/>
            </p:nvSpPr>
            <p:spPr>
              <a:xfrm>
                <a:off x="269239" y="2598276"/>
                <a:ext cx="1328587" cy="1260273"/>
              </a:xfrm>
              <a:prstGeom prst="donut">
                <a:avLst>
                  <a:gd name="adj" fmla="val 14810"/>
                </a:avLst>
              </a:prstGeom>
              <a:solidFill>
                <a:srgbClr val="D5252B"/>
              </a:solidFill>
            </p:spPr>
            <p:txBody>
              <a:bodyPr rtlCol="0" anchor="ctr"/>
              <a:lstStyle/>
              <a:p>
                <a:pPr algn="l"/>
                <a:endParaRPr lang="en-US"/>
              </a:p>
            </p:txBody>
          </p:sp>
          <p:sp>
            <p:nvSpPr>
              <p:cNvPr id="53" name="TextBox 52">
                <a:extLst>
                  <a:ext uri="{FF2B5EF4-FFF2-40B4-BE49-F238E27FC236}">
                    <a16:creationId xmlns:a16="http://schemas.microsoft.com/office/drawing/2014/main" id="{BBA7C0F5-A26B-4730-E154-365E4FC91ADA}"/>
                  </a:ext>
                </a:extLst>
              </p:cNvPr>
              <p:cNvSpPr txBox="1"/>
              <p:nvPr/>
            </p:nvSpPr>
            <p:spPr>
              <a:xfrm>
                <a:off x="725971" y="2874469"/>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4" name="Google Shape;347;p25">
              <a:extLst>
                <a:ext uri="{FF2B5EF4-FFF2-40B4-BE49-F238E27FC236}">
                  <a16:creationId xmlns:a16="http://schemas.microsoft.com/office/drawing/2014/main" id="{08C3A61C-4D9B-975D-A6A5-C3D90E145BE4}"/>
                </a:ext>
              </a:extLst>
            </p:cNvPr>
            <p:cNvSpPr txBox="1"/>
            <p:nvPr/>
          </p:nvSpPr>
          <p:spPr>
            <a:xfrm>
              <a:off x="1647151" y="1942827"/>
              <a:ext cx="2082686" cy="33239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b="1">
                  <a:solidFill>
                    <a:srgbClr val="D5252B"/>
                  </a:solidFill>
                  <a:latin typeface="Lato"/>
                  <a:ea typeface="Lato"/>
                  <a:cs typeface="Lato"/>
                  <a:sym typeface="Lato"/>
                </a:rPr>
                <a:t>RETRACTOR ARM</a:t>
              </a:r>
              <a:endParaRPr b="1">
                <a:solidFill>
                  <a:srgbClr val="D5252B"/>
                </a:solidFill>
              </a:endParaRPr>
            </a:p>
          </p:txBody>
        </p:sp>
      </p:grpSp>
      <p:sp>
        <p:nvSpPr>
          <p:cNvPr id="8" name="TextBox 7">
            <a:extLst>
              <a:ext uri="{FF2B5EF4-FFF2-40B4-BE49-F238E27FC236}">
                <a16:creationId xmlns:a16="http://schemas.microsoft.com/office/drawing/2014/main" id="{247BDB49-529D-E2F2-8568-A0521C96F639}"/>
              </a:ext>
            </a:extLst>
          </p:cNvPr>
          <p:cNvSpPr txBox="1"/>
          <p:nvPr/>
        </p:nvSpPr>
        <p:spPr>
          <a:xfrm>
            <a:off x="1962269" y="6123118"/>
            <a:ext cx="2183147" cy="246221"/>
          </a:xfrm>
          <a:prstGeom prst="rect">
            <a:avLst/>
          </a:prstGeom>
          <a:noFill/>
        </p:spPr>
        <p:txBody>
          <a:bodyPr wrap="square">
            <a:spAutoFit/>
          </a:bodyPr>
          <a:lstStyle/>
          <a:p>
            <a:r>
              <a:rPr lang="en-US" sz="1000"/>
              <a:t>Source: </a:t>
            </a:r>
            <a:r>
              <a:rPr lang="en-US" sz="1000" err="1"/>
              <a:t>SparkFun</a:t>
            </a:r>
            <a:r>
              <a:rPr lang="en-US" sz="1000"/>
              <a:t> Electronics (2025)</a:t>
            </a:r>
          </a:p>
        </p:txBody>
      </p:sp>
    </p:spTree>
    <p:extLst>
      <p:ext uri="{BB962C8B-B14F-4D97-AF65-F5344CB8AC3E}">
        <p14:creationId xmlns:p14="http://schemas.microsoft.com/office/powerpoint/2010/main" val="53397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5B375-42D4-E9BB-73A9-64B08B7DF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71900-2B66-D1B4-59F9-700B3A70947B}"/>
              </a:ext>
            </a:extLst>
          </p:cNvPr>
          <p:cNvSpPr>
            <a:spLocks noGrp="1"/>
          </p:cNvSpPr>
          <p:nvPr>
            <p:ph type="title"/>
          </p:nvPr>
        </p:nvSpPr>
        <p:spPr/>
        <p:txBody>
          <a:bodyPr/>
          <a:lstStyle/>
          <a:p>
            <a:r>
              <a:rPr lang="en-US"/>
              <a:t>Our Solution</a:t>
            </a:r>
          </a:p>
        </p:txBody>
      </p:sp>
      <p:pic>
        <p:nvPicPr>
          <p:cNvPr id="7" name="Picture 6">
            <a:extLst>
              <a:ext uri="{FF2B5EF4-FFF2-40B4-BE49-F238E27FC236}">
                <a16:creationId xmlns:a16="http://schemas.microsoft.com/office/drawing/2014/main" id="{86B02FF1-00F3-C4DC-623F-92B17193788E}"/>
              </a:ext>
            </a:extLst>
          </p:cNvPr>
          <p:cNvPicPr>
            <a:picLocks noChangeAspect="1"/>
          </p:cNvPicPr>
          <p:nvPr/>
        </p:nvPicPr>
        <p:blipFill>
          <a:blip r:embed="rId3"/>
          <a:stretch>
            <a:fillRect/>
          </a:stretch>
        </p:blipFill>
        <p:spPr>
          <a:xfrm>
            <a:off x="6096000" y="-53215"/>
            <a:ext cx="6096000" cy="6911215"/>
          </a:xfrm>
          <a:prstGeom prst="rect">
            <a:avLst/>
          </a:prstGeom>
        </p:spPr>
      </p:pic>
      <p:sp>
        <p:nvSpPr>
          <p:cNvPr id="11" name="TextBox 10">
            <a:extLst>
              <a:ext uri="{FF2B5EF4-FFF2-40B4-BE49-F238E27FC236}">
                <a16:creationId xmlns:a16="http://schemas.microsoft.com/office/drawing/2014/main" id="{2740E930-5B82-9FD1-E644-711023DA641E}"/>
              </a:ext>
            </a:extLst>
          </p:cNvPr>
          <p:cNvSpPr txBox="1"/>
          <p:nvPr/>
        </p:nvSpPr>
        <p:spPr>
          <a:xfrm>
            <a:off x="9517627" y="6492875"/>
            <a:ext cx="2674373" cy="400110"/>
          </a:xfrm>
          <a:prstGeom prst="rect">
            <a:avLst/>
          </a:prstGeom>
          <a:noFill/>
        </p:spPr>
        <p:txBody>
          <a:bodyPr wrap="square" rtlCol="0">
            <a:spAutoFit/>
          </a:bodyPr>
          <a:lstStyle/>
          <a:p>
            <a:r>
              <a:rPr lang="en-US" sz="1000"/>
              <a:t>Source: Medtronic, </a:t>
            </a:r>
            <a:r>
              <a:rPr lang="en-US" sz="1000" i="1" err="1"/>
              <a:t>TrimLine</a:t>
            </a:r>
            <a:r>
              <a:rPr lang="en-US" sz="1000" i="1"/>
              <a:t> Anterior Cervical Discectomy &amp; Fusion Instrument Set </a:t>
            </a:r>
            <a:r>
              <a:rPr lang="en-US" sz="1000"/>
              <a:t>(2002)</a:t>
            </a:r>
          </a:p>
        </p:txBody>
      </p:sp>
      <p:grpSp>
        <p:nvGrpSpPr>
          <p:cNvPr id="5" name="Group 4">
            <a:extLst>
              <a:ext uri="{FF2B5EF4-FFF2-40B4-BE49-F238E27FC236}">
                <a16:creationId xmlns:a16="http://schemas.microsoft.com/office/drawing/2014/main" id="{FCD79395-8356-57A5-63EF-3C25A45D9F30}"/>
              </a:ext>
            </a:extLst>
          </p:cNvPr>
          <p:cNvGrpSpPr/>
          <p:nvPr/>
        </p:nvGrpSpPr>
        <p:grpSpPr>
          <a:xfrm>
            <a:off x="318285" y="1690688"/>
            <a:ext cx="3555931" cy="1260273"/>
            <a:chOff x="173906" y="1478891"/>
            <a:chExt cx="3555931" cy="1260273"/>
          </a:xfrm>
        </p:grpSpPr>
        <p:grpSp>
          <p:nvGrpSpPr>
            <p:cNvPr id="3" name="Group 2">
              <a:extLst>
                <a:ext uri="{FF2B5EF4-FFF2-40B4-BE49-F238E27FC236}">
                  <a16:creationId xmlns:a16="http://schemas.microsoft.com/office/drawing/2014/main" id="{AC60E277-9AC9-FC4D-E0CE-62E2658B0907}"/>
                </a:ext>
              </a:extLst>
            </p:cNvPr>
            <p:cNvGrpSpPr/>
            <p:nvPr/>
          </p:nvGrpSpPr>
          <p:grpSpPr>
            <a:xfrm>
              <a:off x="173906" y="1478891"/>
              <a:ext cx="1328587" cy="1260273"/>
              <a:chOff x="269239" y="2598276"/>
              <a:chExt cx="1328587" cy="1260273"/>
            </a:xfrm>
          </p:grpSpPr>
          <p:sp>
            <p:nvSpPr>
              <p:cNvPr id="52" name="Circle: Hollow 51">
                <a:extLst>
                  <a:ext uri="{FF2B5EF4-FFF2-40B4-BE49-F238E27FC236}">
                    <a16:creationId xmlns:a16="http://schemas.microsoft.com/office/drawing/2014/main" id="{90961E26-B92D-32DB-8653-564EE595E8ED}"/>
                  </a:ext>
                </a:extLst>
              </p:cNvPr>
              <p:cNvSpPr/>
              <p:nvPr/>
            </p:nvSpPr>
            <p:spPr>
              <a:xfrm>
                <a:off x="269239" y="2598276"/>
                <a:ext cx="1328587" cy="1260273"/>
              </a:xfrm>
              <a:prstGeom prst="donut">
                <a:avLst>
                  <a:gd name="adj" fmla="val 14810"/>
                </a:avLst>
              </a:prstGeom>
              <a:solidFill>
                <a:srgbClr val="D5252B"/>
              </a:solidFill>
            </p:spPr>
            <p:txBody>
              <a:bodyPr rtlCol="0" anchor="ctr"/>
              <a:lstStyle/>
              <a:p>
                <a:pPr algn="l"/>
                <a:endParaRPr lang="en-US"/>
              </a:p>
            </p:txBody>
          </p:sp>
          <p:sp>
            <p:nvSpPr>
              <p:cNvPr id="53" name="TextBox 52">
                <a:extLst>
                  <a:ext uri="{FF2B5EF4-FFF2-40B4-BE49-F238E27FC236}">
                    <a16:creationId xmlns:a16="http://schemas.microsoft.com/office/drawing/2014/main" id="{C8FA8488-8995-24F7-5468-AFBBBACB5595}"/>
                  </a:ext>
                </a:extLst>
              </p:cNvPr>
              <p:cNvSpPr txBox="1"/>
              <p:nvPr/>
            </p:nvSpPr>
            <p:spPr>
              <a:xfrm>
                <a:off x="725971" y="2874469"/>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4" name="Google Shape;347;p25">
              <a:extLst>
                <a:ext uri="{FF2B5EF4-FFF2-40B4-BE49-F238E27FC236}">
                  <a16:creationId xmlns:a16="http://schemas.microsoft.com/office/drawing/2014/main" id="{E66F07EE-9600-9FE7-53DE-3387876101E6}"/>
                </a:ext>
              </a:extLst>
            </p:cNvPr>
            <p:cNvSpPr txBox="1"/>
            <p:nvPr/>
          </p:nvSpPr>
          <p:spPr>
            <a:xfrm>
              <a:off x="1647151" y="1942827"/>
              <a:ext cx="2082686" cy="33239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b="1">
                  <a:solidFill>
                    <a:srgbClr val="D5252B"/>
                  </a:solidFill>
                  <a:latin typeface="Lato"/>
                  <a:ea typeface="Lato"/>
                  <a:cs typeface="Lato"/>
                  <a:sym typeface="Lato"/>
                </a:rPr>
                <a:t>RETRACTOR ARM</a:t>
              </a:r>
              <a:endParaRPr b="1">
                <a:solidFill>
                  <a:srgbClr val="D5252B"/>
                </a:solidFill>
              </a:endParaRPr>
            </a:p>
          </p:txBody>
        </p:sp>
      </p:grpSp>
      <p:pic>
        <p:nvPicPr>
          <p:cNvPr id="9" name="Picture 8">
            <a:extLst>
              <a:ext uri="{FF2B5EF4-FFF2-40B4-BE49-F238E27FC236}">
                <a16:creationId xmlns:a16="http://schemas.microsoft.com/office/drawing/2014/main" id="{0CC156CC-5607-2AA9-AF9C-63D512F7F7B2}"/>
              </a:ext>
            </a:extLst>
          </p:cNvPr>
          <p:cNvPicPr>
            <a:picLocks noChangeAspect="1"/>
          </p:cNvPicPr>
          <p:nvPr/>
        </p:nvPicPr>
        <p:blipFill>
          <a:blip r:embed="rId4"/>
          <a:stretch>
            <a:fillRect/>
          </a:stretch>
        </p:blipFill>
        <p:spPr>
          <a:xfrm>
            <a:off x="0" y="3714626"/>
            <a:ext cx="6096000" cy="2642016"/>
          </a:xfrm>
          <a:prstGeom prst="rect">
            <a:avLst/>
          </a:prstGeom>
        </p:spPr>
      </p:pic>
      <p:sp>
        <p:nvSpPr>
          <p:cNvPr id="17" name="Arrow: Bent 16">
            <a:extLst>
              <a:ext uri="{FF2B5EF4-FFF2-40B4-BE49-F238E27FC236}">
                <a16:creationId xmlns:a16="http://schemas.microsoft.com/office/drawing/2014/main" id="{F1BB8DC4-72FE-482F-F1ED-B07F88E0D3C9}"/>
              </a:ext>
            </a:extLst>
          </p:cNvPr>
          <p:cNvSpPr/>
          <p:nvPr/>
        </p:nvSpPr>
        <p:spPr>
          <a:xfrm>
            <a:off x="2952462" y="4052236"/>
            <a:ext cx="3968102" cy="45872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a:extLst>
              <a:ext uri="{FF2B5EF4-FFF2-40B4-BE49-F238E27FC236}">
                <a16:creationId xmlns:a16="http://schemas.microsoft.com/office/drawing/2014/main" id="{EA477495-E2AA-3609-16F8-A26E9B78D938}"/>
              </a:ext>
            </a:extLst>
          </p:cNvPr>
          <p:cNvSpPr txBox="1"/>
          <p:nvPr/>
        </p:nvSpPr>
        <p:spPr>
          <a:xfrm>
            <a:off x="6849587" y="3402392"/>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1</a:t>
            </a:r>
          </a:p>
        </p:txBody>
      </p:sp>
      <p:pic>
        <p:nvPicPr>
          <p:cNvPr id="20" name="Picture 19" descr="A silver and black metal piece&#10;&#10;AI-generated content may be incorrect.">
            <a:extLst>
              <a:ext uri="{FF2B5EF4-FFF2-40B4-BE49-F238E27FC236}">
                <a16:creationId xmlns:a16="http://schemas.microsoft.com/office/drawing/2014/main" id="{48454D21-C257-0947-C52A-869088757D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6047" y="458479"/>
            <a:ext cx="4172527" cy="2347285"/>
          </a:xfrm>
          <a:prstGeom prst="rect">
            <a:avLst/>
          </a:prstGeom>
        </p:spPr>
      </p:pic>
      <p:sp>
        <p:nvSpPr>
          <p:cNvPr id="21" name="TextBox 20">
            <a:extLst>
              <a:ext uri="{FF2B5EF4-FFF2-40B4-BE49-F238E27FC236}">
                <a16:creationId xmlns:a16="http://schemas.microsoft.com/office/drawing/2014/main" id="{F3EB0048-07F4-CA4E-5C94-1E19D2154172}"/>
              </a:ext>
            </a:extLst>
          </p:cNvPr>
          <p:cNvSpPr txBox="1"/>
          <p:nvPr/>
        </p:nvSpPr>
        <p:spPr>
          <a:xfrm>
            <a:off x="2180704" y="5757433"/>
            <a:ext cx="1543516" cy="246221"/>
          </a:xfrm>
          <a:prstGeom prst="rect">
            <a:avLst/>
          </a:prstGeom>
          <a:noFill/>
        </p:spPr>
        <p:txBody>
          <a:bodyPr wrap="square">
            <a:spAutoFit/>
          </a:bodyPr>
          <a:lstStyle/>
          <a:p>
            <a:r>
              <a:rPr lang="en-US" sz="1000"/>
              <a:t>Designed in SolidWorks</a:t>
            </a:r>
          </a:p>
        </p:txBody>
      </p:sp>
      <p:cxnSp>
        <p:nvCxnSpPr>
          <p:cNvPr id="23" name="Straight Arrow Connector 22">
            <a:extLst>
              <a:ext uri="{FF2B5EF4-FFF2-40B4-BE49-F238E27FC236}">
                <a16:creationId xmlns:a16="http://schemas.microsoft.com/office/drawing/2014/main" id="{4E4CF051-DE98-7006-4A38-353B3EB0AE54}"/>
              </a:ext>
            </a:extLst>
          </p:cNvPr>
          <p:cNvCxnSpPr>
            <a:cxnSpLocks/>
          </p:cNvCxnSpPr>
          <p:nvPr/>
        </p:nvCxnSpPr>
        <p:spPr>
          <a:xfrm>
            <a:off x="336468" y="5253480"/>
            <a:ext cx="42862" cy="62706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67A827B5-F26F-0204-E176-6AA236365B5B}"/>
              </a:ext>
            </a:extLst>
          </p:cNvPr>
          <p:cNvSpPr txBox="1"/>
          <p:nvPr/>
        </p:nvSpPr>
        <p:spPr>
          <a:xfrm>
            <a:off x="630366" y="6155703"/>
            <a:ext cx="746970" cy="307777"/>
          </a:xfrm>
          <a:prstGeom prst="rect">
            <a:avLst/>
          </a:prstGeom>
          <a:noFill/>
        </p:spPr>
        <p:txBody>
          <a:bodyPr wrap="square" rtlCol="0">
            <a:spAutoFit/>
          </a:bodyPr>
          <a:lstStyle/>
          <a:p>
            <a:r>
              <a:rPr lang="en-US" sz="1400"/>
              <a:t>10 mm</a:t>
            </a:r>
          </a:p>
        </p:txBody>
      </p:sp>
    </p:spTree>
    <p:extLst>
      <p:ext uri="{BB962C8B-B14F-4D97-AF65-F5344CB8AC3E}">
        <p14:creationId xmlns:p14="http://schemas.microsoft.com/office/powerpoint/2010/main" val="2746889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3C694-3CA2-E854-5E54-48C777397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7D59FC-93C8-0979-F44F-DB1CA6633B91}"/>
              </a:ext>
            </a:extLst>
          </p:cNvPr>
          <p:cNvSpPr>
            <a:spLocks noGrp="1"/>
          </p:cNvSpPr>
          <p:nvPr>
            <p:ph type="title"/>
          </p:nvPr>
        </p:nvSpPr>
        <p:spPr/>
        <p:txBody>
          <a:bodyPr/>
          <a:lstStyle/>
          <a:p>
            <a:r>
              <a:rPr lang="en-US"/>
              <a:t>Our Solution</a:t>
            </a:r>
          </a:p>
        </p:txBody>
      </p:sp>
      <p:pic>
        <p:nvPicPr>
          <p:cNvPr id="7" name="Picture 6">
            <a:extLst>
              <a:ext uri="{FF2B5EF4-FFF2-40B4-BE49-F238E27FC236}">
                <a16:creationId xmlns:a16="http://schemas.microsoft.com/office/drawing/2014/main" id="{222C3FA2-B32D-4B01-D29C-D527E38A368D}"/>
              </a:ext>
            </a:extLst>
          </p:cNvPr>
          <p:cNvPicPr>
            <a:picLocks noChangeAspect="1"/>
          </p:cNvPicPr>
          <p:nvPr/>
        </p:nvPicPr>
        <p:blipFill>
          <a:blip r:embed="rId3"/>
          <a:stretch>
            <a:fillRect/>
          </a:stretch>
        </p:blipFill>
        <p:spPr>
          <a:xfrm>
            <a:off x="6096000" y="-53215"/>
            <a:ext cx="6096000" cy="6911215"/>
          </a:xfrm>
          <a:prstGeom prst="rect">
            <a:avLst/>
          </a:prstGeom>
        </p:spPr>
      </p:pic>
      <p:sp>
        <p:nvSpPr>
          <p:cNvPr id="11" name="TextBox 10">
            <a:extLst>
              <a:ext uri="{FF2B5EF4-FFF2-40B4-BE49-F238E27FC236}">
                <a16:creationId xmlns:a16="http://schemas.microsoft.com/office/drawing/2014/main" id="{4D7E993E-DDE5-5C5D-10F9-2F5B8B806BA3}"/>
              </a:ext>
            </a:extLst>
          </p:cNvPr>
          <p:cNvSpPr txBox="1"/>
          <p:nvPr/>
        </p:nvSpPr>
        <p:spPr>
          <a:xfrm>
            <a:off x="9517627" y="6492875"/>
            <a:ext cx="2674373" cy="400110"/>
          </a:xfrm>
          <a:prstGeom prst="rect">
            <a:avLst/>
          </a:prstGeom>
          <a:noFill/>
        </p:spPr>
        <p:txBody>
          <a:bodyPr wrap="square" rtlCol="0">
            <a:spAutoFit/>
          </a:bodyPr>
          <a:lstStyle/>
          <a:p>
            <a:r>
              <a:rPr lang="en-US" sz="1000"/>
              <a:t>Source: Medtronic, </a:t>
            </a:r>
            <a:r>
              <a:rPr lang="en-US" sz="1000" i="1" err="1"/>
              <a:t>TrimLine</a:t>
            </a:r>
            <a:r>
              <a:rPr lang="en-US" sz="1000" i="1"/>
              <a:t> Anterior Cervical Discectomy &amp; Fusion Instrument Set </a:t>
            </a:r>
            <a:r>
              <a:rPr lang="en-US" sz="1000"/>
              <a:t>(2002)</a:t>
            </a:r>
          </a:p>
        </p:txBody>
      </p:sp>
      <p:grpSp>
        <p:nvGrpSpPr>
          <p:cNvPr id="5" name="Group 4">
            <a:extLst>
              <a:ext uri="{FF2B5EF4-FFF2-40B4-BE49-F238E27FC236}">
                <a16:creationId xmlns:a16="http://schemas.microsoft.com/office/drawing/2014/main" id="{CE895368-7D95-6A6B-A49D-47E61FCA7884}"/>
              </a:ext>
            </a:extLst>
          </p:cNvPr>
          <p:cNvGrpSpPr/>
          <p:nvPr/>
        </p:nvGrpSpPr>
        <p:grpSpPr>
          <a:xfrm>
            <a:off x="318285" y="1690688"/>
            <a:ext cx="3842521" cy="1260273"/>
            <a:chOff x="173906" y="1478891"/>
            <a:chExt cx="3842521" cy="1260273"/>
          </a:xfrm>
        </p:grpSpPr>
        <p:grpSp>
          <p:nvGrpSpPr>
            <p:cNvPr id="3" name="Group 2">
              <a:extLst>
                <a:ext uri="{FF2B5EF4-FFF2-40B4-BE49-F238E27FC236}">
                  <a16:creationId xmlns:a16="http://schemas.microsoft.com/office/drawing/2014/main" id="{B948EDCF-D151-0634-A656-D4F807CA6EFC}"/>
                </a:ext>
              </a:extLst>
            </p:cNvPr>
            <p:cNvGrpSpPr/>
            <p:nvPr/>
          </p:nvGrpSpPr>
          <p:grpSpPr>
            <a:xfrm>
              <a:off x="173906" y="1478891"/>
              <a:ext cx="1328587" cy="1260273"/>
              <a:chOff x="269239" y="2598276"/>
              <a:chExt cx="1328587" cy="1260273"/>
            </a:xfrm>
          </p:grpSpPr>
          <p:sp>
            <p:nvSpPr>
              <p:cNvPr id="52" name="Circle: Hollow 51">
                <a:extLst>
                  <a:ext uri="{FF2B5EF4-FFF2-40B4-BE49-F238E27FC236}">
                    <a16:creationId xmlns:a16="http://schemas.microsoft.com/office/drawing/2014/main" id="{1B9B57F6-F9D1-ECB9-A324-A322FFEC4D1D}"/>
                  </a:ext>
                </a:extLst>
              </p:cNvPr>
              <p:cNvSpPr/>
              <p:nvPr/>
            </p:nvSpPr>
            <p:spPr>
              <a:xfrm>
                <a:off x="269239" y="2598276"/>
                <a:ext cx="1328587" cy="1260273"/>
              </a:xfrm>
              <a:prstGeom prst="donut">
                <a:avLst>
                  <a:gd name="adj" fmla="val 14810"/>
                </a:avLst>
              </a:prstGeom>
              <a:solidFill>
                <a:srgbClr val="D5252B"/>
              </a:solidFill>
            </p:spPr>
            <p:txBody>
              <a:bodyPr rtlCol="0" anchor="ctr"/>
              <a:lstStyle/>
              <a:p>
                <a:pPr algn="l"/>
                <a:endParaRPr lang="en-US"/>
              </a:p>
            </p:txBody>
          </p:sp>
          <p:sp>
            <p:nvSpPr>
              <p:cNvPr id="53" name="TextBox 52">
                <a:extLst>
                  <a:ext uri="{FF2B5EF4-FFF2-40B4-BE49-F238E27FC236}">
                    <a16:creationId xmlns:a16="http://schemas.microsoft.com/office/drawing/2014/main" id="{C1ADFA34-3692-8BE2-1089-48A33BD4DF2B}"/>
                  </a:ext>
                </a:extLst>
              </p:cNvPr>
              <p:cNvSpPr txBox="1"/>
              <p:nvPr/>
            </p:nvSpPr>
            <p:spPr>
              <a:xfrm>
                <a:off x="725971" y="2874469"/>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2</a:t>
                </a:r>
              </a:p>
            </p:txBody>
          </p:sp>
        </p:grpSp>
        <p:sp>
          <p:nvSpPr>
            <p:cNvPr id="4" name="Google Shape;347;p25">
              <a:extLst>
                <a:ext uri="{FF2B5EF4-FFF2-40B4-BE49-F238E27FC236}">
                  <a16:creationId xmlns:a16="http://schemas.microsoft.com/office/drawing/2014/main" id="{487C193D-15E9-6D93-C8F9-22184A281FD4}"/>
                </a:ext>
              </a:extLst>
            </p:cNvPr>
            <p:cNvSpPr txBox="1"/>
            <p:nvPr/>
          </p:nvSpPr>
          <p:spPr>
            <a:xfrm>
              <a:off x="1647150" y="1942827"/>
              <a:ext cx="2369277" cy="33239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b="1">
                  <a:solidFill>
                    <a:srgbClr val="D5252B"/>
                  </a:solidFill>
                  <a:latin typeface="Lato"/>
                  <a:ea typeface="Lato"/>
                  <a:cs typeface="Lato"/>
                  <a:sym typeface="Lato"/>
                </a:rPr>
                <a:t>RETRACTOR BLADE</a:t>
              </a:r>
              <a:endParaRPr b="1">
                <a:solidFill>
                  <a:srgbClr val="D5252B"/>
                </a:solidFill>
              </a:endParaRPr>
            </a:p>
          </p:txBody>
        </p:sp>
      </p:grpSp>
      <p:pic>
        <p:nvPicPr>
          <p:cNvPr id="3074" name="Picture 2" descr="Piezoresistive Pressure Sensors - Frequently Asked Questions | Tekscan">
            <a:extLst>
              <a:ext uri="{FF2B5EF4-FFF2-40B4-BE49-F238E27FC236}">
                <a16:creationId xmlns:a16="http://schemas.microsoft.com/office/drawing/2014/main" id="{3D3FBA35-4650-FA1E-9C1C-F950509D34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492" y="3016251"/>
            <a:ext cx="4143350" cy="32348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6B17343-CA60-8BB7-AB20-9ECEC44F33E4}"/>
              </a:ext>
            </a:extLst>
          </p:cNvPr>
          <p:cNvSpPr txBox="1"/>
          <p:nvPr/>
        </p:nvSpPr>
        <p:spPr>
          <a:xfrm>
            <a:off x="2243667" y="6251092"/>
            <a:ext cx="1464999" cy="246221"/>
          </a:xfrm>
          <a:prstGeom prst="rect">
            <a:avLst/>
          </a:prstGeom>
          <a:noFill/>
        </p:spPr>
        <p:txBody>
          <a:bodyPr wrap="square">
            <a:spAutoFit/>
          </a:bodyPr>
          <a:lstStyle/>
          <a:p>
            <a:r>
              <a:rPr lang="en-US" sz="1000"/>
              <a:t>Source: </a:t>
            </a:r>
            <a:r>
              <a:rPr lang="en-US" sz="1000" err="1"/>
              <a:t>Tekscan</a:t>
            </a:r>
            <a:r>
              <a:rPr lang="en-US" sz="1000"/>
              <a:t> (2025)</a:t>
            </a:r>
          </a:p>
        </p:txBody>
      </p:sp>
      <p:sp>
        <p:nvSpPr>
          <p:cNvPr id="10" name="TextBox 9">
            <a:extLst>
              <a:ext uri="{FF2B5EF4-FFF2-40B4-BE49-F238E27FC236}">
                <a16:creationId xmlns:a16="http://schemas.microsoft.com/office/drawing/2014/main" id="{0BD69D75-0E0C-4B78-3EBD-23C80F763EDC}"/>
              </a:ext>
            </a:extLst>
          </p:cNvPr>
          <p:cNvSpPr txBox="1"/>
          <p:nvPr/>
        </p:nvSpPr>
        <p:spPr>
          <a:xfrm>
            <a:off x="8626707" y="4795254"/>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2</a:t>
            </a:r>
          </a:p>
        </p:txBody>
      </p:sp>
    </p:spTree>
    <p:extLst>
      <p:ext uri="{BB962C8B-B14F-4D97-AF65-F5344CB8AC3E}">
        <p14:creationId xmlns:p14="http://schemas.microsoft.com/office/powerpoint/2010/main" val="3681444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DE112-8482-1C4A-8767-E06FA0921B06}"/>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B1FC27D1-9703-FDA1-0B7D-F98A02D2E81D}"/>
              </a:ext>
            </a:extLst>
          </p:cNvPr>
          <p:cNvPicPr>
            <a:picLocks noChangeAspect="1"/>
          </p:cNvPicPr>
          <p:nvPr/>
        </p:nvPicPr>
        <p:blipFill>
          <a:blip r:embed="rId3"/>
          <a:srcRect l="6438" r="11092"/>
          <a:stretch>
            <a:fillRect/>
          </a:stretch>
        </p:blipFill>
        <p:spPr>
          <a:xfrm>
            <a:off x="0" y="2924366"/>
            <a:ext cx="6096000" cy="3886400"/>
          </a:xfrm>
          <a:prstGeom prst="rect">
            <a:avLst/>
          </a:prstGeom>
        </p:spPr>
      </p:pic>
      <p:sp>
        <p:nvSpPr>
          <p:cNvPr id="2" name="Title 1">
            <a:extLst>
              <a:ext uri="{FF2B5EF4-FFF2-40B4-BE49-F238E27FC236}">
                <a16:creationId xmlns:a16="http://schemas.microsoft.com/office/drawing/2014/main" id="{65ADC58C-79CD-EA6C-6084-8691E826C16B}"/>
              </a:ext>
            </a:extLst>
          </p:cNvPr>
          <p:cNvSpPr>
            <a:spLocks noGrp="1"/>
          </p:cNvSpPr>
          <p:nvPr>
            <p:ph type="title"/>
          </p:nvPr>
        </p:nvSpPr>
        <p:spPr/>
        <p:txBody>
          <a:bodyPr/>
          <a:lstStyle/>
          <a:p>
            <a:r>
              <a:rPr lang="en-US"/>
              <a:t>Our Solution</a:t>
            </a:r>
          </a:p>
        </p:txBody>
      </p:sp>
      <p:pic>
        <p:nvPicPr>
          <p:cNvPr id="7" name="Picture 6">
            <a:extLst>
              <a:ext uri="{FF2B5EF4-FFF2-40B4-BE49-F238E27FC236}">
                <a16:creationId xmlns:a16="http://schemas.microsoft.com/office/drawing/2014/main" id="{612D7865-80B6-A93E-3FCA-E3D150569E4D}"/>
              </a:ext>
            </a:extLst>
          </p:cNvPr>
          <p:cNvPicPr>
            <a:picLocks noChangeAspect="1"/>
          </p:cNvPicPr>
          <p:nvPr/>
        </p:nvPicPr>
        <p:blipFill>
          <a:blip r:embed="rId4"/>
          <a:stretch>
            <a:fillRect/>
          </a:stretch>
        </p:blipFill>
        <p:spPr>
          <a:xfrm>
            <a:off x="6096000" y="-53215"/>
            <a:ext cx="6096000" cy="6911215"/>
          </a:xfrm>
          <a:prstGeom prst="rect">
            <a:avLst/>
          </a:prstGeom>
        </p:spPr>
      </p:pic>
      <p:sp>
        <p:nvSpPr>
          <p:cNvPr id="11" name="TextBox 10">
            <a:extLst>
              <a:ext uri="{FF2B5EF4-FFF2-40B4-BE49-F238E27FC236}">
                <a16:creationId xmlns:a16="http://schemas.microsoft.com/office/drawing/2014/main" id="{BAB610B3-1362-54FE-C2B2-E2A7CB094CBA}"/>
              </a:ext>
            </a:extLst>
          </p:cNvPr>
          <p:cNvSpPr txBox="1"/>
          <p:nvPr/>
        </p:nvSpPr>
        <p:spPr>
          <a:xfrm>
            <a:off x="9517627" y="6492875"/>
            <a:ext cx="2674373" cy="400110"/>
          </a:xfrm>
          <a:prstGeom prst="rect">
            <a:avLst/>
          </a:prstGeom>
          <a:noFill/>
        </p:spPr>
        <p:txBody>
          <a:bodyPr wrap="square" rtlCol="0">
            <a:spAutoFit/>
          </a:bodyPr>
          <a:lstStyle/>
          <a:p>
            <a:r>
              <a:rPr lang="en-US" sz="1000"/>
              <a:t>Source: Medtronic, </a:t>
            </a:r>
            <a:r>
              <a:rPr lang="en-US" sz="1000" i="1" err="1"/>
              <a:t>TrimLine</a:t>
            </a:r>
            <a:r>
              <a:rPr lang="en-US" sz="1000" i="1"/>
              <a:t> Anterior Cervical Discectomy &amp; Fusion Instrument Set </a:t>
            </a:r>
            <a:r>
              <a:rPr lang="en-US" sz="1000"/>
              <a:t>(2002)</a:t>
            </a:r>
          </a:p>
        </p:txBody>
      </p:sp>
      <p:grpSp>
        <p:nvGrpSpPr>
          <p:cNvPr id="5" name="Group 4">
            <a:extLst>
              <a:ext uri="{FF2B5EF4-FFF2-40B4-BE49-F238E27FC236}">
                <a16:creationId xmlns:a16="http://schemas.microsoft.com/office/drawing/2014/main" id="{5DCBEFB1-8C20-A7EE-6BE5-60F902DF022B}"/>
              </a:ext>
            </a:extLst>
          </p:cNvPr>
          <p:cNvGrpSpPr/>
          <p:nvPr/>
        </p:nvGrpSpPr>
        <p:grpSpPr>
          <a:xfrm>
            <a:off x="318285" y="1690688"/>
            <a:ext cx="3842521" cy="1260273"/>
            <a:chOff x="173906" y="1478891"/>
            <a:chExt cx="3842521" cy="1260273"/>
          </a:xfrm>
        </p:grpSpPr>
        <p:grpSp>
          <p:nvGrpSpPr>
            <p:cNvPr id="3" name="Group 2">
              <a:extLst>
                <a:ext uri="{FF2B5EF4-FFF2-40B4-BE49-F238E27FC236}">
                  <a16:creationId xmlns:a16="http://schemas.microsoft.com/office/drawing/2014/main" id="{467CB191-25BE-16DD-716C-F431C20F9D5B}"/>
                </a:ext>
              </a:extLst>
            </p:cNvPr>
            <p:cNvGrpSpPr/>
            <p:nvPr/>
          </p:nvGrpSpPr>
          <p:grpSpPr>
            <a:xfrm>
              <a:off x="173906" y="1478891"/>
              <a:ext cx="1328587" cy="1260273"/>
              <a:chOff x="269239" y="2598276"/>
              <a:chExt cx="1328587" cy="1260273"/>
            </a:xfrm>
          </p:grpSpPr>
          <p:sp>
            <p:nvSpPr>
              <p:cNvPr id="52" name="Circle: Hollow 51">
                <a:extLst>
                  <a:ext uri="{FF2B5EF4-FFF2-40B4-BE49-F238E27FC236}">
                    <a16:creationId xmlns:a16="http://schemas.microsoft.com/office/drawing/2014/main" id="{8FB23710-47F7-1EC3-6ED0-C9E06BB420C7}"/>
                  </a:ext>
                </a:extLst>
              </p:cNvPr>
              <p:cNvSpPr/>
              <p:nvPr/>
            </p:nvSpPr>
            <p:spPr>
              <a:xfrm>
                <a:off x="269239" y="2598276"/>
                <a:ext cx="1328587" cy="1260273"/>
              </a:xfrm>
              <a:prstGeom prst="donut">
                <a:avLst>
                  <a:gd name="adj" fmla="val 14810"/>
                </a:avLst>
              </a:prstGeom>
              <a:solidFill>
                <a:srgbClr val="D5252B"/>
              </a:solidFill>
            </p:spPr>
            <p:txBody>
              <a:bodyPr rtlCol="0" anchor="ctr"/>
              <a:lstStyle/>
              <a:p>
                <a:pPr algn="l"/>
                <a:endParaRPr lang="en-US"/>
              </a:p>
            </p:txBody>
          </p:sp>
          <p:sp>
            <p:nvSpPr>
              <p:cNvPr id="53" name="TextBox 52">
                <a:extLst>
                  <a:ext uri="{FF2B5EF4-FFF2-40B4-BE49-F238E27FC236}">
                    <a16:creationId xmlns:a16="http://schemas.microsoft.com/office/drawing/2014/main" id="{EF57CCE9-A283-CB76-BBD8-45110C35E3D1}"/>
                  </a:ext>
                </a:extLst>
              </p:cNvPr>
              <p:cNvSpPr txBox="1"/>
              <p:nvPr/>
            </p:nvSpPr>
            <p:spPr>
              <a:xfrm>
                <a:off x="725971" y="2874469"/>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2</a:t>
                </a:r>
              </a:p>
            </p:txBody>
          </p:sp>
        </p:grpSp>
        <p:sp>
          <p:nvSpPr>
            <p:cNvPr id="4" name="Google Shape;347;p25">
              <a:extLst>
                <a:ext uri="{FF2B5EF4-FFF2-40B4-BE49-F238E27FC236}">
                  <a16:creationId xmlns:a16="http://schemas.microsoft.com/office/drawing/2014/main" id="{F6E32D5C-9A4E-63FE-0C33-215AAD5928B1}"/>
                </a:ext>
              </a:extLst>
            </p:cNvPr>
            <p:cNvSpPr txBox="1"/>
            <p:nvPr/>
          </p:nvSpPr>
          <p:spPr>
            <a:xfrm>
              <a:off x="1647150" y="1942827"/>
              <a:ext cx="2369277" cy="332399"/>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b="1">
                  <a:solidFill>
                    <a:srgbClr val="D5252B"/>
                  </a:solidFill>
                  <a:latin typeface="Lato"/>
                  <a:ea typeface="Lato"/>
                  <a:cs typeface="Lato"/>
                  <a:sym typeface="Lato"/>
                </a:rPr>
                <a:t>RETRACTOR BLADE</a:t>
              </a:r>
              <a:endParaRPr b="1">
                <a:solidFill>
                  <a:srgbClr val="D5252B"/>
                </a:solidFill>
              </a:endParaRPr>
            </a:p>
          </p:txBody>
        </p:sp>
      </p:grpSp>
      <p:sp>
        <p:nvSpPr>
          <p:cNvPr id="10" name="TextBox 9">
            <a:extLst>
              <a:ext uri="{FF2B5EF4-FFF2-40B4-BE49-F238E27FC236}">
                <a16:creationId xmlns:a16="http://schemas.microsoft.com/office/drawing/2014/main" id="{BD91EBFB-AF9A-A5EA-4543-E6490B1E704E}"/>
              </a:ext>
            </a:extLst>
          </p:cNvPr>
          <p:cNvSpPr txBox="1"/>
          <p:nvPr/>
        </p:nvSpPr>
        <p:spPr>
          <a:xfrm>
            <a:off x="8626707" y="4795254"/>
            <a:ext cx="320086" cy="707886"/>
          </a:xfrm>
          <a:prstGeom prst="rect">
            <a:avLst/>
          </a:prstGeom>
          <a:noFill/>
        </p:spPr>
        <p:txBody>
          <a:bodyPr wrap="square" rtlCol="0">
            <a:spAutoFit/>
          </a:bodyPr>
          <a:lstStyle/>
          <a:p>
            <a:r>
              <a:rPr lang="en-US" sz="4000">
                <a:solidFill>
                  <a:srgbClr val="D5252B"/>
                </a:solidFill>
                <a:latin typeface="ADLaM Display" panose="02010000000000000000" pitchFamily="2" charset="0"/>
                <a:ea typeface="ADLaM Display" panose="02010000000000000000" pitchFamily="2" charset="0"/>
                <a:cs typeface="ADLaM Display" panose="02010000000000000000" pitchFamily="2" charset="0"/>
              </a:rPr>
              <a:t>2</a:t>
            </a:r>
          </a:p>
        </p:txBody>
      </p:sp>
      <p:sp>
        <p:nvSpPr>
          <p:cNvPr id="16" name="Arrow: Bent 15">
            <a:extLst>
              <a:ext uri="{FF2B5EF4-FFF2-40B4-BE49-F238E27FC236}">
                <a16:creationId xmlns:a16="http://schemas.microsoft.com/office/drawing/2014/main" id="{FB206901-F240-A2D0-ED11-E3B3D85863C9}"/>
              </a:ext>
            </a:extLst>
          </p:cNvPr>
          <p:cNvSpPr/>
          <p:nvPr/>
        </p:nvSpPr>
        <p:spPr>
          <a:xfrm>
            <a:off x="3631873" y="4795254"/>
            <a:ext cx="4799857" cy="458725"/>
          </a:xfrm>
          <a:prstGeom prst="bentArrow">
            <a:avLst>
              <a:gd name="adj1" fmla="val 25000"/>
              <a:gd name="adj2" fmla="val 21852"/>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TextBox 16">
            <a:extLst>
              <a:ext uri="{FF2B5EF4-FFF2-40B4-BE49-F238E27FC236}">
                <a16:creationId xmlns:a16="http://schemas.microsoft.com/office/drawing/2014/main" id="{1691A047-0381-731C-1ACF-F74962CDF58D}"/>
              </a:ext>
            </a:extLst>
          </p:cNvPr>
          <p:cNvSpPr txBox="1"/>
          <p:nvPr/>
        </p:nvSpPr>
        <p:spPr>
          <a:xfrm>
            <a:off x="323345" y="6103942"/>
            <a:ext cx="1543516" cy="246221"/>
          </a:xfrm>
          <a:prstGeom prst="rect">
            <a:avLst/>
          </a:prstGeom>
          <a:noFill/>
        </p:spPr>
        <p:txBody>
          <a:bodyPr wrap="square">
            <a:spAutoFit/>
          </a:bodyPr>
          <a:lstStyle/>
          <a:p>
            <a:r>
              <a:rPr lang="en-US" sz="1000"/>
              <a:t>Designed in SolidWorks</a:t>
            </a:r>
          </a:p>
        </p:txBody>
      </p:sp>
      <p:cxnSp>
        <p:nvCxnSpPr>
          <p:cNvPr id="19" name="Straight Arrow Connector 18">
            <a:extLst>
              <a:ext uri="{FF2B5EF4-FFF2-40B4-BE49-F238E27FC236}">
                <a16:creationId xmlns:a16="http://schemas.microsoft.com/office/drawing/2014/main" id="{4FAABB0A-1F5C-5EDF-2FE1-25D84DC4898A}"/>
              </a:ext>
            </a:extLst>
          </p:cNvPr>
          <p:cNvCxnSpPr>
            <a:cxnSpLocks/>
          </p:cNvCxnSpPr>
          <p:nvPr/>
        </p:nvCxnSpPr>
        <p:spPr>
          <a:xfrm flipV="1">
            <a:off x="3455162" y="4028279"/>
            <a:ext cx="1411288" cy="12700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07AF272C-329B-A761-1BDB-939807C07404}"/>
              </a:ext>
            </a:extLst>
          </p:cNvPr>
          <p:cNvSpPr txBox="1"/>
          <p:nvPr/>
        </p:nvSpPr>
        <p:spPr>
          <a:xfrm>
            <a:off x="3631873" y="3784002"/>
            <a:ext cx="866976" cy="307777"/>
          </a:xfrm>
          <a:prstGeom prst="rect">
            <a:avLst/>
          </a:prstGeom>
          <a:noFill/>
        </p:spPr>
        <p:txBody>
          <a:bodyPr wrap="square" rtlCol="0">
            <a:spAutoFit/>
          </a:bodyPr>
          <a:lstStyle/>
          <a:p>
            <a:r>
              <a:rPr lang="en-US" sz="1400"/>
              <a:t>19.9 mm</a:t>
            </a:r>
          </a:p>
        </p:txBody>
      </p:sp>
    </p:spTree>
    <p:extLst>
      <p:ext uri="{BB962C8B-B14F-4D97-AF65-F5344CB8AC3E}">
        <p14:creationId xmlns:p14="http://schemas.microsoft.com/office/powerpoint/2010/main" val="3699655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21006B11-4904-8E3B-2A6F-6F73988EAE60}"/>
              </a:ext>
            </a:extLst>
          </p:cNvPr>
          <p:cNvGraphicFramePr>
            <a:graphicFrameLocks noChangeAspect="1"/>
          </p:cNvGraphicFramePr>
          <p:nvPr>
            <p:extLst>
              <p:ext uri="{D42A27DB-BD31-4B8C-83A1-F6EECF244321}">
                <p14:modId xmlns:p14="http://schemas.microsoft.com/office/powerpoint/2010/main" val="3783887368"/>
              </p:ext>
            </p:extLst>
          </p:nvPr>
        </p:nvGraphicFramePr>
        <p:xfrm>
          <a:off x="204951" y="-725040"/>
          <a:ext cx="11719034" cy="7583040"/>
        </p:xfrm>
        <a:graphic>
          <a:graphicData uri="http://schemas.openxmlformats.org/presentationml/2006/ole">
            <mc:AlternateContent xmlns:mc="http://schemas.openxmlformats.org/markup-compatibility/2006">
              <mc:Choice xmlns:v="urn:schemas-microsoft-com:vml" Requires="v">
                <p:oleObj name="Drawing" r:id="rId2" imgW="15544440" imgH="10058040" progId="SldDraw.Document">
                  <p:embed/>
                </p:oleObj>
              </mc:Choice>
              <mc:Fallback>
                <p:oleObj name="Drawing" r:id="rId2" imgW="15544440" imgH="10058040" progId="SldDraw.Document">
                  <p:embed/>
                  <p:pic>
                    <p:nvPicPr>
                      <p:cNvPr id="4" name="Object 3">
                        <a:extLst>
                          <a:ext uri="{FF2B5EF4-FFF2-40B4-BE49-F238E27FC236}">
                            <a16:creationId xmlns:a16="http://schemas.microsoft.com/office/drawing/2014/main" id="{21006B11-4904-8E3B-2A6F-6F73988EAE60}"/>
                          </a:ext>
                        </a:extLst>
                      </p:cNvPr>
                      <p:cNvPicPr/>
                      <p:nvPr/>
                    </p:nvPicPr>
                    <p:blipFill>
                      <a:blip r:embed="rId3"/>
                      <a:stretch>
                        <a:fillRect/>
                      </a:stretch>
                    </p:blipFill>
                    <p:spPr>
                      <a:xfrm>
                        <a:off x="204951" y="-725040"/>
                        <a:ext cx="11719034" cy="758304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409081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382;p27">
            <a:extLst>
              <a:ext uri="{FF2B5EF4-FFF2-40B4-BE49-F238E27FC236}">
                <a16:creationId xmlns:a16="http://schemas.microsoft.com/office/drawing/2014/main" id="{3ED2E303-71FA-33E9-27EE-6694846BC0B7}"/>
              </a:ext>
            </a:extLst>
          </p:cNvPr>
          <p:cNvSpPr/>
          <p:nvPr/>
        </p:nvSpPr>
        <p:spPr>
          <a:xfrm rot="-5400000">
            <a:off x="4992597" y="1454151"/>
            <a:ext cx="8772709" cy="3949698"/>
          </a:xfrm>
          <a:custGeom>
            <a:avLst/>
            <a:gdLst/>
            <a:ahLst/>
            <a:cxnLst/>
            <a:rect l="l" t="t" r="r" b="b"/>
            <a:pathLst>
              <a:path w="19278806" h="6506597" extrusionOk="0">
                <a:moveTo>
                  <a:pt x="0" y="0"/>
                </a:moveTo>
                <a:lnTo>
                  <a:pt x="19278807" y="0"/>
                </a:lnTo>
                <a:lnTo>
                  <a:pt x="19278807" y="6506597"/>
                </a:lnTo>
                <a:lnTo>
                  <a:pt x="0" y="6506597"/>
                </a:lnTo>
                <a:lnTo>
                  <a:pt x="0" y="0"/>
                </a:lnTo>
                <a:close/>
              </a:path>
            </a:pathLst>
          </a:custGeom>
          <a:blipFill rotWithShape="1">
            <a:blip r:embed="rId3">
              <a:alphaModFix/>
            </a:blip>
            <a:stretch>
              <a:fillRect/>
            </a:stretch>
          </a:blipFill>
          <a:ln>
            <a:noFill/>
          </a:ln>
        </p:spPr>
        <p:txBody>
          <a:bodyPr/>
          <a:lstStyle/>
          <a:p>
            <a:endParaRPr lang="en-US"/>
          </a:p>
        </p:txBody>
      </p:sp>
      <p:sp>
        <p:nvSpPr>
          <p:cNvPr id="2" name="Title 1">
            <a:extLst>
              <a:ext uri="{FF2B5EF4-FFF2-40B4-BE49-F238E27FC236}">
                <a16:creationId xmlns:a16="http://schemas.microsoft.com/office/drawing/2014/main" id="{4D251E9B-C55C-0694-E362-13D4DD623535}"/>
              </a:ext>
            </a:extLst>
          </p:cNvPr>
          <p:cNvSpPr>
            <a:spLocks noGrp="1"/>
          </p:cNvSpPr>
          <p:nvPr>
            <p:ph type="title"/>
          </p:nvPr>
        </p:nvSpPr>
        <p:spPr/>
        <p:txBody>
          <a:bodyPr/>
          <a:lstStyle/>
          <a:p>
            <a:r>
              <a:rPr lang="en-US"/>
              <a:t>Our Solution</a:t>
            </a:r>
          </a:p>
        </p:txBody>
      </p:sp>
      <p:grpSp>
        <p:nvGrpSpPr>
          <p:cNvPr id="8" name="Group 7">
            <a:extLst>
              <a:ext uri="{FF2B5EF4-FFF2-40B4-BE49-F238E27FC236}">
                <a16:creationId xmlns:a16="http://schemas.microsoft.com/office/drawing/2014/main" id="{42CF4B84-6588-D66D-EBAE-B577DB070FE8}"/>
              </a:ext>
            </a:extLst>
          </p:cNvPr>
          <p:cNvGrpSpPr/>
          <p:nvPr/>
        </p:nvGrpSpPr>
        <p:grpSpPr>
          <a:xfrm>
            <a:off x="7864099" y="1485869"/>
            <a:ext cx="3029699" cy="1748171"/>
            <a:chOff x="7872186" y="736600"/>
            <a:chExt cx="3029699" cy="1748171"/>
          </a:xfrm>
        </p:grpSpPr>
        <p:sp>
          <p:nvSpPr>
            <p:cNvPr id="6" name="Google Shape;384;p27">
              <a:extLst>
                <a:ext uri="{FF2B5EF4-FFF2-40B4-BE49-F238E27FC236}">
                  <a16:creationId xmlns:a16="http://schemas.microsoft.com/office/drawing/2014/main" id="{7E4C873B-7081-26E8-F76E-DC8FBDA65C20}"/>
                </a:ext>
              </a:extLst>
            </p:cNvPr>
            <p:cNvSpPr txBox="1"/>
            <p:nvPr/>
          </p:nvSpPr>
          <p:spPr>
            <a:xfrm>
              <a:off x="7872186" y="1068999"/>
              <a:ext cx="3029699"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600" b="0" i="0" u="none" strike="noStrike" cap="none">
                  <a:solidFill>
                    <a:srgbClr val="335879"/>
                  </a:solidFill>
                  <a:latin typeface="Lato"/>
                  <a:ea typeface="Lato"/>
                  <a:cs typeface="Lato"/>
                  <a:sym typeface="Lato"/>
                </a:rPr>
                <a:t>A highly efficient, high memory, low-power, and ultra compact SoC designed for secure and high-performance wireless networking. </a:t>
              </a:r>
              <a:endParaRPr sz="1600"/>
            </a:p>
          </p:txBody>
        </p:sp>
        <p:sp>
          <p:nvSpPr>
            <p:cNvPr id="7" name="Google Shape;389;p27">
              <a:extLst>
                <a:ext uri="{FF2B5EF4-FFF2-40B4-BE49-F238E27FC236}">
                  <a16:creationId xmlns:a16="http://schemas.microsoft.com/office/drawing/2014/main" id="{ADFE56F1-DEE4-4A3E-9A58-C24151EFEE74}"/>
                </a:ext>
              </a:extLst>
            </p:cNvPr>
            <p:cNvSpPr txBox="1"/>
            <p:nvPr/>
          </p:nvSpPr>
          <p:spPr>
            <a:xfrm>
              <a:off x="8033579" y="736600"/>
              <a:ext cx="2706912" cy="332399"/>
            </a:xfrm>
            <a:prstGeom prst="rect">
              <a:avLst/>
            </a:prstGeom>
            <a:noFill/>
            <a:ln>
              <a:noFill/>
            </a:ln>
          </p:spPr>
          <p:txBody>
            <a:bodyPr spcFirstLastPara="1" wrap="square" lIns="0" tIns="0" rIns="0" bIns="0" anchor="t" anchorCtr="0">
              <a:spAutoFit/>
            </a:bodyPr>
            <a:lstStyle/>
            <a:p>
              <a:pPr marL="0" marR="0" lvl="0" indent="0" algn="ctr" rtl="0">
                <a:lnSpc>
                  <a:spcPct val="120007"/>
                </a:lnSpc>
                <a:spcBef>
                  <a:spcPts val="0"/>
                </a:spcBef>
                <a:spcAft>
                  <a:spcPts val="0"/>
                </a:spcAft>
                <a:buNone/>
              </a:pPr>
              <a:r>
                <a:rPr lang="en-US" b="1" i="0" u="none" strike="noStrike" cap="none">
                  <a:solidFill>
                    <a:srgbClr val="D5252B"/>
                  </a:solidFill>
                  <a:latin typeface="Lato"/>
                  <a:ea typeface="Lato"/>
                  <a:cs typeface="Lato"/>
                  <a:sym typeface="Lato"/>
                </a:rPr>
                <a:t>EFR32BG29 wireless SOC</a:t>
              </a:r>
              <a:endParaRPr/>
            </a:p>
          </p:txBody>
        </p:sp>
      </p:grpSp>
      <p:grpSp>
        <p:nvGrpSpPr>
          <p:cNvPr id="9" name="Group 8">
            <a:extLst>
              <a:ext uri="{FF2B5EF4-FFF2-40B4-BE49-F238E27FC236}">
                <a16:creationId xmlns:a16="http://schemas.microsoft.com/office/drawing/2014/main" id="{32C1003B-D5B7-F5A3-93F9-507AF4F30CCD}"/>
              </a:ext>
            </a:extLst>
          </p:cNvPr>
          <p:cNvGrpSpPr/>
          <p:nvPr/>
        </p:nvGrpSpPr>
        <p:grpSpPr>
          <a:xfrm>
            <a:off x="7864099" y="3878936"/>
            <a:ext cx="3029699" cy="1748171"/>
            <a:chOff x="7872186" y="736600"/>
            <a:chExt cx="3029699" cy="1748171"/>
          </a:xfrm>
        </p:grpSpPr>
        <p:sp>
          <p:nvSpPr>
            <p:cNvPr id="10" name="Google Shape;384;p27">
              <a:extLst>
                <a:ext uri="{FF2B5EF4-FFF2-40B4-BE49-F238E27FC236}">
                  <a16:creationId xmlns:a16="http://schemas.microsoft.com/office/drawing/2014/main" id="{381B4B05-198E-6090-AD37-B55EDCF99AFC}"/>
                </a:ext>
              </a:extLst>
            </p:cNvPr>
            <p:cNvSpPr txBox="1"/>
            <p:nvPr/>
          </p:nvSpPr>
          <p:spPr>
            <a:xfrm>
              <a:off x="7872186" y="1068999"/>
              <a:ext cx="3029699"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600">
                  <a:solidFill>
                    <a:srgbClr val="335879"/>
                  </a:solidFill>
                  <a:latin typeface="Lato"/>
                  <a:ea typeface="Lato"/>
                  <a:cs typeface="Lato"/>
                  <a:sym typeface="Lato"/>
                </a:rPr>
                <a:t>Used in </a:t>
              </a:r>
              <a:r>
                <a:rPr lang="en-US" sz="1600" i="1">
                  <a:solidFill>
                    <a:srgbClr val="335879"/>
                  </a:solidFill>
                  <a:latin typeface="Lato"/>
                  <a:ea typeface="Lato"/>
                  <a:cs typeface="Lato"/>
                  <a:sym typeface="Lato"/>
                </a:rPr>
                <a:t>both</a:t>
              </a:r>
              <a:r>
                <a:rPr lang="en-US" sz="1600">
                  <a:solidFill>
                    <a:srgbClr val="335879"/>
                  </a:solidFill>
                  <a:latin typeface="Lato"/>
                  <a:ea typeface="Lato"/>
                  <a:cs typeface="Lato"/>
                  <a:sym typeface="Lato"/>
                </a:rPr>
                <a:t> prototypes to interface with the transducers and provide Bluetooth connectivity to the computer processing unit.</a:t>
              </a:r>
              <a:endParaRPr sz="1600"/>
            </a:p>
          </p:txBody>
        </p:sp>
        <p:sp>
          <p:nvSpPr>
            <p:cNvPr id="11" name="Google Shape;389;p27">
              <a:extLst>
                <a:ext uri="{FF2B5EF4-FFF2-40B4-BE49-F238E27FC236}">
                  <a16:creationId xmlns:a16="http://schemas.microsoft.com/office/drawing/2014/main" id="{B2EA9458-65E1-285C-F798-2C140D4381A7}"/>
                </a:ext>
              </a:extLst>
            </p:cNvPr>
            <p:cNvSpPr txBox="1"/>
            <p:nvPr/>
          </p:nvSpPr>
          <p:spPr>
            <a:xfrm>
              <a:off x="8194973" y="736600"/>
              <a:ext cx="2384127" cy="332399"/>
            </a:xfrm>
            <a:prstGeom prst="rect">
              <a:avLst/>
            </a:prstGeom>
            <a:noFill/>
            <a:ln>
              <a:noFill/>
            </a:ln>
          </p:spPr>
          <p:txBody>
            <a:bodyPr spcFirstLastPara="1" wrap="square" lIns="0" tIns="0" rIns="0" bIns="0" anchor="t" anchorCtr="0">
              <a:spAutoFit/>
            </a:bodyPr>
            <a:lstStyle/>
            <a:p>
              <a:pPr marL="0" marR="0" lvl="0" indent="0" algn="ctr" rtl="0">
                <a:lnSpc>
                  <a:spcPct val="120007"/>
                </a:lnSpc>
                <a:spcBef>
                  <a:spcPts val="0"/>
                </a:spcBef>
                <a:spcAft>
                  <a:spcPts val="0"/>
                </a:spcAft>
                <a:buNone/>
              </a:pPr>
              <a:r>
                <a:rPr lang="en-US" b="1">
                  <a:solidFill>
                    <a:srgbClr val="D5252B"/>
                  </a:solidFill>
                  <a:latin typeface="Lato"/>
                  <a:ea typeface="Lato"/>
                  <a:cs typeface="Lato"/>
                  <a:sym typeface="Lato"/>
                </a:rPr>
                <a:t>Seamless Integration</a:t>
              </a:r>
              <a:endParaRPr/>
            </a:p>
          </p:txBody>
        </p:sp>
      </p:grpSp>
      <p:grpSp>
        <p:nvGrpSpPr>
          <p:cNvPr id="15" name="Group 14">
            <a:extLst>
              <a:ext uri="{FF2B5EF4-FFF2-40B4-BE49-F238E27FC236}">
                <a16:creationId xmlns:a16="http://schemas.microsoft.com/office/drawing/2014/main" id="{1961C77B-973E-7E46-FB4A-A5895C0BCC8D}"/>
              </a:ext>
            </a:extLst>
          </p:cNvPr>
          <p:cNvGrpSpPr/>
          <p:nvPr/>
        </p:nvGrpSpPr>
        <p:grpSpPr>
          <a:xfrm>
            <a:off x="686705" y="1467829"/>
            <a:ext cx="6096000" cy="5314235"/>
            <a:chOff x="686705" y="1353560"/>
            <a:chExt cx="6096000" cy="5314235"/>
          </a:xfrm>
        </p:grpSpPr>
        <p:pic>
          <p:nvPicPr>
            <p:cNvPr id="12" name="Picture 11">
              <a:extLst>
                <a:ext uri="{FF2B5EF4-FFF2-40B4-BE49-F238E27FC236}">
                  <a16:creationId xmlns:a16="http://schemas.microsoft.com/office/drawing/2014/main" id="{C2BCF5AE-6B14-8C6D-1E51-D964983D4FB1}"/>
                </a:ext>
              </a:extLst>
            </p:cNvPr>
            <p:cNvPicPr>
              <a:picLocks noChangeAspect="1"/>
            </p:cNvPicPr>
            <p:nvPr/>
          </p:nvPicPr>
          <p:blipFill>
            <a:blip r:embed="rId4"/>
            <a:stretch>
              <a:fillRect/>
            </a:stretch>
          </p:blipFill>
          <p:spPr>
            <a:xfrm>
              <a:off x="686705" y="1353560"/>
              <a:ext cx="6096000" cy="5191125"/>
            </a:xfrm>
            <a:prstGeom prst="rect">
              <a:avLst/>
            </a:prstGeom>
          </p:spPr>
        </p:pic>
        <p:sp>
          <p:nvSpPr>
            <p:cNvPr id="13" name="TextBox 12">
              <a:extLst>
                <a:ext uri="{FF2B5EF4-FFF2-40B4-BE49-F238E27FC236}">
                  <a16:creationId xmlns:a16="http://schemas.microsoft.com/office/drawing/2014/main" id="{1E6A7A89-E58E-2D3F-F3EF-10AD6A788049}"/>
                </a:ext>
              </a:extLst>
            </p:cNvPr>
            <p:cNvSpPr txBox="1"/>
            <p:nvPr/>
          </p:nvSpPr>
          <p:spPr>
            <a:xfrm>
              <a:off x="2888745" y="6421574"/>
              <a:ext cx="1695956" cy="246221"/>
            </a:xfrm>
            <a:prstGeom prst="rect">
              <a:avLst/>
            </a:prstGeom>
            <a:noFill/>
          </p:spPr>
          <p:txBody>
            <a:bodyPr wrap="square">
              <a:spAutoFit/>
            </a:bodyPr>
            <a:lstStyle/>
            <a:p>
              <a:r>
                <a:rPr lang="en-US" sz="1000"/>
                <a:t>Source: Silicon Labs (2025)</a:t>
              </a:r>
            </a:p>
          </p:txBody>
        </p:sp>
      </p:grpSp>
      <p:sp>
        <p:nvSpPr>
          <p:cNvPr id="14" name="TextBox 13">
            <a:extLst>
              <a:ext uri="{FF2B5EF4-FFF2-40B4-BE49-F238E27FC236}">
                <a16:creationId xmlns:a16="http://schemas.microsoft.com/office/drawing/2014/main" id="{B9D65AC5-0075-7FA4-9CAE-359CF68B2AE4}"/>
              </a:ext>
            </a:extLst>
          </p:cNvPr>
          <p:cNvSpPr txBox="1"/>
          <p:nvPr/>
        </p:nvSpPr>
        <p:spPr>
          <a:xfrm>
            <a:off x="4661362" y="1290578"/>
            <a:ext cx="2742733" cy="307777"/>
          </a:xfrm>
          <a:prstGeom prst="rect">
            <a:avLst/>
          </a:prstGeom>
          <a:noFill/>
        </p:spPr>
        <p:txBody>
          <a:bodyPr wrap="square" rtlCol="0">
            <a:spAutoFit/>
          </a:bodyPr>
          <a:lstStyle/>
          <a:p>
            <a:r>
              <a:rPr lang="en-US" sz="1400"/>
              <a:t>*[2.825mm x 2.657mm x 0.5mm]</a:t>
            </a:r>
          </a:p>
        </p:txBody>
      </p:sp>
    </p:spTree>
    <p:extLst>
      <p:ext uri="{BB962C8B-B14F-4D97-AF65-F5344CB8AC3E}">
        <p14:creationId xmlns:p14="http://schemas.microsoft.com/office/powerpoint/2010/main" val="1912439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65A2C-0AE7-A4B1-2969-518FD0C62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39D14-70C3-0CE0-C44C-72FDC54AE545}"/>
              </a:ext>
            </a:extLst>
          </p:cNvPr>
          <p:cNvSpPr>
            <a:spLocks noGrp="1"/>
          </p:cNvSpPr>
          <p:nvPr>
            <p:ph type="title"/>
          </p:nvPr>
        </p:nvSpPr>
        <p:spPr/>
        <p:txBody>
          <a:bodyPr/>
          <a:lstStyle/>
          <a:p>
            <a:r>
              <a:rPr lang="en-US"/>
              <a:t>Market Analysis Summary</a:t>
            </a:r>
          </a:p>
        </p:txBody>
      </p:sp>
      <p:sp>
        <p:nvSpPr>
          <p:cNvPr id="6" name="TextBox 5">
            <a:extLst>
              <a:ext uri="{FF2B5EF4-FFF2-40B4-BE49-F238E27FC236}">
                <a16:creationId xmlns:a16="http://schemas.microsoft.com/office/drawing/2014/main" id="{1510C883-A71B-2989-1635-721A2FF44DF4}"/>
              </a:ext>
            </a:extLst>
          </p:cNvPr>
          <p:cNvSpPr txBox="1"/>
          <p:nvPr/>
        </p:nvSpPr>
        <p:spPr>
          <a:xfrm>
            <a:off x="616059" y="1596154"/>
            <a:ext cx="5059401"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In 2031, the total U.S. spinal surgery device market is projected growth to grow to 29.28 billion (~5.5 CAGR)</a:t>
            </a:r>
          </a:p>
          <a:p>
            <a:pPr marL="285750" indent="-285750">
              <a:buFont typeface="Arial"/>
              <a:buChar char="•"/>
            </a:pPr>
            <a:r>
              <a:rPr lang="en-US"/>
              <a:t>520 million USD in retractor systems (~10% are spinal)</a:t>
            </a:r>
          </a:p>
          <a:p>
            <a:pPr marL="285750" indent="-285750">
              <a:buFont typeface="Arial"/>
              <a:buChar char="•"/>
            </a:pPr>
            <a:r>
              <a:rPr lang="en-US"/>
              <a:t>30 – 35 % of spine retractors are cervical </a:t>
            </a:r>
          </a:p>
          <a:p>
            <a:pPr marL="285750" indent="-285750">
              <a:buFont typeface="Arial"/>
              <a:buChar char="•"/>
            </a:pPr>
            <a:r>
              <a:rPr lang="en-US"/>
              <a:t>60 – 65 % of cervical retractors are ACDF </a:t>
            </a:r>
          </a:p>
          <a:p>
            <a:pPr marL="285750" indent="-285750">
              <a:buFont typeface="Arial"/>
              <a:buChar char="•"/>
            </a:pPr>
            <a:r>
              <a:rPr lang="en-US" b="1"/>
              <a:t>Market Impact </a:t>
            </a:r>
          </a:p>
          <a:p>
            <a:pPr marL="742950" lvl="1" indent="-285750">
              <a:buFont typeface="Courier New"/>
              <a:buChar char="o"/>
            </a:pPr>
            <a:r>
              <a:rPr lang="en-US"/>
              <a:t>Reduce time/money costs associated with complications that arise from tissue damage in ACDF surgery </a:t>
            </a:r>
          </a:p>
          <a:p>
            <a:pPr marL="285750" indent="-285750">
              <a:buFont typeface="Arial"/>
              <a:buChar char="•"/>
            </a:pPr>
            <a:r>
              <a:rPr lang="en-US" b="1"/>
              <a:t>Competing Solutions</a:t>
            </a:r>
          </a:p>
          <a:p>
            <a:pPr marL="742950" lvl="1" indent="-285750">
              <a:buFont typeface="Courier New"/>
              <a:buChar char="o"/>
            </a:pPr>
            <a:r>
              <a:rPr lang="en-US"/>
              <a:t>None</a:t>
            </a:r>
          </a:p>
          <a:p>
            <a:pPr marL="285750" indent="-285750">
              <a:buFont typeface="Arial"/>
              <a:buChar char="•"/>
            </a:pPr>
            <a:r>
              <a:rPr lang="en-US" b="1"/>
              <a:t>Target Market </a:t>
            </a:r>
          </a:p>
          <a:p>
            <a:pPr marL="742950" lvl="1" indent="-285750">
              <a:buFont typeface="Courier New"/>
              <a:buChar char="o"/>
            </a:pPr>
            <a:r>
              <a:rPr lang="en-US"/>
              <a:t>Surgeons and Hospitals who perform ACDF </a:t>
            </a:r>
          </a:p>
          <a:p>
            <a:pPr marL="285750" indent="-285750">
              <a:buFont typeface="Arial"/>
              <a:buChar char="•"/>
            </a:pPr>
            <a:endParaRPr lang="en-US"/>
          </a:p>
          <a:p>
            <a:pPr marL="742950" lvl="1" indent="-285750">
              <a:buFont typeface="Courier New"/>
              <a:buChar char="o"/>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p:txBody>
      </p:sp>
      <p:sp>
        <p:nvSpPr>
          <p:cNvPr id="7" name="Rectangle 6">
            <a:extLst>
              <a:ext uri="{FF2B5EF4-FFF2-40B4-BE49-F238E27FC236}">
                <a16:creationId xmlns:a16="http://schemas.microsoft.com/office/drawing/2014/main" id="{BE83338A-41B3-6FB7-F7B9-C1B53033FFDD}"/>
              </a:ext>
            </a:extLst>
          </p:cNvPr>
          <p:cNvSpPr/>
          <p:nvPr/>
        </p:nvSpPr>
        <p:spPr>
          <a:xfrm>
            <a:off x="7205082" y="1594704"/>
            <a:ext cx="3122302" cy="7560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19.08B (5.5% CAGR) US Surgical Device Market</a:t>
            </a:r>
          </a:p>
        </p:txBody>
      </p:sp>
      <p:pic>
        <p:nvPicPr>
          <p:cNvPr id="28" name="Picture 27" descr="A black background with a line&#10;&#10;AI-generated content may be incorrect.">
            <a:extLst>
              <a:ext uri="{FF2B5EF4-FFF2-40B4-BE49-F238E27FC236}">
                <a16:creationId xmlns:a16="http://schemas.microsoft.com/office/drawing/2014/main" id="{9153659C-2ED9-8AFE-095C-5FFF2A85DAE3}"/>
              </a:ext>
            </a:extLst>
          </p:cNvPr>
          <p:cNvPicPr>
            <a:picLocks noChangeAspect="1"/>
          </p:cNvPicPr>
          <p:nvPr/>
        </p:nvPicPr>
        <p:blipFill>
          <a:blip r:embed="rId2"/>
          <a:stretch>
            <a:fillRect/>
          </a:stretch>
        </p:blipFill>
        <p:spPr>
          <a:xfrm>
            <a:off x="6684066" y="2476498"/>
            <a:ext cx="5077241" cy="1200980"/>
          </a:xfrm>
          <a:prstGeom prst="rect">
            <a:avLst/>
          </a:prstGeom>
        </p:spPr>
      </p:pic>
      <p:pic>
        <p:nvPicPr>
          <p:cNvPr id="29" name="Picture 28" descr="A black background with a line&#10;&#10;AI-generated content may be incorrect.">
            <a:extLst>
              <a:ext uri="{FF2B5EF4-FFF2-40B4-BE49-F238E27FC236}">
                <a16:creationId xmlns:a16="http://schemas.microsoft.com/office/drawing/2014/main" id="{D5C8D5C8-0696-5876-A8B9-ECDAEF95F80E}"/>
              </a:ext>
            </a:extLst>
          </p:cNvPr>
          <p:cNvPicPr>
            <a:picLocks noChangeAspect="1"/>
          </p:cNvPicPr>
          <p:nvPr/>
        </p:nvPicPr>
        <p:blipFill>
          <a:blip r:embed="rId2"/>
          <a:stretch>
            <a:fillRect/>
          </a:stretch>
        </p:blipFill>
        <p:spPr>
          <a:xfrm rot="5400000">
            <a:off x="8174934" y="2236300"/>
            <a:ext cx="1035328" cy="1060178"/>
          </a:xfrm>
          <a:prstGeom prst="rect">
            <a:avLst/>
          </a:prstGeom>
        </p:spPr>
      </p:pic>
      <p:sp>
        <p:nvSpPr>
          <p:cNvPr id="30" name="Rectangle 29">
            <a:extLst>
              <a:ext uri="{FF2B5EF4-FFF2-40B4-BE49-F238E27FC236}">
                <a16:creationId xmlns:a16="http://schemas.microsoft.com/office/drawing/2014/main" id="{158ADF30-C193-C683-B1BF-04DCEF0D6F8F}"/>
              </a:ext>
            </a:extLst>
          </p:cNvPr>
          <p:cNvSpPr/>
          <p:nvPr/>
        </p:nvSpPr>
        <p:spPr>
          <a:xfrm>
            <a:off x="5788756" y="3582530"/>
            <a:ext cx="2683325" cy="747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a:t>52 Million US Spinal Retractor Market</a:t>
            </a:r>
          </a:p>
        </p:txBody>
      </p:sp>
      <p:pic>
        <p:nvPicPr>
          <p:cNvPr id="31" name="Picture 30" descr="A black background with a line&#10;&#10;AI-generated content may be incorrect.">
            <a:extLst>
              <a:ext uri="{FF2B5EF4-FFF2-40B4-BE49-F238E27FC236}">
                <a16:creationId xmlns:a16="http://schemas.microsoft.com/office/drawing/2014/main" id="{43094754-DF1E-3DC7-1A7B-94D5D9E85DDC}"/>
              </a:ext>
            </a:extLst>
          </p:cNvPr>
          <p:cNvPicPr>
            <a:picLocks noChangeAspect="1"/>
          </p:cNvPicPr>
          <p:nvPr/>
        </p:nvPicPr>
        <p:blipFill>
          <a:blip r:embed="rId2"/>
          <a:stretch>
            <a:fillRect/>
          </a:stretch>
        </p:blipFill>
        <p:spPr>
          <a:xfrm rot="5400000">
            <a:off x="6543259" y="2840930"/>
            <a:ext cx="1035328" cy="1060178"/>
          </a:xfrm>
          <a:prstGeom prst="rect">
            <a:avLst/>
          </a:prstGeom>
        </p:spPr>
      </p:pic>
      <p:pic>
        <p:nvPicPr>
          <p:cNvPr id="33" name="Picture 32" descr="A black background with a line&#10;&#10;AI-generated content may be incorrect.">
            <a:extLst>
              <a:ext uri="{FF2B5EF4-FFF2-40B4-BE49-F238E27FC236}">
                <a16:creationId xmlns:a16="http://schemas.microsoft.com/office/drawing/2014/main" id="{2C9C1A08-595F-AA66-3C16-78A583E1B85A}"/>
              </a:ext>
            </a:extLst>
          </p:cNvPr>
          <p:cNvPicPr>
            <a:picLocks noChangeAspect="1"/>
          </p:cNvPicPr>
          <p:nvPr/>
        </p:nvPicPr>
        <p:blipFill>
          <a:blip r:embed="rId2"/>
          <a:srcRect l="-800" r="800" b="-781"/>
          <a:stretch>
            <a:fillRect/>
          </a:stretch>
        </p:blipFill>
        <p:spPr>
          <a:xfrm rot="5400000">
            <a:off x="9732064" y="2849212"/>
            <a:ext cx="1035328" cy="1068461"/>
          </a:xfrm>
          <a:prstGeom prst="rect">
            <a:avLst/>
          </a:prstGeom>
        </p:spPr>
      </p:pic>
      <p:sp>
        <p:nvSpPr>
          <p:cNvPr id="34" name="Rectangle 33">
            <a:extLst>
              <a:ext uri="{FF2B5EF4-FFF2-40B4-BE49-F238E27FC236}">
                <a16:creationId xmlns:a16="http://schemas.microsoft.com/office/drawing/2014/main" id="{A8A8C698-DFF1-5AAD-46F5-127ADEAEFBA3}"/>
              </a:ext>
            </a:extLst>
          </p:cNvPr>
          <p:cNvSpPr/>
          <p:nvPr/>
        </p:nvSpPr>
        <p:spPr>
          <a:xfrm>
            <a:off x="8994125" y="3582530"/>
            <a:ext cx="2683325" cy="747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a:t>18.56B  Other surgical devices (implants, plates, screws, bone grafts, etc. )</a:t>
            </a:r>
          </a:p>
        </p:txBody>
      </p:sp>
      <p:pic>
        <p:nvPicPr>
          <p:cNvPr id="36" name="Picture 35">
            <a:extLst>
              <a:ext uri="{FF2B5EF4-FFF2-40B4-BE49-F238E27FC236}">
                <a16:creationId xmlns:a16="http://schemas.microsoft.com/office/drawing/2014/main" id="{EDE3F469-B74A-D3C7-EBD1-89B2F010F79E}"/>
              </a:ext>
            </a:extLst>
          </p:cNvPr>
          <p:cNvPicPr>
            <a:picLocks noChangeAspect="1"/>
          </p:cNvPicPr>
          <p:nvPr/>
        </p:nvPicPr>
        <p:blipFill>
          <a:blip r:embed="rId3"/>
          <a:stretch>
            <a:fillRect/>
          </a:stretch>
        </p:blipFill>
        <p:spPr>
          <a:xfrm rot="16200000" flipH="1">
            <a:off x="6800024" y="4340084"/>
            <a:ext cx="646042" cy="604632"/>
          </a:xfrm>
          <a:prstGeom prst="rect">
            <a:avLst/>
          </a:prstGeom>
        </p:spPr>
      </p:pic>
      <p:sp>
        <p:nvSpPr>
          <p:cNvPr id="37" name="Rectangle 36">
            <a:extLst>
              <a:ext uri="{FF2B5EF4-FFF2-40B4-BE49-F238E27FC236}">
                <a16:creationId xmlns:a16="http://schemas.microsoft.com/office/drawing/2014/main" id="{F4006E06-08E8-B678-EA88-9314A77F6C03}"/>
              </a:ext>
            </a:extLst>
          </p:cNvPr>
          <p:cNvSpPr/>
          <p:nvPr/>
        </p:nvSpPr>
        <p:spPr>
          <a:xfrm>
            <a:off x="5788755" y="5031986"/>
            <a:ext cx="2683325" cy="747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a:t>9 - 11 Million US ACDF Retractor Market</a:t>
            </a:r>
          </a:p>
        </p:txBody>
      </p:sp>
    </p:spTree>
    <p:extLst>
      <p:ext uri="{BB962C8B-B14F-4D97-AF65-F5344CB8AC3E}">
        <p14:creationId xmlns:p14="http://schemas.microsoft.com/office/powerpoint/2010/main" val="1838742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CEB8D-A1E9-156B-BB3B-096F276FF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1A8EF-8D38-9AAE-F711-C1BBEEE2EB8B}"/>
              </a:ext>
            </a:extLst>
          </p:cNvPr>
          <p:cNvSpPr>
            <a:spLocks noGrp="1"/>
          </p:cNvSpPr>
          <p:nvPr>
            <p:ph type="title"/>
          </p:nvPr>
        </p:nvSpPr>
        <p:spPr/>
        <p:txBody>
          <a:bodyPr/>
          <a:lstStyle/>
          <a:p>
            <a:r>
              <a:rPr lang="en-US"/>
              <a:t>Proposed Business Model</a:t>
            </a:r>
          </a:p>
        </p:txBody>
      </p:sp>
      <p:sp>
        <p:nvSpPr>
          <p:cNvPr id="3" name="Content Placeholder 2">
            <a:extLst>
              <a:ext uri="{FF2B5EF4-FFF2-40B4-BE49-F238E27FC236}">
                <a16:creationId xmlns:a16="http://schemas.microsoft.com/office/drawing/2014/main" id="{8D88A939-FD9E-5F65-3D12-1271E2488B1B}"/>
              </a:ext>
            </a:extLst>
          </p:cNvPr>
          <p:cNvSpPr>
            <a:spLocks noGrp="1"/>
          </p:cNvSpPr>
          <p:nvPr>
            <p:ph idx="1"/>
          </p:nvPr>
        </p:nvSpPr>
        <p:spPr/>
        <p:txBody>
          <a:bodyPr vert="horz" lIns="91440" tIns="45720" rIns="91440" bIns="45720" rtlCol="0" anchor="t">
            <a:normAutofit/>
          </a:bodyPr>
          <a:lstStyle/>
          <a:p>
            <a:r>
              <a:rPr lang="en-US"/>
              <a:t>General Idea</a:t>
            </a:r>
          </a:p>
          <a:p>
            <a:pPr lvl="1">
              <a:buFont typeface="Courier New" panose="020B0604020202020204" pitchFamily="34" charset="0"/>
              <a:buChar char="o"/>
            </a:pPr>
            <a:r>
              <a:rPr lang="en-US"/>
              <a:t>Hospital / surgeon buys a reusable frame + uses a single use disposable blades/ load cell arm for every ACDF surgery</a:t>
            </a:r>
          </a:p>
          <a:p>
            <a:r>
              <a:rPr lang="en-US"/>
              <a:t>Revenue streams </a:t>
            </a:r>
          </a:p>
          <a:p>
            <a:pPr lvl="1">
              <a:buFont typeface="Courier New" panose="020B0604020202020204" pitchFamily="34" charset="0"/>
              <a:buChar char="o"/>
            </a:pPr>
            <a:r>
              <a:rPr lang="en-US">
                <a:ea typeface="+mn-lt"/>
                <a:cs typeface="+mn-lt"/>
              </a:rPr>
              <a:t>Disposable kit: $250–$600 per ACDF</a:t>
            </a:r>
            <a:endParaRPr lang="en-US"/>
          </a:p>
          <a:p>
            <a:pPr lvl="2">
              <a:buFont typeface="Wingdings" panose="020B0604020202020204" pitchFamily="34" charset="0"/>
              <a:buChar char="§"/>
            </a:pPr>
            <a:r>
              <a:rPr lang="en-US">
                <a:ea typeface="+mn-lt"/>
                <a:cs typeface="+mn-lt"/>
              </a:rPr>
              <a:t>(Load cell arm and sterile blade set)</a:t>
            </a:r>
            <a:endParaRPr lang="en-US"/>
          </a:p>
          <a:p>
            <a:pPr lvl="2">
              <a:buFont typeface="Wingdings" panose="020B0604020202020204" pitchFamily="34" charset="0"/>
              <a:buChar char="§"/>
            </a:pPr>
            <a:r>
              <a:rPr lang="en-US">
                <a:ea typeface="+mn-lt"/>
                <a:cs typeface="+mn-lt"/>
              </a:rPr>
              <a:t>Reusable frame: $10k–$15k (one-time purchase, lasts years)</a:t>
            </a:r>
          </a:p>
          <a:p>
            <a:r>
              <a:rPr lang="en-US"/>
              <a:t>Why this works</a:t>
            </a:r>
          </a:p>
          <a:p>
            <a:pPr lvl="1">
              <a:buFont typeface="Courier New" panose="020B0604020202020204" pitchFamily="34" charset="0"/>
              <a:buChar char="o"/>
            </a:pPr>
            <a:r>
              <a:rPr lang="en-US"/>
              <a:t>Avoids the chance of  autoclaving damaging electrical components</a:t>
            </a:r>
          </a:p>
          <a:p>
            <a:pPr lvl="1">
              <a:buFont typeface="Courier New" panose="020B0604020202020204" pitchFamily="34" charset="0"/>
              <a:buChar char="o"/>
            </a:pPr>
            <a:r>
              <a:rPr lang="en-US"/>
              <a:t>Provides a steady revenue stream</a:t>
            </a:r>
          </a:p>
        </p:txBody>
      </p:sp>
    </p:spTree>
    <p:extLst>
      <p:ext uri="{BB962C8B-B14F-4D97-AF65-F5344CB8AC3E}">
        <p14:creationId xmlns:p14="http://schemas.microsoft.com/office/powerpoint/2010/main" val="2085239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29AC4-DDCF-E94B-6ABD-E570DD431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F2CF47-4296-DBAC-B221-9A7C4C97671A}"/>
              </a:ext>
            </a:extLst>
          </p:cNvPr>
          <p:cNvSpPr>
            <a:spLocks noGrp="1"/>
          </p:cNvSpPr>
          <p:nvPr>
            <p:ph type="title"/>
          </p:nvPr>
        </p:nvSpPr>
        <p:spPr/>
        <p:txBody>
          <a:bodyPr/>
          <a:lstStyle/>
          <a:p>
            <a:r>
              <a:rPr lang="en-US">
                <a:solidFill>
                  <a:srgbClr val="000000"/>
                </a:solidFill>
                <a:latin typeface="Aptos Display"/>
                <a:cs typeface="Helvetica"/>
              </a:rPr>
              <a:t>Proposed Regulatory Pathway</a:t>
            </a:r>
            <a:endParaRPr lang="en-US"/>
          </a:p>
        </p:txBody>
      </p:sp>
      <p:graphicFrame>
        <p:nvGraphicFramePr>
          <p:cNvPr id="5" name="Table 4">
            <a:extLst>
              <a:ext uri="{FF2B5EF4-FFF2-40B4-BE49-F238E27FC236}">
                <a16:creationId xmlns:a16="http://schemas.microsoft.com/office/drawing/2014/main" id="{10DF21A7-9D44-13AC-66FA-5BA94FA6189C}"/>
              </a:ext>
            </a:extLst>
          </p:cNvPr>
          <p:cNvGraphicFramePr>
            <a:graphicFrameLocks noGrp="1"/>
          </p:cNvGraphicFramePr>
          <p:nvPr>
            <p:extLst>
              <p:ext uri="{D42A27DB-BD31-4B8C-83A1-F6EECF244321}">
                <p14:modId xmlns:p14="http://schemas.microsoft.com/office/powerpoint/2010/main" val="658610865"/>
              </p:ext>
            </p:extLst>
          </p:nvPr>
        </p:nvGraphicFramePr>
        <p:xfrm>
          <a:off x="855689" y="2136098"/>
          <a:ext cx="10498346" cy="3169920"/>
        </p:xfrm>
        <a:graphic>
          <a:graphicData uri="http://schemas.openxmlformats.org/drawingml/2006/table">
            <a:tbl>
              <a:tblPr firstRow="1" bandRow="1">
                <a:tableStyleId>{5C22544A-7EE6-4342-B048-85BDC9FD1C3A}</a:tableStyleId>
              </a:tblPr>
              <a:tblGrid>
                <a:gridCol w="3001619">
                  <a:extLst>
                    <a:ext uri="{9D8B030D-6E8A-4147-A177-3AD203B41FA5}">
                      <a16:colId xmlns:a16="http://schemas.microsoft.com/office/drawing/2014/main" val="3283400498"/>
                    </a:ext>
                  </a:extLst>
                </a:gridCol>
                <a:gridCol w="805312">
                  <a:extLst>
                    <a:ext uri="{9D8B030D-6E8A-4147-A177-3AD203B41FA5}">
                      <a16:colId xmlns:a16="http://schemas.microsoft.com/office/drawing/2014/main" val="4064402593"/>
                    </a:ext>
                  </a:extLst>
                </a:gridCol>
                <a:gridCol w="1127436">
                  <a:extLst>
                    <a:ext uri="{9D8B030D-6E8A-4147-A177-3AD203B41FA5}">
                      <a16:colId xmlns:a16="http://schemas.microsoft.com/office/drawing/2014/main" val="2849602659"/>
                    </a:ext>
                  </a:extLst>
                </a:gridCol>
                <a:gridCol w="3045547">
                  <a:extLst>
                    <a:ext uri="{9D8B030D-6E8A-4147-A177-3AD203B41FA5}">
                      <a16:colId xmlns:a16="http://schemas.microsoft.com/office/drawing/2014/main" val="640277075"/>
                    </a:ext>
                  </a:extLst>
                </a:gridCol>
                <a:gridCol w="2518432">
                  <a:extLst>
                    <a:ext uri="{9D8B030D-6E8A-4147-A177-3AD203B41FA5}">
                      <a16:colId xmlns:a16="http://schemas.microsoft.com/office/drawing/2014/main" val="2336445852"/>
                    </a:ext>
                  </a:extLst>
                </a:gridCol>
              </a:tblGrid>
              <a:tr h="190500">
                <a:tc>
                  <a:txBody>
                    <a:bodyPr/>
                    <a:lstStyle/>
                    <a:p>
                      <a:pPr algn="ctr" rtl="0" fontAlgn="base">
                        <a:lnSpc>
                          <a:spcPts val="1200"/>
                        </a:lnSpc>
                        <a:buNone/>
                      </a:pPr>
                      <a:r>
                        <a:rPr lang="en-US" sz="1000" b="1">
                          <a:solidFill>
                            <a:srgbClr val="FFFFFF"/>
                          </a:solidFill>
                          <a:effectLst/>
                          <a:latin typeface="Calibri Light"/>
                        </a:rPr>
                        <a:t>Proposed Procedure/Method </a:t>
                      </a:r>
                      <a:endParaRPr lang="en-US" b="1">
                        <a:solidFill>
                          <a:srgbClr val="FFFFFF"/>
                        </a:solidFill>
                        <a:effectLst/>
                        <a:latin typeface="Calibri Light"/>
                      </a:endParaRPr>
                    </a:p>
                  </a:txBody>
                  <a:tcPr marL="66675" marR="66675">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666666"/>
                      </a:solidFill>
                      <a:prstDash val="solid"/>
                      <a:round/>
                      <a:headEnd type="none" w="med" len="med"/>
                      <a:tailEnd type="none" w="med" len="med"/>
                    </a:lnB>
                  </a:tcPr>
                </a:tc>
                <a:tc>
                  <a:txBody>
                    <a:bodyPr/>
                    <a:lstStyle/>
                    <a:p>
                      <a:pPr algn="ctr" rtl="0" fontAlgn="base">
                        <a:lnSpc>
                          <a:spcPts val="1200"/>
                        </a:lnSpc>
                        <a:buNone/>
                      </a:pPr>
                      <a:r>
                        <a:rPr lang="en-US" sz="1000" b="1">
                          <a:solidFill>
                            <a:srgbClr val="FFFFFF"/>
                          </a:solidFill>
                          <a:effectLst/>
                          <a:latin typeface="Calibri Light" panose="020F0302020204030204" pitchFamily="34" charset="0"/>
                        </a:rPr>
                        <a:t>Test Type </a:t>
                      </a:r>
                      <a:endParaRPr lang="en-US" b="1">
                        <a:solidFill>
                          <a:srgbClr val="FFFFFF"/>
                        </a:solidFill>
                        <a:effectLst/>
                      </a:endParaRPr>
                    </a:p>
                  </a:txBody>
                  <a:tcPr marL="66675" marR="66675">
                    <a:lnL>
                      <a:noFill/>
                    </a:lnL>
                    <a:lnR>
                      <a:noFill/>
                    </a:lnR>
                    <a:lnT w="9525" cap="flat" cmpd="sng" algn="ctr">
                      <a:solidFill>
                        <a:srgbClr val="000000"/>
                      </a:solidFill>
                      <a:prstDash val="solid"/>
                      <a:round/>
                      <a:headEnd type="none" w="med" len="med"/>
                      <a:tailEnd type="none" w="med" len="med"/>
                    </a:lnT>
                    <a:lnB w="9525" cap="flat" cmpd="sng" algn="ctr">
                      <a:solidFill>
                        <a:srgbClr val="666666"/>
                      </a:solidFill>
                      <a:prstDash val="solid"/>
                      <a:round/>
                      <a:headEnd type="none" w="med" len="med"/>
                      <a:tailEnd type="none" w="med" len="med"/>
                    </a:lnB>
                  </a:tcPr>
                </a:tc>
                <a:tc>
                  <a:txBody>
                    <a:bodyPr/>
                    <a:lstStyle/>
                    <a:p>
                      <a:pPr algn="ctr" rtl="0" fontAlgn="base">
                        <a:lnSpc>
                          <a:spcPts val="1200"/>
                        </a:lnSpc>
                        <a:buNone/>
                      </a:pPr>
                      <a:r>
                        <a:rPr lang="en-US" sz="1000" b="1">
                          <a:solidFill>
                            <a:srgbClr val="FFFFFF"/>
                          </a:solidFill>
                          <a:effectLst/>
                          <a:latin typeface="Calibri Light"/>
                        </a:rPr>
                        <a:t>Standard # </a:t>
                      </a:r>
                      <a:endParaRPr lang="en-US" b="1">
                        <a:solidFill>
                          <a:srgbClr val="FFFFFF"/>
                        </a:solidFill>
                        <a:effectLst/>
                        <a:latin typeface="Calibri Light"/>
                      </a:endParaRPr>
                    </a:p>
                  </a:txBody>
                  <a:tcPr marL="66675" marR="66675">
                    <a:lnL>
                      <a:noFill/>
                    </a:lnL>
                    <a:lnR>
                      <a:noFill/>
                    </a:lnR>
                    <a:lnT w="9525" cap="flat" cmpd="sng" algn="ctr">
                      <a:solidFill>
                        <a:srgbClr val="000000"/>
                      </a:solidFill>
                      <a:prstDash val="solid"/>
                      <a:round/>
                      <a:headEnd type="none" w="med" len="med"/>
                      <a:tailEnd type="none" w="med" len="med"/>
                    </a:lnT>
                    <a:lnB w="9525" cap="flat" cmpd="sng" algn="ctr">
                      <a:solidFill>
                        <a:srgbClr val="666666"/>
                      </a:solidFill>
                      <a:prstDash val="solid"/>
                      <a:round/>
                      <a:headEnd type="none" w="med" len="med"/>
                      <a:tailEnd type="none" w="med" len="med"/>
                    </a:lnB>
                  </a:tcPr>
                </a:tc>
                <a:tc>
                  <a:txBody>
                    <a:bodyPr/>
                    <a:lstStyle/>
                    <a:p>
                      <a:pPr algn="ctr" rtl="0" fontAlgn="base">
                        <a:lnSpc>
                          <a:spcPts val="1200"/>
                        </a:lnSpc>
                        <a:buNone/>
                      </a:pPr>
                      <a:r>
                        <a:rPr lang="en-US" sz="1000" b="1">
                          <a:solidFill>
                            <a:srgbClr val="FFFFFF"/>
                          </a:solidFill>
                          <a:effectLst/>
                          <a:latin typeface="Calibri Light"/>
                        </a:rPr>
                        <a:t>Purpose </a:t>
                      </a:r>
                      <a:endParaRPr lang="en-US" b="1">
                        <a:solidFill>
                          <a:srgbClr val="FFFFFF"/>
                        </a:solidFill>
                        <a:effectLst/>
                        <a:latin typeface="Calibri Light"/>
                      </a:endParaRPr>
                    </a:p>
                  </a:txBody>
                  <a:tcPr marL="66675" marR="66675">
                    <a:lnL>
                      <a:noFill/>
                    </a:lnL>
                    <a:lnR>
                      <a:noFill/>
                    </a:lnR>
                    <a:lnT w="9525" cap="flat" cmpd="sng" algn="ctr">
                      <a:solidFill>
                        <a:srgbClr val="000000"/>
                      </a:solidFill>
                      <a:prstDash val="solid"/>
                      <a:round/>
                      <a:headEnd type="none" w="med" len="med"/>
                      <a:tailEnd type="none" w="med" len="med"/>
                    </a:lnT>
                    <a:lnB w="9525" cap="flat" cmpd="sng" algn="ctr">
                      <a:solidFill>
                        <a:srgbClr val="666666"/>
                      </a:solidFill>
                      <a:prstDash val="solid"/>
                      <a:round/>
                      <a:headEnd type="none" w="med" len="med"/>
                      <a:tailEnd type="none" w="med" len="med"/>
                    </a:lnB>
                  </a:tcPr>
                </a:tc>
                <a:tc>
                  <a:txBody>
                    <a:bodyPr/>
                    <a:lstStyle/>
                    <a:p>
                      <a:pPr algn="ctr" rtl="0" fontAlgn="base">
                        <a:lnSpc>
                          <a:spcPts val="1200"/>
                        </a:lnSpc>
                        <a:buNone/>
                      </a:pPr>
                      <a:r>
                        <a:rPr lang="en-US" sz="1000" b="1">
                          <a:solidFill>
                            <a:srgbClr val="FFFFFF"/>
                          </a:solidFill>
                          <a:effectLst/>
                          <a:latin typeface="Calibri Light"/>
                        </a:rPr>
                        <a:t>Acceptance Criteria </a:t>
                      </a:r>
                      <a:endParaRPr lang="en-US" b="1">
                        <a:solidFill>
                          <a:srgbClr val="FFFFFF"/>
                        </a:solidFill>
                        <a:effectLst/>
                        <a:latin typeface="Calibri Light"/>
                      </a:endParaRPr>
                    </a:p>
                  </a:txBody>
                  <a:tcPr marL="66675" marR="66675">
                    <a:lnL>
                      <a:noFill/>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2755663234"/>
                  </a:ext>
                </a:extLst>
              </a:tr>
              <a:tr h="190500">
                <a:tc>
                  <a:txBody>
                    <a:bodyPr/>
                    <a:lstStyle/>
                    <a:p>
                      <a:pPr rtl="0" fontAlgn="base">
                        <a:lnSpc>
                          <a:spcPts val="1200"/>
                        </a:lnSpc>
                        <a:buNone/>
                      </a:pPr>
                      <a:r>
                        <a:rPr lang="en-US" sz="1000" b="1">
                          <a:effectLst/>
                          <a:latin typeface="Calibri Light" panose="020F0302020204030204" pitchFamily="34" charset="0"/>
                        </a:rPr>
                        <a:t>Pressure sensor calibration with traceable pressure source </a:t>
                      </a:r>
                      <a:endParaRPr lang="en-US" b="1">
                        <a:effectLst/>
                      </a:endParaRPr>
                    </a:p>
                  </a:txBody>
                  <a:tcPr marL="66675" marR="66675">
                    <a:lnL w="9525" cap="flat" cmpd="sng" algn="ctr">
                      <a:solidFill>
                        <a:srgbClr val="70AD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a:rPr>
                        <a:t>Bench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a:rPr>
                        <a:t>ASTM E74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Ensure accuracy of pressure sensor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a:rPr>
                        <a:t>Accuracy within 5% </a:t>
                      </a:r>
                      <a:endParaRPr lang="en-US">
                        <a:effectLst/>
                        <a:latin typeface="Calibri Ligh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846944251"/>
                  </a:ext>
                </a:extLst>
              </a:tr>
              <a:tr h="190500">
                <a:tc>
                  <a:txBody>
                    <a:bodyPr/>
                    <a:lstStyle/>
                    <a:p>
                      <a:pPr rtl="0" fontAlgn="base">
                        <a:lnSpc>
                          <a:spcPts val="1200"/>
                        </a:lnSpc>
                        <a:buNone/>
                      </a:pPr>
                      <a:r>
                        <a:rPr lang="en-US" sz="1000" b="1">
                          <a:effectLst/>
                          <a:latin typeface="Calibri Light" panose="020F0302020204030204" pitchFamily="34" charset="0"/>
                        </a:rPr>
                        <a:t>Tensile strength using mechanical tester on blade/handle alloy </a:t>
                      </a:r>
                      <a:endParaRPr lang="en-US" b="1">
                        <a:effectLst/>
                      </a:endParaRPr>
                    </a:p>
                  </a:txBody>
                  <a:tcPr marL="66675" marR="66675">
                    <a:lnL w="9525" cap="flat" cmpd="sng" algn="ctr">
                      <a:solidFill>
                        <a:srgbClr val="30B9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a:rPr>
                        <a:t>Bench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a:rPr>
                        <a:t>ASTM E8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Verify durability of metal materials under tension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No failure within a factor of 10 of the expected clinical load </a:t>
                      </a:r>
                      <a:endParaRPr lang="en-US">
                        <a:effectLs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035394184"/>
                  </a:ext>
                </a:extLst>
              </a:tr>
              <a:tr h="190500">
                <a:tc>
                  <a:txBody>
                    <a:bodyPr/>
                    <a:lstStyle/>
                    <a:p>
                      <a:pPr rtl="0" fontAlgn="base">
                        <a:lnSpc>
                          <a:spcPts val="1200"/>
                        </a:lnSpc>
                        <a:buNone/>
                      </a:pPr>
                      <a:r>
                        <a:rPr lang="en-US" sz="1000" b="1">
                          <a:effectLst/>
                          <a:latin typeface="Calibri Light" panose="020F0302020204030204" pitchFamily="34" charset="0"/>
                        </a:rPr>
                        <a:t>Electrical safety of pressure sensing circuit </a:t>
                      </a:r>
                      <a:endParaRPr lang="en-US" b="1">
                        <a:effectLst/>
                      </a:endParaRPr>
                    </a:p>
                  </a:txBody>
                  <a:tcPr marL="66675" marR="66675">
                    <a:lnL w="9525" cap="flat" cmpd="sng" algn="ctr">
                      <a:solidFill>
                        <a:srgbClr val="90B9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a:rPr>
                        <a:t>Bench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IEC 60601-1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Ensure safety of patient and surgeon from electrical components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No electrical components caused harm to patient or surgeon </a:t>
                      </a:r>
                      <a:endParaRPr lang="en-US">
                        <a:effectLs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509459373"/>
                  </a:ext>
                </a:extLst>
              </a:tr>
              <a:tr h="190500">
                <a:tc>
                  <a:txBody>
                    <a:bodyPr/>
                    <a:lstStyle/>
                    <a:p>
                      <a:pPr rtl="0" fontAlgn="base">
                        <a:lnSpc>
                          <a:spcPts val="1200"/>
                        </a:lnSpc>
                        <a:buNone/>
                      </a:pPr>
                      <a:r>
                        <a:rPr lang="en-US" sz="1000" b="1">
                          <a:effectLst/>
                          <a:latin typeface="Calibri Light" panose="020F0302020204030204" pitchFamily="34" charset="0"/>
                        </a:rPr>
                        <a:t>Simulated-use test on human cadaveric neck with pressure mapping </a:t>
                      </a:r>
                      <a:endParaRPr lang="en-US" b="1">
                        <a:effectLst/>
                      </a:endParaRPr>
                    </a:p>
                  </a:txBody>
                  <a:tcPr marL="66675" marR="66675">
                    <a:lnL w="9525" cap="flat" cmpd="sng" algn="ctr">
                      <a:solidFill>
                        <a:srgbClr val="10C8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a:rPr>
                        <a:t>Bench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ISO 62366-1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Validates device function and clinical ease before use on human or animal subjects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Full sensor functionality, no mechanical or electrical failure </a:t>
                      </a:r>
                      <a:endParaRPr lang="en-US">
                        <a:effectLs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085192013"/>
                  </a:ext>
                </a:extLst>
              </a:tr>
              <a:tr h="190500">
                <a:tc>
                  <a:txBody>
                    <a:bodyPr/>
                    <a:lstStyle/>
                    <a:p>
                      <a:pPr rtl="0" fontAlgn="base">
                        <a:lnSpc>
                          <a:spcPts val="1200"/>
                        </a:lnSpc>
                        <a:buNone/>
                      </a:pPr>
                      <a:r>
                        <a:rPr lang="en-US" sz="1000" b="1">
                          <a:effectLst/>
                          <a:latin typeface="Calibri Light" panose="020F0302020204030204" pitchFamily="34" charset="0"/>
                        </a:rPr>
                        <a:t>Local tissue response under retraction (porcine cervical model) </a:t>
                      </a:r>
                      <a:endParaRPr lang="en-US" b="1">
                        <a:effectLst/>
                      </a:endParaRPr>
                    </a:p>
                  </a:txBody>
                  <a:tcPr marL="66675" marR="66675">
                    <a:lnL w="9525" cap="flat" cmpd="sng" algn="ctr">
                      <a:solidFill>
                        <a:srgbClr val="70D0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Animal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ISO 10993-6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Monitor tissue response to retraction in animal model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No significant histopathology compared to control </a:t>
                      </a:r>
                      <a:endParaRPr lang="en-US">
                        <a:effectLs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776519941"/>
                  </a:ext>
                </a:extLst>
              </a:tr>
              <a:tr h="190500">
                <a:tc>
                  <a:txBody>
                    <a:bodyPr/>
                    <a:lstStyle/>
                    <a:p>
                      <a:pPr rtl="0" fontAlgn="base">
                        <a:lnSpc>
                          <a:spcPts val="1200"/>
                        </a:lnSpc>
                        <a:buNone/>
                      </a:pPr>
                      <a:r>
                        <a:rPr lang="en-US" sz="1000" b="1">
                          <a:effectLst/>
                          <a:latin typeface="Calibri Light"/>
                        </a:rPr>
                        <a:t>Limited clinical pilot </a:t>
                      </a:r>
                      <a:endParaRPr lang="en-US" b="1">
                        <a:effectLst/>
                        <a:latin typeface="Calibri Light"/>
                      </a:endParaRPr>
                    </a:p>
                  </a:txBody>
                  <a:tcPr marL="66675" marR="66675">
                    <a:lnL w="9525" cap="flat" cmpd="sng" algn="ctr">
                      <a:solidFill>
                        <a:srgbClr val="50D8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Human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a:rPr>
                        <a:t>ISO 14155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Determine effectiveness of device with real human patients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rtl="0" fontAlgn="base">
                        <a:lnSpc>
                          <a:spcPts val="1200"/>
                        </a:lnSpc>
                        <a:buNone/>
                      </a:pPr>
                      <a:r>
                        <a:rPr lang="en-US" sz="1000">
                          <a:effectLst/>
                          <a:latin typeface="Calibri Light" panose="020F0302020204030204" pitchFamily="34" charset="0"/>
                        </a:rPr>
                        <a:t>No adverse effects compared to patients with normal retractors, decreased dysphonia and dysphagia symptoms post-surgically </a:t>
                      </a:r>
                      <a:endParaRPr lang="en-US">
                        <a:effectLs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950350888"/>
                  </a:ext>
                </a:extLst>
              </a:tr>
              <a:tr h="190500">
                <a:tc>
                  <a:txBody>
                    <a:bodyPr/>
                    <a:lstStyle/>
                    <a:p>
                      <a:pPr rtl="0" fontAlgn="base">
                        <a:lnSpc>
                          <a:spcPts val="1200"/>
                        </a:lnSpc>
                        <a:buNone/>
                      </a:pPr>
                      <a:r>
                        <a:rPr lang="en-US" sz="1000" b="1">
                          <a:effectLst/>
                          <a:latin typeface="Calibri Light" panose="020F0302020204030204" pitchFamily="34" charset="0"/>
                        </a:rPr>
                        <a:t>Human factors/usability testing with surgeons </a:t>
                      </a:r>
                      <a:endParaRPr lang="en-US" b="1">
                        <a:effectLst/>
                      </a:endParaRPr>
                    </a:p>
                  </a:txBody>
                  <a:tcPr marL="66675" marR="66675">
                    <a:lnL w="9525" cap="flat" cmpd="sng" algn="ctr">
                      <a:solidFill>
                        <a:srgbClr val="D0DC6F"/>
                      </a:solidFill>
                      <a:prstDash val="solid"/>
                      <a:round/>
                      <a:headEnd type="none" w="med" len="med"/>
                      <a:tailEnd type="none" w="med" len="med"/>
                    </a:lnL>
                    <a:lnR>
                      <a:noFill/>
                    </a:lnR>
                    <a:lnT w="9525" cap="flat" cmpd="sng" algn="ctr">
                      <a:solidFill>
                        <a:srgbClr val="666666"/>
                      </a:solidFill>
                      <a:prstDash val="solid"/>
                      <a:round/>
                      <a:headEnd type="none" w="med" len="med"/>
                      <a:tailEnd type="none" w="med" len="med"/>
                    </a:lnT>
                    <a:lnB w="9525" cap="flat" cmpd="sng" algn="ctr">
                      <a:solidFill>
                        <a:srgbClr val="B0D46F"/>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Human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B0D46F"/>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a:rPr>
                        <a:t>IEC 62366 </a:t>
                      </a:r>
                      <a:endParaRPr lang="en-US">
                        <a:effectLst/>
                        <a:latin typeface="Calibri Ligh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B0D46F"/>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Evaluate usability of device for surgeons </a:t>
                      </a:r>
                      <a:endParaRPr lang="en-US">
                        <a:effectLst/>
                      </a:endParaRPr>
                    </a:p>
                  </a:txBody>
                  <a:tcPr marL="66675" marR="66675">
                    <a:lnL>
                      <a:noFill/>
                    </a:lnL>
                    <a:lnR>
                      <a:noFill/>
                    </a:lnR>
                    <a:lnT w="9525" cap="flat" cmpd="sng" algn="ctr">
                      <a:solidFill>
                        <a:srgbClr val="666666"/>
                      </a:solidFill>
                      <a:prstDash val="solid"/>
                      <a:round/>
                      <a:headEnd type="none" w="med" len="med"/>
                      <a:tailEnd type="none" w="med" len="med"/>
                    </a:lnT>
                    <a:lnB w="9525" cap="flat" cmpd="sng" algn="ctr">
                      <a:solidFill>
                        <a:srgbClr val="B0D46F"/>
                      </a:solidFill>
                      <a:prstDash val="solid"/>
                      <a:round/>
                      <a:headEnd type="none" w="med" len="med"/>
                      <a:tailEnd type="none" w="med" len="med"/>
                    </a:lnB>
                    <a:solidFill>
                      <a:srgbClr val="CCCCCC"/>
                    </a:solidFill>
                  </a:tcPr>
                </a:tc>
                <a:tc>
                  <a:txBody>
                    <a:bodyPr/>
                    <a:lstStyle/>
                    <a:p>
                      <a:pPr rtl="0" fontAlgn="base">
                        <a:lnSpc>
                          <a:spcPts val="1200"/>
                        </a:lnSpc>
                        <a:buNone/>
                      </a:pPr>
                      <a:r>
                        <a:rPr lang="en-US" sz="1000">
                          <a:effectLst/>
                          <a:latin typeface="Calibri Light" panose="020F0302020204030204" pitchFamily="34" charset="0"/>
                        </a:rPr>
                        <a:t>&gt;95% correct response to feedback provided by device </a:t>
                      </a:r>
                      <a:endParaRPr lang="en-US">
                        <a:effectLst/>
                      </a:endParaRPr>
                    </a:p>
                  </a:txBody>
                  <a:tcPr marL="66675" marR="66675">
                    <a:lnL>
                      <a:noFill/>
                    </a:lnL>
                    <a:lnR w="9525" cap="flat" cmpd="sng" algn="ctr">
                      <a:solidFill>
                        <a:srgbClr val="70AD6F"/>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B0D46F"/>
                      </a:solidFill>
                      <a:prstDash val="solid"/>
                      <a:round/>
                      <a:headEnd type="none" w="med" len="med"/>
                      <a:tailEnd type="none" w="med" len="med"/>
                    </a:lnB>
                    <a:solidFill>
                      <a:srgbClr val="CCCCCC"/>
                    </a:solidFill>
                  </a:tcPr>
                </a:tc>
                <a:extLst>
                  <a:ext uri="{0D108BD9-81ED-4DB2-BD59-A6C34878D82A}">
                    <a16:rowId xmlns:a16="http://schemas.microsoft.com/office/drawing/2014/main" val="2608251877"/>
                  </a:ext>
                </a:extLst>
              </a:tr>
            </a:tbl>
          </a:graphicData>
        </a:graphic>
      </p:graphicFrame>
    </p:spTree>
    <p:extLst>
      <p:ext uri="{BB962C8B-B14F-4D97-AF65-F5344CB8AC3E}">
        <p14:creationId xmlns:p14="http://schemas.microsoft.com/office/powerpoint/2010/main" val="3589792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0E71-0C2E-A42C-DAEC-D159F3CAF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4AE82-18CC-6E04-6488-E8B552345750}"/>
              </a:ext>
            </a:extLst>
          </p:cNvPr>
          <p:cNvSpPr>
            <a:spLocks noGrp="1"/>
          </p:cNvSpPr>
          <p:nvPr>
            <p:ph type="title"/>
          </p:nvPr>
        </p:nvSpPr>
        <p:spPr>
          <a:xfrm>
            <a:off x="838200" y="365125"/>
            <a:ext cx="10515600" cy="1325563"/>
          </a:xfrm>
        </p:spPr>
        <p:txBody>
          <a:bodyPr/>
          <a:lstStyle/>
          <a:p>
            <a:r>
              <a:rPr lang="en-US">
                <a:solidFill>
                  <a:srgbClr val="000000"/>
                </a:solidFill>
                <a:latin typeface="Aptos Display"/>
                <a:cs typeface="Helvetica"/>
              </a:rPr>
              <a:t>Proposed Reimbursement Pathway</a:t>
            </a:r>
            <a:endParaRPr lang="en-US"/>
          </a:p>
        </p:txBody>
      </p:sp>
      <p:sp>
        <p:nvSpPr>
          <p:cNvPr id="4" name="Content Placeholder 2">
            <a:extLst>
              <a:ext uri="{FF2B5EF4-FFF2-40B4-BE49-F238E27FC236}">
                <a16:creationId xmlns:a16="http://schemas.microsoft.com/office/drawing/2014/main" id="{BC64A341-DC96-7C01-8178-A8E5D21EEF65}"/>
              </a:ext>
            </a:extLst>
          </p:cNvPr>
          <p:cNvSpPr>
            <a:spLocks noGrp="1"/>
          </p:cNvSpPr>
          <p:nvPr>
            <p:ph idx="1"/>
          </p:nvPr>
        </p:nvSpPr>
        <p:spPr>
          <a:xfrm>
            <a:off x="838200" y="1825625"/>
            <a:ext cx="5257800" cy="4351338"/>
          </a:xfrm>
        </p:spPr>
        <p:txBody>
          <a:bodyPr vert="horz" lIns="91440" tIns="45720" rIns="91440" bIns="45720" rtlCol="0" anchor="t">
            <a:normAutofit/>
          </a:bodyPr>
          <a:lstStyle/>
          <a:p>
            <a:r>
              <a:rPr lang="en-US"/>
              <a:t>Primary Payers</a:t>
            </a:r>
          </a:p>
          <a:p>
            <a:pPr lvl="1">
              <a:buFont typeface="Courier New" panose="02070309020205020404" pitchFamily="49" charset="0"/>
              <a:buChar char="o"/>
            </a:pPr>
            <a:r>
              <a:rPr lang="en-US"/>
              <a:t>Hospitals, Medicare, private insurers</a:t>
            </a:r>
          </a:p>
          <a:p>
            <a:r>
              <a:rPr lang="en-US"/>
              <a:t>ACDF surgery billed under CPT 22551</a:t>
            </a:r>
          </a:p>
          <a:p>
            <a:pPr lvl="1">
              <a:buFont typeface="Courier New" panose="02070309020205020404" pitchFamily="49" charset="0"/>
              <a:buChar char="o"/>
            </a:pPr>
            <a:r>
              <a:rPr lang="en-US"/>
              <a:t>Part of hospital’s per-procedure surgical kit</a:t>
            </a:r>
          </a:p>
          <a:p>
            <a:r>
              <a:rPr lang="en-US"/>
              <a:t>Seek device-specific ICD or HCPCS</a:t>
            </a:r>
          </a:p>
          <a:p>
            <a:pPr lvl="1">
              <a:buFont typeface="Courier New" panose="02070309020205020404" pitchFamily="49" charset="0"/>
              <a:buChar char="o"/>
            </a:pPr>
            <a:r>
              <a:rPr lang="en-US"/>
              <a:t>Clear reimbursement pathway</a:t>
            </a:r>
          </a:p>
          <a:p>
            <a:pPr lvl="1"/>
            <a:endParaRPr lang="en-US"/>
          </a:p>
        </p:txBody>
      </p:sp>
      <p:pic>
        <p:nvPicPr>
          <p:cNvPr id="1026" name="Picture 2">
            <a:extLst>
              <a:ext uri="{FF2B5EF4-FFF2-40B4-BE49-F238E27FC236}">
                <a16:creationId xmlns:a16="http://schemas.microsoft.com/office/drawing/2014/main" id="{09F554E1-83C6-3A94-BF7F-5531D585F1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01" b="36550"/>
          <a:stretch>
            <a:fillRect/>
          </a:stretch>
        </p:blipFill>
        <p:spPr bwMode="auto">
          <a:xfrm>
            <a:off x="6096000" y="2270235"/>
            <a:ext cx="6013991" cy="2755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93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24AD4-8B6D-CB0E-5EDE-A3751D12D2C7}"/>
              </a:ext>
            </a:extLst>
          </p:cNvPr>
          <p:cNvSpPr>
            <a:spLocks noGrp="1"/>
          </p:cNvSpPr>
          <p:nvPr>
            <p:ph type="title"/>
          </p:nvPr>
        </p:nvSpPr>
        <p:spPr/>
        <p:txBody>
          <a:bodyPr/>
          <a:lstStyle/>
          <a:p>
            <a:r>
              <a:rPr lang="en-US"/>
              <a:t>Future R&amp;D Directions in Tissue Monitoring</a:t>
            </a:r>
          </a:p>
        </p:txBody>
      </p:sp>
      <p:graphicFrame>
        <p:nvGraphicFramePr>
          <p:cNvPr id="8" name="Content Placeholder 2">
            <a:extLst>
              <a:ext uri="{FF2B5EF4-FFF2-40B4-BE49-F238E27FC236}">
                <a16:creationId xmlns:a16="http://schemas.microsoft.com/office/drawing/2014/main" id="{E2A22D12-F7C8-0117-4741-AFC8DF87C15F}"/>
              </a:ext>
            </a:extLst>
          </p:cNvPr>
          <p:cNvGraphicFramePr>
            <a:graphicFrameLocks noGrp="1"/>
          </p:cNvGraphicFramePr>
          <p:nvPr>
            <p:ph idx="1"/>
            <p:extLst>
              <p:ext uri="{D42A27DB-BD31-4B8C-83A1-F6EECF244321}">
                <p14:modId xmlns:p14="http://schemas.microsoft.com/office/powerpoint/2010/main" val="38808674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0734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4F06B-E88A-F481-F807-DF3DC12FB87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470EA39-5C7D-7D95-49E4-4A56B68129F4}"/>
              </a:ext>
            </a:extLst>
          </p:cNvPr>
          <p:cNvPicPr>
            <a:picLocks noChangeAspect="1"/>
          </p:cNvPicPr>
          <p:nvPr/>
        </p:nvPicPr>
        <p:blipFill>
          <a:blip r:embed="rId3"/>
          <a:srcRect t="4350" b="12013"/>
          <a:stretch>
            <a:fillRect/>
          </a:stretch>
        </p:blipFill>
        <p:spPr>
          <a:xfrm>
            <a:off x="629487" y="0"/>
            <a:ext cx="10933025" cy="6858000"/>
          </a:xfrm>
          <a:prstGeom prst="rect">
            <a:avLst/>
          </a:prstGeom>
        </p:spPr>
      </p:pic>
    </p:spTree>
    <p:extLst>
      <p:ext uri="{BB962C8B-B14F-4D97-AF65-F5344CB8AC3E}">
        <p14:creationId xmlns:p14="http://schemas.microsoft.com/office/powerpoint/2010/main" val="3747638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D6A62-5380-A50B-0522-5CC116709C97}"/>
              </a:ext>
            </a:extLst>
          </p:cNvPr>
          <p:cNvSpPr>
            <a:spLocks noGrp="1"/>
          </p:cNvSpPr>
          <p:nvPr>
            <p:ph type="title"/>
          </p:nvPr>
        </p:nvSpPr>
        <p:spPr/>
        <p:txBody>
          <a:bodyPr>
            <a:normAutofit/>
          </a:bodyPr>
          <a:lstStyle/>
          <a:p>
            <a:pPr algn="ctr"/>
            <a:r>
              <a:rPr lang="en-US" sz="6000"/>
              <a:t>Thank you!</a:t>
            </a:r>
          </a:p>
        </p:txBody>
      </p:sp>
      <p:sp>
        <p:nvSpPr>
          <p:cNvPr id="3" name="Content Placeholder 2">
            <a:extLst>
              <a:ext uri="{FF2B5EF4-FFF2-40B4-BE49-F238E27FC236}">
                <a16:creationId xmlns:a16="http://schemas.microsoft.com/office/drawing/2014/main" id="{D80A9EF8-FA08-4E01-ECCF-D59190B5C9E9}"/>
              </a:ext>
            </a:extLst>
          </p:cNvPr>
          <p:cNvSpPr>
            <a:spLocks noGrp="1"/>
          </p:cNvSpPr>
          <p:nvPr>
            <p:ph idx="1"/>
          </p:nvPr>
        </p:nvSpPr>
        <p:spPr/>
        <p:txBody>
          <a:bodyPr>
            <a:normAutofit fontScale="77500" lnSpcReduction="20000"/>
          </a:bodyPr>
          <a:lstStyle/>
          <a:p>
            <a:pPr marL="0" indent="0" algn="ctr">
              <a:buNone/>
            </a:pPr>
            <a:r>
              <a:rPr lang="en-US" b="1"/>
              <a:t>Contact Information</a:t>
            </a:r>
          </a:p>
          <a:p>
            <a:pPr marL="0" indent="0" algn="ctr">
              <a:buNone/>
            </a:pPr>
            <a:r>
              <a:rPr lang="en-US">
                <a:hlinkClick r:id="rId2"/>
              </a:rPr>
              <a:t>charlotte.d.sevrain@vanderbilt.edu</a:t>
            </a:r>
            <a:endParaRPr lang="en-US"/>
          </a:p>
          <a:p>
            <a:pPr marL="0" indent="0" algn="ctr">
              <a:buNone/>
            </a:pPr>
            <a:r>
              <a:rPr lang="en-US">
                <a:hlinkClick r:id="rId3"/>
              </a:rPr>
              <a:t>mona.gerges@vanderbilt.edu</a:t>
            </a:r>
            <a:endParaRPr lang="en-US"/>
          </a:p>
          <a:p>
            <a:pPr marL="0" indent="0" algn="ctr">
              <a:buNone/>
            </a:pPr>
            <a:r>
              <a:rPr lang="en-US">
                <a:hlinkClick r:id="rId4"/>
              </a:rPr>
              <a:t>andrew.e.blakemore@vanderbilt.edu</a:t>
            </a:r>
            <a:endParaRPr lang="en-US"/>
          </a:p>
          <a:p>
            <a:pPr marL="0" indent="0" algn="ctr">
              <a:buNone/>
            </a:pPr>
            <a:r>
              <a:rPr lang="en-US">
                <a:hlinkClick r:id="rId5"/>
              </a:rPr>
              <a:t>jason.r.beveridge@vanderbilt.edu</a:t>
            </a:r>
            <a:endParaRPr lang="en-US"/>
          </a:p>
          <a:p>
            <a:pPr marL="0" indent="0" algn="ctr">
              <a:buNone/>
            </a:pPr>
            <a:r>
              <a:rPr lang="en-US">
                <a:hlinkClick r:id="rId6"/>
              </a:rPr>
              <a:t>jacob.a.stoebner@vanderbilt.edu</a:t>
            </a:r>
            <a:endParaRPr lang="en-US"/>
          </a:p>
          <a:p>
            <a:pPr marL="0" indent="0" algn="ctr">
              <a:buNone/>
            </a:pPr>
            <a:r>
              <a:rPr lang="en-US">
                <a:hlinkClick r:id="rId7"/>
              </a:rPr>
              <a:t>camille.e.messonnier@vanderbilt.edu</a:t>
            </a:r>
            <a:endParaRPr lang="en-US"/>
          </a:p>
          <a:p>
            <a:pPr marL="0" indent="0" algn="ctr">
              <a:buNone/>
            </a:pPr>
            <a:endParaRPr lang="en-US"/>
          </a:p>
          <a:p>
            <a:pPr marL="0" indent="0" algn="ctr">
              <a:buNone/>
            </a:pPr>
            <a:r>
              <a:rPr lang="en-US" b="1"/>
              <a:t>Mentors</a:t>
            </a:r>
          </a:p>
          <a:p>
            <a:pPr marL="0" indent="0" algn="ctr">
              <a:buNone/>
            </a:pPr>
            <a:r>
              <a:rPr lang="en-US">
                <a:hlinkClick r:id="rId8"/>
              </a:rPr>
              <a:t>lindsey.g.waugh@medtronic.com</a:t>
            </a:r>
            <a:endParaRPr lang="en-US"/>
          </a:p>
          <a:p>
            <a:pPr marL="0" indent="0" algn="ctr">
              <a:buNone/>
            </a:pPr>
            <a:r>
              <a:rPr lang="en-US">
                <a:hlinkClick r:id="rId9"/>
              </a:rPr>
              <a:t>newt.metcalf@medtronic.com</a:t>
            </a:r>
            <a:endParaRPr lang="en-US"/>
          </a:p>
          <a:p>
            <a:pPr marL="0" indent="0" algn="ctr">
              <a:buNone/>
            </a:pPr>
            <a:r>
              <a:rPr lang="en-US">
                <a:hlinkClick r:id="rId10"/>
              </a:rPr>
              <a:t>shannon.m.vittur@medtronic.com</a:t>
            </a:r>
            <a:endParaRPr lang="en-US"/>
          </a:p>
          <a:p>
            <a:pPr marL="0" indent="0" algn="ctr">
              <a:buNone/>
            </a:pPr>
            <a:endParaRPr lang="en-US"/>
          </a:p>
          <a:p>
            <a:pPr marL="0" indent="0" algn="ctr">
              <a:buNone/>
            </a:pPr>
            <a:endParaRPr lang="en-US"/>
          </a:p>
        </p:txBody>
      </p:sp>
    </p:spTree>
    <p:extLst>
      <p:ext uri="{BB962C8B-B14F-4D97-AF65-F5344CB8AC3E}">
        <p14:creationId xmlns:p14="http://schemas.microsoft.com/office/powerpoint/2010/main" val="267195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BB7C3-DD21-113E-883D-D428A58A7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AF077-265D-2985-E2BD-E6CC54A85B1B}"/>
              </a:ext>
            </a:extLst>
          </p:cNvPr>
          <p:cNvSpPr>
            <a:spLocks noGrp="1"/>
          </p:cNvSpPr>
          <p:nvPr>
            <p:ph type="title"/>
          </p:nvPr>
        </p:nvSpPr>
        <p:spPr/>
        <p:txBody>
          <a:bodyPr/>
          <a:lstStyle/>
          <a:p>
            <a:r>
              <a:rPr lang="en-US">
                <a:solidFill>
                  <a:srgbClr val="000000"/>
                </a:solidFill>
                <a:latin typeface="Aptos Display"/>
                <a:cs typeface="Helvetica"/>
              </a:rPr>
              <a:t>References​</a:t>
            </a:r>
            <a:endParaRPr lang="en-US">
              <a:cs typeface="Helvetica"/>
            </a:endParaRPr>
          </a:p>
        </p:txBody>
      </p:sp>
      <p:sp>
        <p:nvSpPr>
          <p:cNvPr id="3" name="Content Placeholder 2">
            <a:extLst>
              <a:ext uri="{FF2B5EF4-FFF2-40B4-BE49-F238E27FC236}">
                <a16:creationId xmlns:a16="http://schemas.microsoft.com/office/drawing/2014/main" id="{133EB562-34EF-4764-3D9A-6969694C437B}"/>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a:t>Slide 1 image: </a:t>
            </a:r>
            <a:r>
              <a:rPr lang="en-US">
                <a:hlinkClick r:id="rId2"/>
              </a:rPr>
              <a:t>https://drleespine.com.au/cervical-disc-replacement/</a:t>
            </a:r>
            <a:endParaRPr lang="en-US"/>
          </a:p>
          <a:p>
            <a:pPr marL="0" indent="0">
              <a:buNone/>
            </a:pPr>
            <a:r>
              <a:rPr lang="en-US"/>
              <a:t>Slide 3 image: </a:t>
            </a:r>
            <a:r>
              <a:rPr lang="en-US">
                <a:ea typeface="+mn-lt"/>
                <a:cs typeface="+mn-lt"/>
                <a:hlinkClick r:id="rId3"/>
              </a:rPr>
              <a:t>https://www.biospine.com/spine-procedures/minimally-invasive/anterior-cervical-discectomy-with-fusion/</a:t>
            </a:r>
            <a:endParaRPr lang="en-US">
              <a:ea typeface="+mn-lt"/>
              <a:cs typeface="+mn-lt"/>
            </a:endParaRPr>
          </a:p>
          <a:p>
            <a:pPr marL="0" indent="0">
              <a:buNone/>
            </a:pPr>
            <a:r>
              <a:rPr lang="en-US"/>
              <a:t>Slide 4 image: </a:t>
            </a:r>
            <a:r>
              <a:rPr lang="en-US">
                <a:ea typeface="+mn-lt"/>
                <a:cs typeface="+mn-lt"/>
                <a:hlinkClick r:id="rId4"/>
              </a:rPr>
              <a:t>https://www.londonspine.com/what-is-anterior-cervical-discectomy-and-fusion-acdf/</a:t>
            </a:r>
            <a:endParaRPr lang="en-US">
              <a:ea typeface="+mn-lt"/>
              <a:cs typeface="+mn-lt"/>
            </a:endParaRPr>
          </a:p>
          <a:p>
            <a:pPr marL="0" indent="0">
              <a:buNone/>
            </a:pPr>
            <a:r>
              <a:rPr lang="en-US">
                <a:ea typeface="+mn-lt"/>
                <a:cs typeface="+mn-lt"/>
              </a:rPr>
              <a:t>Existing Solutions:</a:t>
            </a:r>
          </a:p>
          <a:p>
            <a:pPr marL="457200" lvl="1" indent="0">
              <a:buNone/>
            </a:pPr>
            <a:r>
              <a:rPr lang="en-US"/>
              <a:t>[1] Watanabe, T., Koyama, T., Yoneyama, T. &amp; Nakada, M. Force-Sensing Silicone Retractor for Attachment to Surgical Suction Pipes †. </a:t>
            </a:r>
            <a:r>
              <a:rPr lang="en-US" i="1"/>
              <a:t>Sensors (Basel)</a:t>
            </a:r>
            <a:r>
              <a:rPr lang="en-US"/>
              <a:t> </a:t>
            </a:r>
            <a:r>
              <a:rPr lang="en-US" b="1"/>
              <a:t>16</a:t>
            </a:r>
            <a:r>
              <a:rPr lang="en-US"/>
              <a:t>, 1133 (2016).</a:t>
            </a:r>
          </a:p>
          <a:p>
            <a:pPr marL="457200" lvl="1" indent="0">
              <a:buNone/>
            </a:pPr>
            <a:r>
              <a:rPr lang="en-US"/>
              <a:t>[2] Ponraj, G., Kirthika, S. K., Lim, C. M. &amp; Ren, H. Soft Tactile Sensors With Inkjet-Printing Conductivity and Hydrogel Biocompatibility for Retractors in Cadaveric Surgical Trials. </a:t>
            </a:r>
            <a:r>
              <a:rPr lang="en-US" i="1"/>
              <a:t>IEEE Sensors Journal</a:t>
            </a:r>
            <a:r>
              <a:rPr lang="en-US"/>
              <a:t> </a:t>
            </a:r>
            <a:r>
              <a:rPr lang="en-US" b="1"/>
              <a:t>18</a:t>
            </a:r>
            <a:r>
              <a:rPr lang="en-US"/>
              <a:t>, 9840–9847 (2018).</a:t>
            </a:r>
          </a:p>
          <a:p>
            <a:pPr marL="457200" lvl="1" indent="0">
              <a:buNone/>
            </a:pPr>
            <a:r>
              <a:rPr lang="en-US">
                <a:ea typeface="+mn-lt"/>
                <a:cs typeface="+mn-lt"/>
              </a:rPr>
              <a:t>[3] </a:t>
            </a:r>
            <a:r>
              <a:rPr lang="en-US"/>
              <a:t>Zhu, L., Yang, S., Shen, J., Wang, C. &amp; Song, A. A force-sensing retractor for robot-assisted transoral surgery. </a:t>
            </a:r>
            <a:r>
              <a:rPr lang="en-US" i="1"/>
              <a:t>Int J CARS</a:t>
            </a:r>
            <a:r>
              <a:rPr lang="en-US"/>
              <a:t> </a:t>
            </a:r>
            <a:r>
              <a:rPr lang="en-US" b="1"/>
              <a:t>17</a:t>
            </a:r>
            <a:r>
              <a:rPr lang="en-US"/>
              <a:t>, 2001–2010 (2022).</a:t>
            </a:r>
          </a:p>
          <a:p>
            <a:pPr marL="457200" lvl="1" indent="0">
              <a:buNone/>
            </a:pPr>
            <a:r>
              <a:rPr lang="en-US">
                <a:ea typeface="+mn-lt"/>
                <a:cs typeface="+mn-lt"/>
              </a:rPr>
              <a:t>[4] </a:t>
            </a:r>
            <a:r>
              <a:rPr lang="en-US" err="1"/>
              <a:t>SmartBrain</a:t>
            </a:r>
            <a:r>
              <a:rPr lang="en-US"/>
              <a:t> Retractor | Neuro-Kinesis. https://neuro-</a:t>
            </a:r>
            <a:r>
              <a:rPr lang="en-US" err="1"/>
              <a:t>kinesis.com</a:t>
            </a:r>
            <a:r>
              <a:rPr lang="en-US"/>
              <a:t>/technology/smart-brain-retractor/.</a:t>
            </a:r>
            <a:endParaRPr lang="en-US">
              <a:ea typeface="+mn-lt"/>
              <a:cs typeface="+mn-lt"/>
            </a:endParaRPr>
          </a:p>
          <a:p>
            <a:endParaRPr lang="en-US"/>
          </a:p>
        </p:txBody>
      </p:sp>
    </p:spTree>
    <p:extLst>
      <p:ext uri="{BB962C8B-B14F-4D97-AF65-F5344CB8AC3E}">
        <p14:creationId xmlns:p14="http://schemas.microsoft.com/office/powerpoint/2010/main" val="8237179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sv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a:extLst>
              <a:ext uri="{96DAC541-7B7A-43D3-8B79-37D633B846F1}">
                <asvg:svgBlip xmlns:asvg="http://schemas.microsoft.com/office/drawing/2016/SVG/main" r:embed="rId1"/>
              </a:ext>
            </a:extLst>
          </a:blip>
          <a:stretch>
            <a:fillRect/>
          </a:stretch>
        </a:blipFill>
      </a:spPr>
      <a:bodyP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2184</Words>
  <Application>Microsoft Office PowerPoint</Application>
  <PresentationFormat>Widescreen</PresentationFormat>
  <Paragraphs>312</Paragraphs>
  <Slides>25</Slides>
  <Notes>10</Notes>
  <HiddenSlides>0</HiddenSlides>
  <MMClips>1</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8" baseType="lpstr">
      <vt:lpstr>ADLaM Display</vt:lpstr>
      <vt:lpstr>Aptos</vt:lpstr>
      <vt:lpstr>Aptos Display</vt:lpstr>
      <vt:lpstr>Arial</vt:lpstr>
      <vt:lpstr>Calibri</vt:lpstr>
      <vt:lpstr>Calibri Light</vt:lpstr>
      <vt:lpstr>Courier New</vt:lpstr>
      <vt:lpstr>Helvetica</vt:lpstr>
      <vt:lpstr>Lato</vt:lpstr>
      <vt:lpstr>Symbol</vt:lpstr>
      <vt:lpstr>Wingdings</vt:lpstr>
      <vt:lpstr>office theme</vt:lpstr>
      <vt:lpstr>Drawing</vt:lpstr>
      <vt:lpstr>PowerPoint Presentation</vt:lpstr>
      <vt:lpstr>Agenda Overview</vt:lpstr>
      <vt:lpstr>Disease State Fundamentals</vt:lpstr>
      <vt:lpstr>PowerPoint Presentation</vt:lpstr>
      <vt:lpstr>Needs Statement</vt:lpstr>
      <vt:lpstr>Existing Retractors with Tissue Feedback</vt:lpstr>
      <vt:lpstr>Stakeholders Overview</vt:lpstr>
      <vt:lpstr>PowerPoint Presentation</vt:lpstr>
      <vt:lpstr>PowerPoint Presentation</vt:lpstr>
      <vt:lpstr>PowerPoint Presentation</vt:lpstr>
      <vt:lpstr>Our Solution</vt:lpstr>
      <vt:lpstr>Our Solution</vt:lpstr>
      <vt:lpstr>Our Solution</vt:lpstr>
      <vt:lpstr>Our Solution</vt:lpstr>
      <vt:lpstr>Our Solution</vt:lpstr>
      <vt:lpstr>PowerPoint Presentation</vt:lpstr>
      <vt:lpstr>Our Solution</vt:lpstr>
      <vt:lpstr>Market Analysis Summary</vt:lpstr>
      <vt:lpstr>Proposed Business Model</vt:lpstr>
      <vt:lpstr>Proposed Regulatory Pathway</vt:lpstr>
      <vt:lpstr>Proposed Reimbursement Pathway</vt:lpstr>
      <vt:lpstr>Future R&amp;D Directions in Tissue Monitoring</vt:lpstr>
      <vt:lpstr>PowerPoint Presentation</vt:lpstr>
      <vt:lpstr>Thank you!</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Blakemore</dc:creator>
  <cp:lastModifiedBy>Blakemore, Andrew E</cp:lastModifiedBy>
  <cp:revision>8</cp:revision>
  <dcterms:created xsi:type="dcterms:W3CDTF">2025-11-11T17:43:56Z</dcterms:created>
  <dcterms:modified xsi:type="dcterms:W3CDTF">2026-06-22T12:23:50Z</dcterms:modified>
</cp:coreProperties>
</file>